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50" b="1">
                <a:solidFill>
                  <a:srgbClr val="142A47"/>
                </a:solidFill>
                <a:latin typeface="Segoe UI"/>
              </a:rPr>
              <a:t>Bus load needed to carry the 1 ms requirement from eight Secondaries</a:t>
            </a:r>
          </a:p>
        </c:rich>
      </c:tx>
      <c:layout/>
      <c:overlay val="0"/>
    </c:title>
    <c:autoTitleDeleted val="0"/>
    <c:plotArea>
      <c:barChart>
        <c:barDir val="col"/>
        <c:grouping val="clustered"/>
        <c:ser>
          <c:idx val="0"/>
          <c:order val="0"/>
          <c:tx>
            <c:strRef>
              <c:f>Sheet1!$B$1</c:f>
              <c:strCache>
                <c:ptCount val="1"/>
                <c:pt idx="0">
                  <c:v>Bus load</c:v>
                </c:pt>
              </c:strCache>
            </c:strRef>
          </c:tx>
          <c:dPt>
            <c:idx val="0"/>
            <c:spPr>
              <a:solidFill>
                <a:srgbClr val="9B2C35"/>
              </a:solidFill>
            </c:spPr>
          </c:dPt>
          <c:dPt>
            <c:idx val="1"/>
            <c:spPr>
              <a:solidFill>
                <a:srgbClr val="9B2C35"/>
              </a:solidFill>
            </c:spPr>
          </c:dPt>
          <c:dPt>
            <c:idx val="2"/>
            <c:spPr>
              <a:solidFill>
                <a:srgbClr val="9B2C35"/>
              </a:solidFill>
            </c:spPr>
          </c:dPt>
          <c:dPt>
            <c:idx val="3"/>
            <c:spPr>
              <a:solidFill>
                <a:srgbClr val="2E6F4F"/>
              </a:solidFill>
            </c:spPr>
          </c:dPt>
          <c:cat>
            <c:strRef>
              <c:f>Sheet1!$A$2:$A$5</c:f>
              <c:strCache>
                <c:ptCount val="4"/>
                <c:pt idx="0">
                  <c:v>Standard CAN
250 kbit/s</c:v>
                </c:pt>
                <c:pt idx="1">
                  <c:v>Standard CAN
500 kbit/s</c:v>
                </c:pt>
                <c:pt idx="2">
                  <c:v>Standard CAN
1 Mbit/s (its maximum)</c:v>
                </c:pt>
                <c:pt idx="3">
                  <c:v>CAN FD
with grouped readings</c:v>
                </c:pt>
              </c:strCache>
            </c:strRef>
          </c:cat>
          <c:val>
            <c:numRef>
              <c:f>Sheet1!$B$2:$B$5</c:f>
              <c:numCache>
                <c:formatCode>General</c:formatCode>
                <c:ptCount val="4"/>
                <c:pt idx="0">
                  <c:v>400</c:v>
                </c:pt>
                <c:pt idx="1">
                  <c:v>200</c:v>
                </c:pt>
                <c:pt idx="2">
                  <c:v>104</c:v>
                </c:pt>
                <c:pt idx="3">
                  <c:v>30</c:v>
                </c:pt>
              </c:numCache>
            </c:numRef>
          </c:val>
        </c:ser>
        <c:dLbls>
          <c:numFmt formatCode="0&quot;%&quot;" sourceLinked="0"/>
          <c:txPr>
            <a:bodyPr/>
            <a:lstStyle/>
            <a:p>
              <a:pPr>
                <a:defRPr sz="1100" b="1">
                  <a:latin typeface="Segoe UI"/>
                </a:defRPr>
              </a:pPr>
            </a:p>
          </c:txPr>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3DAE4"/>
            </a:solidFill>
          </a:ln>
        </c:spPr>
        <c:txPr>
          <a:bodyPr/>
          <a:lstStyle/>
          <a:p>
            <a:pPr>
              <a:defRPr sz="800">
                <a:latin typeface="Segoe UI"/>
              </a:defRPr>
            </a:pPr>
          </a:p>
        </c:txPr>
        <c:crossAx val="-2113994440"/>
        <c:crosses val="autoZero"/>
        <c:auto val="1"/>
        <c:lblAlgn val="ctr"/>
        <c:lblOffset val="100"/>
        <c:noMultiLvlLbl val="0"/>
      </c:catAx>
      <c:valAx>
        <c:axId val="-2113994440"/>
        <c:scaling>
          <c:max val="420.0"/>
          <c:min val="0.0"/>
        </c:scaling>
        <c:delete val="0"/>
        <c:axPos val="l"/>
        <c:majorGridlines>
          <c:spPr>
            <a:ln>
              <a:solidFill>
                <a:srgbClr val="E2E8F0"/>
              </a:solidFill>
            </a:ln>
          </c:spPr>
        </c:majorGridlines>
        <c:numFmt formatCode="0&quot;%&quot;" sourceLinked="0"/>
        <c:majorTickMark val="out"/>
        <c:minorTickMark val="none"/>
        <c:tickLblPos val="nextTo"/>
        <c:txPr>
          <a:bodyPr/>
          <a:lstStyle/>
          <a:p>
            <a:pPr>
              <a:defRPr sz="850">
                <a:latin typeface="Segoe UI"/>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18872" cy="6858000"/>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55279" y="-1463040"/>
            <a:ext cx="5669280" cy="5669280"/>
          </a:xfrm>
          <a:prstGeom prst="ellipse">
            <a:avLst/>
          </a:prstGeom>
          <a:solidFill>
            <a:srgbClr val="1A3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6880" y="3291840"/>
            <a:ext cx="4206240" cy="4206240"/>
          </a:xfrm>
          <a:prstGeom prst="ellipse">
            <a:avLst/>
          </a:prstGeom>
          <a:solidFill>
            <a:srgbClr val="182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188720"/>
            <a:ext cx="7863840" cy="274320"/>
          </a:xfrm>
          <a:prstGeom prst="rect">
            <a:avLst/>
          </a:prstGeom>
          <a:noFill/>
        </p:spPr>
        <p:txBody>
          <a:bodyPr wrap="square" anchor="t" lIns="18288" rIns="18288" tIns="0" bIns="0">
            <a:spAutoFit/>
          </a:bodyPr>
          <a:lstStyle/>
          <a:p>
            <a:pPr algn="l">
              <a:lnSpc>
                <a:spcPct val="100000"/>
              </a:lnSpc>
            </a:pPr>
            <a:r>
              <a:rPr sz="1050" b="1" i="0">
                <a:solidFill>
                  <a:srgbClr val="0D8B86"/>
                </a:solidFill>
                <a:latin typeface="Segoe UI"/>
              </a:rPr>
              <a:t>ARCHITECTURE AND FUNCTIONAL COMPARISON</a:t>
            </a:r>
          </a:p>
        </p:txBody>
      </p:sp>
      <p:sp>
        <p:nvSpPr>
          <p:cNvPr id="7" name="TextBox 6"/>
          <p:cNvSpPr txBox="1"/>
          <p:nvPr/>
        </p:nvSpPr>
        <p:spPr>
          <a:xfrm>
            <a:off x="777240" y="1645920"/>
            <a:ext cx="8412480" cy="1371600"/>
          </a:xfrm>
          <a:prstGeom prst="rect">
            <a:avLst/>
          </a:prstGeom>
          <a:noFill/>
        </p:spPr>
        <p:txBody>
          <a:bodyPr wrap="square" anchor="t" lIns="18288" rIns="18288" tIns="0" bIns="0">
            <a:spAutoFit/>
          </a:bodyPr>
          <a:lstStyle/>
          <a:p>
            <a:pPr algn="l">
              <a:lnSpc>
                <a:spcPct val="100000"/>
              </a:lnSpc>
            </a:pPr>
            <a:r>
              <a:rPr sz="4200" b="1" i="0">
                <a:solidFill>
                  <a:srgbClr val="FFFFFF"/>
                </a:solidFill>
                <a:latin typeface="Segoe UI Light"/>
              </a:rPr>
              <a:t>Battery Testing System</a:t>
            </a:r>
          </a:p>
        </p:txBody>
      </p:sp>
      <p:sp>
        <p:nvSpPr>
          <p:cNvPr id="8" name="TextBox 7"/>
          <p:cNvSpPr txBox="1"/>
          <p:nvPr/>
        </p:nvSpPr>
        <p:spPr>
          <a:xfrm>
            <a:off x="777240" y="2441448"/>
            <a:ext cx="8778240" cy="1097280"/>
          </a:xfrm>
          <a:prstGeom prst="rect">
            <a:avLst/>
          </a:prstGeom>
          <a:noFill/>
        </p:spPr>
        <p:txBody>
          <a:bodyPr wrap="square" anchor="t" lIns="18288" rIns="18288" tIns="0" bIns="0">
            <a:spAutoFit/>
          </a:bodyPr>
          <a:lstStyle/>
          <a:p>
            <a:pPr algn="l">
              <a:lnSpc>
                <a:spcPct val="100000"/>
              </a:lnSpc>
            </a:pPr>
            <a:r>
              <a:rPr sz="2500" b="0" i="0">
                <a:solidFill>
                  <a:srgbClr val="9EC5D8"/>
                </a:solidFill>
                <a:latin typeface="Segoe UI Light"/>
              </a:rPr>
              <a:t>Current Platform  vs  Proposed “ME” Platform</a:t>
            </a:r>
          </a:p>
        </p:txBody>
      </p:sp>
      <p:sp>
        <p:nvSpPr>
          <p:cNvPr id="9" name="Rectangle 8"/>
          <p:cNvSpPr/>
          <p:nvPr/>
        </p:nvSpPr>
        <p:spPr>
          <a:xfrm>
            <a:off x="795528" y="3355848"/>
            <a:ext cx="1920240" cy="32004"/>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611880"/>
            <a:ext cx="7680960" cy="1097280"/>
          </a:xfrm>
          <a:prstGeom prst="rect">
            <a:avLst/>
          </a:prstGeom>
          <a:noFill/>
        </p:spPr>
        <p:txBody>
          <a:bodyPr wrap="square" anchor="t" lIns="0" rIns="0" tIns="0" bIns="0">
            <a:spAutoFit/>
          </a:bodyPr>
          <a:lstStyle/>
          <a:p>
            <a:pPr algn="l">
              <a:lnSpc>
                <a:spcPct val="105000"/>
              </a:lnSpc>
              <a:spcBef>
                <a:spcPts val="0"/>
              </a:spcBef>
            </a:pPr>
            <a:r>
              <a:rPr sz="1350" b="1">
                <a:solidFill>
                  <a:srgbClr val="FFFFFF"/>
                </a:solidFill>
                <a:latin typeface="Segoe UI"/>
              </a:rPr>
              <a:t>From one test channel per controller  to  eight test channels per controller</a:t>
            </a:r>
          </a:p>
          <a:p>
            <a:pPr algn="l">
              <a:lnSpc>
                <a:spcPct val="105000"/>
              </a:lnSpc>
              <a:spcBef>
                <a:spcPts val="500"/>
              </a:spcBef>
            </a:pPr>
            <a:r>
              <a:rPr sz="1100" b="0">
                <a:solidFill>
                  <a:srgbClr val="9AAFC6"/>
                </a:solidFill>
                <a:latin typeface="Segoe UI"/>
              </a:rPr>
              <a:t>Centralised test intelligence  ·  one shared communication bus  ·  unchanged PC application</a:t>
            </a:r>
          </a:p>
        </p:txBody>
      </p:sp>
      <p:sp>
        <p:nvSpPr>
          <p:cNvPr id="11" name="Rectangle 10"/>
          <p:cNvSpPr/>
          <p:nvPr/>
        </p:nvSpPr>
        <p:spPr>
          <a:xfrm>
            <a:off x="795528" y="4983480"/>
            <a:ext cx="5120640" cy="32004"/>
          </a:xfrm>
          <a:prstGeom prst="rect">
            <a:avLst/>
          </a:prstGeom>
          <a:solidFill>
            <a:srgbClr val="2C4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5212080"/>
            <a:ext cx="6035040" cy="914400"/>
          </a:xfrm>
          <a:prstGeom prst="rect">
            <a:avLst/>
          </a:prstGeom>
          <a:noFill/>
        </p:spPr>
        <p:txBody>
          <a:bodyPr wrap="square" anchor="t" lIns="0" rIns="0" tIns="0" bIns="0">
            <a:spAutoFit/>
          </a:bodyPr>
          <a:lstStyle/>
          <a:p>
            <a:pPr algn="l">
              <a:lnSpc>
                <a:spcPct val="105000"/>
              </a:lnSpc>
              <a:spcBef>
                <a:spcPts val="0"/>
              </a:spcBef>
            </a:pPr>
            <a:r>
              <a:rPr sz="950" b="1">
                <a:solidFill>
                  <a:srgbClr val="B6C6D8"/>
                </a:solidFill>
                <a:latin typeface="Segoe UI"/>
              </a:rPr>
              <a:t>Prepared for Senior Management  ·  Technical Steering Review</a:t>
            </a:r>
          </a:p>
          <a:p>
            <a:pPr algn="l">
              <a:lnSpc>
                <a:spcPct val="105000"/>
              </a:lnSpc>
              <a:spcBef>
                <a:spcPts val="300"/>
              </a:spcBef>
            </a:pPr>
            <a:r>
              <a:rPr sz="850" b="0">
                <a:solidFill>
                  <a:srgbClr val="7E93AD"/>
                </a:solidFill>
                <a:latin typeface="Segoe UI"/>
              </a:rPr>
              <a:t>Firmware Engineering   ·   BTS-CMP-ME-001 v2.0   ·   31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EXECUTIVE SUMMARY</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The change in one sentence, and the three things that matter</a:t>
            </a:r>
          </a:p>
        </p:txBody>
      </p:sp>
      <p:sp>
        <p:nvSpPr>
          <p:cNvPr id="6" name="Rounded Rectangle 5"/>
          <p:cNvSpPr/>
          <p:nvPr/>
        </p:nvSpPr>
        <p:spPr>
          <a:xfrm>
            <a:off x="502920" y="1207008"/>
            <a:ext cx="11183112" cy="841248"/>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182880"/>
          <a:lstStyle/>
          <a:p>
            <a:pPr>
              <a:lnSpc>
                <a:spcPct val="115000"/>
              </a:lnSpc>
            </a:pPr>
            <a:r>
              <a:rPr sz="1300" b="0">
                <a:solidFill>
                  <a:srgbClr val="D8E4F0"/>
                </a:solidFill>
                <a:latin typeface="Segoe UI"/>
              </a:rPr>
              <a:t>The ME platform moves </a:t>
            </a:r>
            <a:r>
              <a:rPr sz="1300" b="1">
                <a:solidFill>
                  <a:srgbClr val="FFFFFF"/>
                </a:solidFill>
                <a:latin typeface="Segoe UI"/>
              </a:rPr>
              <a:t>all test-sequence intelligence from the Secondary board up to the Primary board</a:t>
            </a:r>
            <a:r>
              <a:rPr sz="1300" b="0">
                <a:solidFill>
                  <a:srgbClr val="D8E4F0"/>
                </a:solidFill>
                <a:latin typeface="Segoe UI"/>
              </a:rPr>
              <a:t>, and replaces the </a:t>
            </a:r>
            <a:r>
              <a:rPr sz="1300" b="1">
                <a:solidFill>
                  <a:srgbClr val="FFFFFF"/>
                </a:solidFill>
                <a:latin typeface="Segoe UI"/>
              </a:rPr>
              <a:t>dedicated wired links with a single shared communication bus</a:t>
            </a:r>
            <a:r>
              <a:rPr sz="1300" b="0">
                <a:solidFill>
                  <a:srgbClr val="D8E4F0"/>
                </a:solidFill>
                <a:latin typeface="Segoe UI"/>
              </a:rPr>
              <a:t> — turning a one-channel-per-Primary product into an </a:t>
            </a:r>
            <a:r>
              <a:rPr sz="1300" b="1">
                <a:solidFill>
                  <a:srgbClr val="6FD3CE"/>
                </a:solidFill>
                <a:latin typeface="Segoe UI"/>
              </a:rPr>
              <a:t>eight-channel-per-Primary product</a:t>
            </a:r>
            <a:r>
              <a:rPr sz="1300" b="0">
                <a:solidFill>
                  <a:srgbClr val="FFFFFF"/>
                </a:solidFill>
                <a:latin typeface="Segoe UI"/>
              </a:rPr>
              <a:t>.</a:t>
            </a:r>
          </a:p>
        </p:txBody>
      </p:sp>
      <p:sp>
        <p:nvSpPr>
          <p:cNvPr id="7" name="Rounded Rectangle 6"/>
          <p:cNvSpPr/>
          <p:nvPr/>
        </p:nvSpPr>
        <p:spPr>
          <a:xfrm>
            <a:off x="502920" y="2194560"/>
            <a:ext cx="3584448" cy="265176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2194560"/>
            <a:ext cx="3584448" cy="50292"/>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088" y="2340864"/>
            <a:ext cx="731520" cy="365760"/>
          </a:xfrm>
          <a:prstGeom prst="rect">
            <a:avLst/>
          </a:prstGeom>
          <a:noFill/>
        </p:spPr>
        <p:txBody>
          <a:bodyPr wrap="square" anchor="t" lIns="18288" rIns="18288" tIns="0" bIns="0">
            <a:spAutoFit/>
          </a:bodyPr>
          <a:lstStyle/>
          <a:p>
            <a:pPr algn="l">
              <a:lnSpc>
                <a:spcPct val="100000"/>
              </a:lnSpc>
            </a:pPr>
            <a:r>
              <a:rPr sz="1900" b="1" i="0">
                <a:solidFill>
                  <a:srgbClr val="C9D4E2"/>
                </a:solidFill>
                <a:latin typeface="Segoe UI Light"/>
              </a:rPr>
              <a:t>01</a:t>
            </a:r>
          </a:p>
        </p:txBody>
      </p:sp>
      <p:sp>
        <p:nvSpPr>
          <p:cNvPr id="10" name="TextBox 9"/>
          <p:cNvSpPr txBox="1"/>
          <p:nvPr/>
        </p:nvSpPr>
        <p:spPr>
          <a:xfrm>
            <a:off x="704088" y="2761488"/>
            <a:ext cx="3182112" cy="502920"/>
          </a:xfrm>
          <a:prstGeom prst="rect">
            <a:avLst/>
          </a:prstGeom>
          <a:noFill/>
        </p:spPr>
        <p:txBody>
          <a:bodyPr wrap="square" anchor="t" lIns="18288" rIns="18288" tIns="0" bIns="0">
            <a:spAutoFit/>
          </a:bodyPr>
          <a:lstStyle/>
          <a:p>
            <a:pPr algn="l">
              <a:lnSpc>
                <a:spcPct val="105000"/>
              </a:lnSpc>
            </a:pPr>
            <a:r>
              <a:rPr sz="1300" b="1" i="0">
                <a:solidFill>
                  <a:srgbClr val="246B4D"/>
                </a:solidFill>
                <a:latin typeface="Segoe UI"/>
              </a:rPr>
              <a:t>Eight channels instead of one</a:t>
            </a:r>
          </a:p>
        </p:txBody>
      </p:sp>
      <p:sp>
        <p:nvSpPr>
          <p:cNvPr id="11" name="TextBox 10"/>
          <p:cNvSpPr txBox="1"/>
          <p:nvPr/>
        </p:nvSpPr>
        <p:spPr>
          <a:xfrm>
            <a:off x="704088" y="3364992"/>
            <a:ext cx="3182112" cy="731520"/>
          </a:xfrm>
          <a:prstGeom prst="rect">
            <a:avLst/>
          </a:prstGeom>
          <a:noFill/>
        </p:spPr>
        <p:txBody>
          <a:bodyPr wrap="square" anchor="t" lIns="18288" rIns="18288" tIns="0" bIns="0">
            <a:spAutoFit/>
          </a:bodyPr>
          <a:lstStyle/>
          <a:p>
            <a:pPr algn="l">
              <a:lnSpc>
                <a:spcPct val="120000"/>
              </a:lnSpc>
            </a:pPr>
            <a:r>
              <a:rPr sz="900" b="0" i="0">
                <a:solidFill>
                  <a:srgbClr val="334155"/>
                </a:solidFill>
                <a:latin typeface="Segoe UI"/>
              </a:rPr>
              <a:t>Today one Primary controls exactly one test channel.</a:t>
            </a:r>
          </a:p>
          <a:p>
            <a:pPr algn="l">
              <a:lnSpc>
                <a:spcPct val="120000"/>
              </a:lnSpc>
            </a:pPr>
            <a:r>
              <a:rPr sz="900" b="0" i="0">
                <a:solidFill>
                  <a:srgbClr val="334155"/>
                </a:solidFill>
                <a:latin typeface="Segoe UI"/>
              </a:rPr>
              <a:t>ME places up to eight Secondaries on one shared bus.</a:t>
            </a:r>
          </a:p>
        </p:txBody>
      </p:sp>
      <p:sp>
        <p:nvSpPr>
          <p:cNvPr id="12" name="Rectangle 11"/>
          <p:cNvSpPr/>
          <p:nvPr/>
        </p:nvSpPr>
        <p:spPr>
          <a:xfrm>
            <a:off x="704088" y="4041648"/>
            <a:ext cx="3182112" cy="1828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4088" y="4151376"/>
            <a:ext cx="3182112" cy="685800"/>
          </a:xfrm>
          <a:prstGeom prst="rect">
            <a:avLst/>
          </a:prstGeom>
          <a:noFill/>
        </p:spPr>
        <p:txBody>
          <a:bodyPr wrap="square" anchor="t" lIns="18288" rIns="18288" tIns="0" bIns="0">
            <a:spAutoFit/>
          </a:bodyPr>
          <a:lstStyle/>
          <a:p>
            <a:pPr algn="l">
              <a:lnSpc>
                <a:spcPct val="125000"/>
              </a:lnSpc>
            </a:pPr>
            <a:r>
              <a:rPr sz="900" b="1" i="0">
                <a:solidFill>
                  <a:srgbClr val="334155"/>
                </a:solidFill>
                <a:latin typeface="Segoe UI"/>
              </a:rPr>
              <a:t>Roughly an eight-fold reduction in controller cost per test channel. The largest commercial driver.</a:t>
            </a:r>
          </a:p>
        </p:txBody>
      </p:sp>
      <p:sp>
        <p:nvSpPr>
          <p:cNvPr id="14" name="Rounded Rectangle 13"/>
          <p:cNvSpPr/>
          <p:nvPr/>
        </p:nvSpPr>
        <p:spPr>
          <a:xfrm>
            <a:off x="4311396" y="2194560"/>
            <a:ext cx="3584448" cy="265176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11396" y="2194560"/>
            <a:ext cx="3584448" cy="50292"/>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12564" y="2340864"/>
            <a:ext cx="731520" cy="365760"/>
          </a:xfrm>
          <a:prstGeom prst="rect">
            <a:avLst/>
          </a:prstGeom>
          <a:noFill/>
        </p:spPr>
        <p:txBody>
          <a:bodyPr wrap="square" anchor="t" lIns="18288" rIns="18288" tIns="0" bIns="0">
            <a:spAutoFit/>
          </a:bodyPr>
          <a:lstStyle/>
          <a:p>
            <a:pPr algn="l">
              <a:lnSpc>
                <a:spcPct val="100000"/>
              </a:lnSpc>
            </a:pPr>
            <a:r>
              <a:rPr sz="1900" b="1" i="0">
                <a:solidFill>
                  <a:srgbClr val="C9D4E2"/>
                </a:solidFill>
                <a:latin typeface="Segoe UI Light"/>
              </a:rPr>
              <a:t>02</a:t>
            </a:r>
          </a:p>
        </p:txBody>
      </p:sp>
      <p:sp>
        <p:nvSpPr>
          <p:cNvPr id="17" name="TextBox 16"/>
          <p:cNvSpPr txBox="1"/>
          <p:nvPr/>
        </p:nvSpPr>
        <p:spPr>
          <a:xfrm>
            <a:off x="4512564" y="2761488"/>
            <a:ext cx="3182112" cy="502920"/>
          </a:xfrm>
          <a:prstGeom prst="rect">
            <a:avLst/>
          </a:prstGeom>
          <a:noFill/>
        </p:spPr>
        <p:txBody>
          <a:bodyPr wrap="square" anchor="t" lIns="18288" rIns="18288" tIns="0" bIns="0">
            <a:spAutoFit/>
          </a:bodyPr>
          <a:lstStyle/>
          <a:p>
            <a:pPr algn="l">
              <a:lnSpc>
                <a:spcPct val="105000"/>
              </a:lnSpc>
            </a:pPr>
            <a:r>
              <a:rPr sz="1300" b="1" i="0">
                <a:solidFill>
                  <a:srgbClr val="1E3A5F"/>
                </a:solidFill>
                <a:latin typeface="Segoe UI"/>
              </a:rPr>
              <a:t>Intelligence moves to the Primary</a:t>
            </a:r>
          </a:p>
        </p:txBody>
      </p:sp>
      <p:sp>
        <p:nvSpPr>
          <p:cNvPr id="18" name="TextBox 17"/>
          <p:cNvSpPr txBox="1"/>
          <p:nvPr/>
        </p:nvSpPr>
        <p:spPr>
          <a:xfrm>
            <a:off x="4512564" y="3364992"/>
            <a:ext cx="3182112" cy="731520"/>
          </a:xfrm>
          <a:prstGeom prst="rect">
            <a:avLst/>
          </a:prstGeom>
          <a:noFill/>
        </p:spPr>
        <p:txBody>
          <a:bodyPr wrap="square" anchor="t" lIns="18288" rIns="18288" tIns="0" bIns="0">
            <a:spAutoFit/>
          </a:bodyPr>
          <a:lstStyle/>
          <a:p>
            <a:pPr algn="l">
              <a:lnSpc>
                <a:spcPct val="120000"/>
              </a:lnSpc>
            </a:pPr>
            <a:r>
              <a:rPr sz="900" b="0" i="0">
                <a:solidFill>
                  <a:srgbClr val="334155"/>
                </a:solidFill>
                <a:latin typeface="Segoe UI"/>
              </a:rPr>
              <a:t>Today the Secondary interprets the test programme and</a:t>
            </a:r>
          </a:p>
          <a:p>
            <a:pPr algn="l">
              <a:lnSpc>
                <a:spcPct val="120000"/>
              </a:lnSpc>
            </a:pPr>
            <a:r>
              <a:rPr sz="900" b="0" i="0">
                <a:solidFill>
                  <a:srgbClr val="334155"/>
                </a:solidFill>
                <a:latin typeface="Segoe UI"/>
              </a:rPr>
              <a:t>evaluates cutoffs. In ME it becomes a power stage.</a:t>
            </a:r>
          </a:p>
        </p:txBody>
      </p:sp>
      <p:sp>
        <p:nvSpPr>
          <p:cNvPr id="19" name="Rectangle 18"/>
          <p:cNvSpPr/>
          <p:nvPr/>
        </p:nvSpPr>
        <p:spPr>
          <a:xfrm>
            <a:off x="4512564" y="4041648"/>
            <a:ext cx="3182112" cy="1828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12564" y="4151376"/>
            <a:ext cx="3182112" cy="685800"/>
          </a:xfrm>
          <a:prstGeom prst="rect">
            <a:avLst/>
          </a:prstGeom>
          <a:noFill/>
        </p:spPr>
        <p:txBody>
          <a:bodyPr wrap="square" anchor="t" lIns="18288" rIns="18288" tIns="0" bIns="0">
            <a:spAutoFit/>
          </a:bodyPr>
          <a:lstStyle/>
          <a:p>
            <a:pPr algn="l">
              <a:lnSpc>
                <a:spcPct val="125000"/>
              </a:lnSpc>
            </a:pPr>
            <a:r>
              <a:rPr sz="900" b="1" i="0">
                <a:solidFill>
                  <a:srgbClr val="334155"/>
                </a:solidFill>
                <a:latin typeface="Segoe UI"/>
              </a:rPr>
              <a:t>Test logic lives in one place. New features ship as a Primary release, without touching installed Secondaries.</a:t>
            </a:r>
          </a:p>
        </p:txBody>
      </p:sp>
      <p:sp>
        <p:nvSpPr>
          <p:cNvPr id="21" name="Rounded Rectangle 20"/>
          <p:cNvSpPr/>
          <p:nvPr/>
        </p:nvSpPr>
        <p:spPr>
          <a:xfrm>
            <a:off x="8119872" y="2194560"/>
            <a:ext cx="3584448" cy="265176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119872" y="2194560"/>
            <a:ext cx="3584448" cy="50292"/>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21040" y="2340864"/>
            <a:ext cx="731520" cy="365760"/>
          </a:xfrm>
          <a:prstGeom prst="rect">
            <a:avLst/>
          </a:prstGeom>
          <a:noFill/>
        </p:spPr>
        <p:txBody>
          <a:bodyPr wrap="square" anchor="t" lIns="18288" rIns="18288" tIns="0" bIns="0">
            <a:spAutoFit/>
          </a:bodyPr>
          <a:lstStyle/>
          <a:p>
            <a:pPr algn="l">
              <a:lnSpc>
                <a:spcPct val="100000"/>
              </a:lnSpc>
            </a:pPr>
            <a:r>
              <a:rPr sz="1900" b="1" i="0">
                <a:solidFill>
                  <a:srgbClr val="C9D4E2"/>
                </a:solidFill>
                <a:latin typeface="Segoe UI Light"/>
              </a:rPr>
              <a:t>03</a:t>
            </a:r>
          </a:p>
        </p:txBody>
      </p:sp>
      <p:sp>
        <p:nvSpPr>
          <p:cNvPr id="24" name="TextBox 23"/>
          <p:cNvSpPr txBox="1"/>
          <p:nvPr/>
        </p:nvSpPr>
        <p:spPr>
          <a:xfrm>
            <a:off x="8321040" y="2761488"/>
            <a:ext cx="3182112" cy="502920"/>
          </a:xfrm>
          <a:prstGeom prst="rect">
            <a:avLst/>
          </a:prstGeom>
          <a:noFill/>
        </p:spPr>
        <p:txBody>
          <a:bodyPr wrap="square" anchor="t" lIns="18288" rIns="18288" tIns="0" bIns="0">
            <a:spAutoFit/>
          </a:bodyPr>
          <a:lstStyle/>
          <a:p>
            <a:pPr algn="l">
              <a:lnSpc>
                <a:spcPct val="105000"/>
              </a:lnSpc>
            </a:pPr>
            <a:r>
              <a:rPr sz="1300" b="1" i="0">
                <a:solidFill>
                  <a:srgbClr val="0A6E6A"/>
                </a:solidFill>
                <a:latin typeface="Segoe UI"/>
              </a:rPr>
              <a:t>One shared bus, not dedicated links</a:t>
            </a:r>
          </a:p>
        </p:txBody>
      </p:sp>
      <p:sp>
        <p:nvSpPr>
          <p:cNvPr id="25" name="TextBox 24"/>
          <p:cNvSpPr txBox="1"/>
          <p:nvPr/>
        </p:nvSpPr>
        <p:spPr>
          <a:xfrm>
            <a:off x="8321040" y="3364992"/>
            <a:ext cx="3182112" cy="731520"/>
          </a:xfrm>
          <a:prstGeom prst="rect">
            <a:avLst/>
          </a:prstGeom>
          <a:noFill/>
        </p:spPr>
        <p:txBody>
          <a:bodyPr wrap="square" anchor="t" lIns="18288" rIns="18288" tIns="0" bIns="0">
            <a:spAutoFit/>
          </a:bodyPr>
          <a:lstStyle/>
          <a:p>
            <a:pPr algn="l">
              <a:lnSpc>
                <a:spcPct val="120000"/>
              </a:lnSpc>
            </a:pPr>
            <a:r>
              <a:rPr sz="900" b="0" i="0">
                <a:solidFill>
                  <a:srgbClr val="334155"/>
                </a:solidFill>
                <a:latin typeface="Segoe UI"/>
              </a:rPr>
              <a:t>Today each Secondary has two dedicated links.</a:t>
            </a:r>
          </a:p>
          <a:p>
            <a:pPr algn="l">
              <a:lnSpc>
                <a:spcPct val="120000"/>
              </a:lnSpc>
            </a:pPr>
            <a:r>
              <a:rPr sz="900" b="0" i="0">
                <a:solidFill>
                  <a:srgbClr val="334155"/>
                </a:solidFill>
                <a:latin typeface="Segoe UI"/>
              </a:rPr>
              <a:t>ME shares one bus between up to eight Secondaries.</a:t>
            </a:r>
          </a:p>
        </p:txBody>
      </p:sp>
      <p:sp>
        <p:nvSpPr>
          <p:cNvPr id="26" name="Rectangle 25"/>
          <p:cNvSpPr/>
          <p:nvPr/>
        </p:nvSpPr>
        <p:spPr>
          <a:xfrm>
            <a:off x="8321040" y="4041648"/>
            <a:ext cx="3182112" cy="1828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21040" y="4151376"/>
            <a:ext cx="3182112" cy="685800"/>
          </a:xfrm>
          <a:prstGeom prst="rect">
            <a:avLst/>
          </a:prstGeom>
          <a:noFill/>
        </p:spPr>
        <p:txBody>
          <a:bodyPr wrap="square" anchor="t" lIns="18288" rIns="18288" tIns="0" bIns="0">
            <a:spAutoFit/>
          </a:bodyPr>
          <a:lstStyle/>
          <a:p>
            <a:pPr algn="l">
              <a:lnSpc>
                <a:spcPct val="125000"/>
              </a:lnSpc>
            </a:pPr>
            <a:r>
              <a:rPr sz="900" b="1" i="0">
                <a:solidFill>
                  <a:srgbClr val="334155"/>
                </a:solidFill>
                <a:latin typeface="Segoe UI"/>
              </a:rPr>
              <a:t>Wiring and connector counts fall sharply. In exchange, bus capacity becomes a budget we must design.</a:t>
            </a:r>
          </a:p>
        </p:txBody>
      </p:sp>
      <p:sp>
        <p:nvSpPr>
          <p:cNvPr id="28" name="Rounded Rectangle 27"/>
          <p:cNvSpPr/>
          <p:nvPr/>
        </p:nvSpPr>
        <p:spPr>
          <a:xfrm>
            <a:off x="502920" y="4956048"/>
            <a:ext cx="11183112" cy="658368"/>
          </a:xfrm>
          <a:prstGeom prst="roundRect">
            <a:avLst>
              <a:gd name="adj" fmla="val 13000"/>
            </a:avLst>
          </a:prstGeom>
          <a:solidFill>
            <a:srgbClr val="FDF3DF"/>
          </a:solidFill>
          <a:ln w="12700">
            <a:solidFill>
              <a:srgbClr val="B47A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02920" y="4956048"/>
            <a:ext cx="68580" cy="65836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5047488"/>
            <a:ext cx="10744200" cy="530352"/>
          </a:xfrm>
          <a:prstGeom prst="rect">
            <a:avLst/>
          </a:prstGeom>
          <a:noFill/>
        </p:spPr>
        <p:txBody>
          <a:bodyPr wrap="square" anchor="t" lIns="0" rIns="0" tIns="0" bIns="0">
            <a:spAutoFit/>
          </a:bodyPr>
          <a:lstStyle/>
          <a:p>
            <a:pPr algn="l">
              <a:lnSpc>
                <a:spcPct val="105000"/>
              </a:lnSpc>
              <a:spcBef>
                <a:spcPts val="0"/>
              </a:spcBef>
            </a:pPr>
            <a:r>
              <a:rPr sz="1000" b="1">
                <a:solidFill>
                  <a:srgbClr val="7A530D"/>
                </a:solidFill>
                <a:latin typeface="Segoe UI"/>
              </a:rPr>
              <a:t>THE CENTRAL TECHNICAL QUESTION      Eight Secondaries, each reporting 8 bytes every millisecond, demand exactly 1 Mbit/s of bus traffic.</a:t>
            </a:r>
          </a:p>
          <a:p>
            <a:pPr algn="l">
              <a:lnSpc>
                <a:spcPct val="105000"/>
              </a:lnSpc>
              <a:spcBef>
                <a:spcPts val="300"/>
              </a:spcBef>
            </a:pPr>
            <a:r>
              <a:rPr sz="850" b="0">
                <a:solidFill>
                  <a:srgbClr val="334155"/>
                </a:solidFill>
                <a:latin typeface="Segoe UI"/>
              </a:rPr>
              <a:t>That is the entire capacity of the fastest standard CAN bus, leaving nothing for anything else. Standard CAN therefore fails at any speed; CAN FD with grouped readings succeeds at about 30 % load. See slides 13 to 16.</a:t>
            </a:r>
          </a:p>
        </p:txBody>
      </p:sp>
      <p:sp>
        <p:nvSpPr>
          <p:cNvPr id="31" name="Rounded Rectangle 30"/>
          <p:cNvSpPr/>
          <p:nvPr/>
        </p:nvSpPr>
        <p:spPr>
          <a:xfrm>
            <a:off x="502920" y="5705856"/>
            <a:ext cx="11183112" cy="749808"/>
          </a:xfrm>
          <a:prstGeom prst="roundRect">
            <a:avLst>
              <a:gd name="adj" fmla="val 12000"/>
            </a:avLst>
          </a:prstGeom>
          <a:solidFill>
            <a:srgbClr val="E6F2EB"/>
          </a:solidFill>
          <a:ln w="12700">
            <a:solidFill>
              <a:srgbClr val="2E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2920" y="5705856"/>
            <a:ext cx="68580" cy="749808"/>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5797296"/>
            <a:ext cx="10744200" cy="621792"/>
          </a:xfrm>
          <a:prstGeom prst="rect">
            <a:avLst/>
          </a:prstGeom>
          <a:noFill/>
        </p:spPr>
        <p:txBody>
          <a:bodyPr wrap="square" anchor="t" lIns="0" rIns="0" tIns="0" bIns="0">
            <a:spAutoFit/>
          </a:bodyPr>
          <a:lstStyle/>
          <a:p>
            <a:pPr algn="l">
              <a:lnSpc>
                <a:spcPct val="105000"/>
              </a:lnSpc>
              <a:spcBef>
                <a:spcPts val="0"/>
              </a:spcBef>
            </a:pPr>
            <a:r>
              <a:rPr sz="1050" b="1">
                <a:solidFill>
                  <a:srgbClr val="1C4E38"/>
                </a:solidFill>
                <a:latin typeface="Segoe UI"/>
              </a:rPr>
              <a:t>RECOMMENDATION      Proceed with the ME architecture, subject to three conditions</a:t>
            </a:r>
          </a:p>
          <a:p>
            <a:pPr algn="l">
              <a:lnSpc>
                <a:spcPct val="105000"/>
              </a:lnSpc>
              <a:spcBef>
                <a:spcPts val="300"/>
              </a:spcBef>
            </a:pPr>
            <a:r>
              <a:rPr sz="850" b="0">
                <a:solidFill>
                  <a:srgbClr val="334155"/>
                </a:solidFill>
                <a:latin typeface="Segoe UI"/>
              </a:rPr>
              <a:t>A · The 1 ms regulation loop stays on the Secondary.      B · Protection limits stay on the Secondary, acting independently of the bus.      C · Specify CAN FD and group the readings — a standard bus cannot meet the 1 ms requirement at any speed.</a:t>
            </a:r>
          </a:p>
        </p:txBody>
      </p:sp>
      <p:sp>
        <p:nvSpPr>
          <p:cNvPr id="34" name="Rectangle 33"/>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36" name="TextBox 35"/>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CONTENTS</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What this review covers</a:t>
            </a:r>
          </a:p>
        </p:txBody>
      </p:sp>
      <p:sp>
        <p:nvSpPr>
          <p:cNvPr id="6" name="Rounded Rectangle 5"/>
          <p:cNvSpPr/>
          <p:nvPr/>
        </p:nvSpPr>
        <p:spPr>
          <a:xfrm>
            <a:off x="502920" y="1325880"/>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02920" y="1325880"/>
            <a:ext cx="59436" cy="8229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 y="1508760"/>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01</a:t>
            </a:r>
          </a:p>
        </p:txBody>
      </p:sp>
      <p:sp>
        <p:nvSpPr>
          <p:cNvPr id="9" name="TextBox 8"/>
          <p:cNvSpPr txBox="1"/>
          <p:nvPr/>
        </p:nvSpPr>
        <p:spPr>
          <a:xfrm>
            <a:off x="1289304" y="1463039"/>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Platform architecture, side by side</a:t>
            </a:r>
          </a:p>
          <a:p>
            <a:pPr algn="l">
              <a:lnSpc>
                <a:spcPct val="105000"/>
              </a:lnSpc>
              <a:spcBef>
                <a:spcPts val="200"/>
              </a:spcBef>
            </a:pPr>
            <a:r>
              <a:rPr sz="850" b="0">
                <a:solidFill>
                  <a:srgbClr val="64748B"/>
                </a:solidFill>
                <a:latin typeface="Segoe UI"/>
              </a:rPr>
              <a:t>Three boards today, two board types proposed</a:t>
            </a:r>
          </a:p>
        </p:txBody>
      </p:sp>
      <p:sp>
        <p:nvSpPr>
          <p:cNvPr id="10" name="Rounded Rectangle 9"/>
          <p:cNvSpPr/>
          <p:nvPr/>
        </p:nvSpPr>
        <p:spPr>
          <a:xfrm>
            <a:off x="502920" y="2267712"/>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02920" y="2267712"/>
            <a:ext cx="59436" cy="8229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4088" y="2450592"/>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02</a:t>
            </a:r>
          </a:p>
        </p:txBody>
      </p:sp>
      <p:sp>
        <p:nvSpPr>
          <p:cNvPr id="13" name="TextBox 12"/>
          <p:cNvSpPr txBox="1"/>
          <p:nvPr/>
        </p:nvSpPr>
        <p:spPr>
          <a:xfrm>
            <a:off x="1289304" y="2404872"/>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Where the intelligence sits</a:t>
            </a:r>
          </a:p>
          <a:p>
            <a:pPr algn="l">
              <a:lnSpc>
                <a:spcPct val="105000"/>
              </a:lnSpc>
              <a:spcBef>
                <a:spcPts val="200"/>
              </a:spcBef>
            </a:pPr>
            <a:r>
              <a:rPr sz="850" b="0">
                <a:solidFill>
                  <a:srgbClr val="64748B"/>
                </a:solidFill>
                <a:latin typeface="Segoe UI"/>
              </a:rPr>
              <a:t>The single most important architectural difference</a:t>
            </a:r>
          </a:p>
        </p:txBody>
      </p:sp>
      <p:sp>
        <p:nvSpPr>
          <p:cNvPr id="14" name="Rounded Rectangle 13"/>
          <p:cNvSpPr/>
          <p:nvPr/>
        </p:nvSpPr>
        <p:spPr>
          <a:xfrm>
            <a:off x="502920" y="3209544"/>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3209544"/>
            <a:ext cx="59436" cy="8229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4088" y="3392424"/>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03</a:t>
            </a:r>
          </a:p>
        </p:txBody>
      </p:sp>
      <p:sp>
        <p:nvSpPr>
          <p:cNvPr id="17" name="TextBox 16"/>
          <p:cNvSpPr txBox="1"/>
          <p:nvPr/>
        </p:nvSpPr>
        <p:spPr>
          <a:xfrm>
            <a:off x="1289304" y="3346703"/>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Execution flow, old and new</a:t>
            </a:r>
          </a:p>
          <a:p>
            <a:pPr algn="l">
              <a:lnSpc>
                <a:spcPct val="105000"/>
              </a:lnSpc>
              <a:spcBef>
                <a:spcPts val="200"/>
              </a:spcBef>
            </a:pPr>
            <a:r>
              <a:rPr sz="850" b="0">
                <a:solidFill>
                  <a:srgbClr val="64748B"/>
                </a:solidFill>
                <a:latin typeface="Segoe UI"/>
              </a:rPr>
              <a:t>How a test actually runs on each platform</a:t>
            </a:r>
          </a:p>
        </p:txBody>
      </p:sp>
      <p:sp>
        <p:nvSpPr>
          <p:cNvPr id="18" name="Rounded Rectangle 17"/>
          <p:cNvSpPr/>
          <p:nvPr/>
        </p:nvSpPr>
        <p:spPr>
          <a:xfrm>
            <a:off x="502920" y="4151376"/>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02920" y="4151376"/>
            <a:ext cx="59436" cy="8229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4088" y="4334256"/>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04</a:t>
            </a:r>
          </a:p>
        </p:txBody>
      </p:sp>
      <p:sp>
        <p:nvSpPr>
          <p:cNvPr id="21" name="TextBox 20"/>
          <p:cNvSpPr txBox="1"/>
          <p:nvPr/>
        </p:nvSpPr>
        <p:spPr>
          <a:xfrm>
            <a:off x="1289304" y="4288536"/>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Functional comparison</a:t>
            </a:r>
          </a:p>
          <a:p>
            <a:pPr algn="l">
              <a:lnSpc>
                <a:spcPct val="105000"/>
              </a:lnSpc>
              <a:spcBef>
                <a:spcPts val="200"/>
              </a:spcBef>
            </a:pPr>
            <a:r>
              <a:rPr sz="850" b="0">
                <a:solidFill>
                  <a:srgbClr val="64748B"/>
                </a:solidFill>
                <a:latin typeface="Segoe UI"/>
              </a:rPr>
              <a:t>All twelve requirement areas mapped</a:t>
            </a:r>
          </a:p>
        </p:txBody>
      </p:sp>
      <p:sp>
        <p:nvSpPr>
          <p:cNvPr id="22" name="Rounded Rectangle 21"/>
          <p:cNvSpPr/>
          <p:nvPr/>
        </p:nvSpPr>
        <p:spPr>
          <a:xfrm>
            <a:off x="502920" y="5093208"/>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02920" y="5093208"/>
            <a:ext cx="59436" cy="82296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4088" y="5276088"/>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05</a:t>
            </a:r>
          </a:p>
        </p:txBody>
      </p:sp>
      <p:sp>
        <p:nvSpPr>
          <p:cNvPr id="25" name="TextBox 24"/>
          <p:cNvSpPr txBox="1"/>
          <p:nvPr/>
        </p:nvSpPr>
        <p:spPr>
          <a:xfrm>
            <a:off x="1289304" y="5230368"/>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Scaling economics</a:t>
            </a:r>
          </a:p>
          <a:p>
            <a:pPr algn="l">
              <a:lnSpc>
                <a:spcPct val="105000"/>
              </a:lnSpc>
              <a:spcBef>
                <a:spcPts val="200"/>
              </a:spcBef>
            </a:pPr>
            <a:r>
              <a:rPr sz="850" b="0">
                <a:solidFill>
                  <a:srgbClr val="64748B"/>
                </a:solidFill>
                <a:latin typeface="Segoe UI"/>
              </a:rPr>
              <a:t>The commercial case for one Primary and eight Secondaries</a:t>
            </a:r>
          </a:p>
        </p:txBody>
      </p:sp>
      <p:sp>
        <p:nvSpPr>
          <p:cNvPr id="26" name="Rounded Rectangle 25"/>
          <p:cNvSpPr/>
          <p:nvPr/>
        </p:nvSpPr>
        <p:spPr>
          <a:xfrm>
            <a:off x="6355080" y="1325880"/>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355080" y="1325880"/>
            <a:ext cx="59436" cy="82296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56248" y="1508760"/>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06</a:t>
            </a:r>
          </a:p>
        </p:txBody>
      </p:sp>
      <p:sp>
        <p:nvSpPr>
          <p:cNvPr id="29" name="TextBox 28"/>
          <p:cNvSpPr txBox="1"/>
          <p:nvPr/>
        </p:nvSpPr>
        <p:spPr>
          <a:xfrm>
            <a:off x="7141464" y="1463039"/>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The 1 ms live data requirement</a:t>
            </a:r>
          </a:p>
          <a:p>
            <a:pPr algn="l">
              <a:lnSpc>
                <a:spcPct val="105000"/>
              </a:lnSpc>
              <a:spcBef>
                <a:spcPts val="200"/>
              </a:spcBef>
            </a:pPr>
            <a:r>
              <a:rPr sz="850" b="0">
                <a:solidFill>
                  <a:srgbClr val="64748B"/>
                </a:solidFill>
                <a:latin typeface="Segoe UI"/>
              </a:rPr>
              <a:t>What it asks of the bus, and the two ways the bus fails</a:t>
            </a:r>
          </a:p>
        </p:txBody>
      </p:sp>
      <p:sp>
        <p:nvSpPr>
          <p:cNvPr id="30" name="Rounded Rectangle 29"/>
          <p:cNvSpPr/>
          <p:nvPr/>
        </p:nvSpPr>
        <p:spPr>
          <a:xfrm>
            <a:off x="6355080" y="2267712"/>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355080" y="2267712"/>
            <a:ext cx="59436" cy="82296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56248" y="2450592"/>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07</a:t>
            </a:r>
          </a:p>
        </p:txBody>
      </p:sp>
      <p:sp>
        <p:nvSpPr>
          <p:cNvPr id="33" name="TextBox 32"/>
          <p:cNvSpPr txBox="1"/>
          <p:nvPr/>
        </p:nvSpPr>
        <p:spPr>
          <a:xfrm>
            <a:off x="7141464" y="2404872"/>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Cutoff reaction time</a:t>
            </a:r>
          </a:p>
          <a:p>
            <a:pPr algn="l">
              <a:lnSpc>
                <a:spcPct val="105000"/>
              </a:lnSpc>
              <a:spcBef>
                <a:spcPts val="200"/>
              </a:spcBef>
            </a:pPr>
            <a:r>
              <a:rPr sz="850" b="0">
                <a:solidFill>
                  <a:srgbClr val="64748B"/>
                </a:solidFill>
                <a:latin typeface="Segoe UI"/>
              </a:rPr>
              <a:t>Why complete data is not the same as fast data</a:t>
            </a:r>
          </a:p>
        </p:txBody>
      </p:sp>
      <p:sp>
        <p:nvSpPr>
          <p:cNvPr id="34" name="Rounded Rectangle 33"/>
          <p:cNvSpPr/>
          <p:nvPr/>
        </p:nvSpPr>
        <p:spPr>
          <a:xfrm>
            <a:off x="6355080" y="3209544"/>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355080" y="3209544"/>
            <a:ext cx="59436" cy="82296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56248" y="3392424"/>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08</a:t>
            </a:r>
          </a:p>
        </p:txBody>
      </p:sp>
      <p:sp>
        <p:nvSpPr>
          <p:cNvPr id="37" name="TextBox 36"/>
          <p:cNvSpPr txBox="1"/>
          <p:nvPr/>
        </p:nvSpPr>
        <p:spPr>
          <a:xfrm>
            <a:off x="7141464" y="3346703"/>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Data volume</a:t>
            </a:r>
          </a:p>
          <a:p>
            <a:pPr algn="l">
              <a:lnSpc>
                <a:spcPct val="105000"/>
              </a:lnSpc>
              <a:spcBef>
                <a:spcPts val="200"/>
              </a:spcBef>
            </a:pPr>
            <a:r>
              <a:rPr sz="850" b="0">
                <a:solidFill>
                  <a:srgbClr val="64748B"/>
                </a:solidFill>
                <a:latin typeface="Segoe UI"/>
              </a:rPr>
              <a:t>The storage consequence of recording every millisecond</a:t>
            </a:r>
          </a:p>
        </p:txBody>
      </p:sp>
      <p:sp>
        <p:nvSpPr>
          <p:cNvPr id="38" name="Rounded Rectangle 37"/>
          <p:cNvSpPr/>
          <p:nvPr/>
        </p:nvSpPr>
        <p:spPr>
          <a:xfrm>
            <a:off x="6355080" y="4151376"/>
            <a:ext cx="5330952" cy="822960"/>
          </a:xfrm>
          <a:prstGeom prst="roundRect">
            <a:avLst>
              <a:gd name="adj" fmla="val 10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355080" y="4151376"/>
            <a:ext cx="59436" cy="82296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56248" y="4334256"/>
            <a:ext cx="566928" cy="457200"/>
          </a:xfrm>
          <a:prstGeom prst="rect">
            <a:avLst/>
          </a:prstGeom>
          <a:noFill/>
        </p:spPr>
        <p:txBody>
          <a:bodyPr wrap="square" anchor="t" lIns="18288" rIns="18288" tIns="0" bIns="0">
            <a:spAutoFit/>
          </a:bodyPr>
          <a:lstStyle/>
          <a:p>
            <a:pPr algn="l">
              <a:lnSpc>
                <a:spcPct val="100000"/>
              </a:lnSpc>
            </a:pPr>
            <a:r>
              <a:rPr sz="1600" b="1" i="0">
                <a:solidFill>
                  <a:srgbClr val="C5D0DE"/>
                </a:solidFill>
                <a:latin typeface="Segoe UI Light"/>
              </a:rPr>
              <a:t>09</a:t>
            </a:r>
          </a:p>
        </p:txBody>
      </p:sp>
      <p:sp>
        <p:nvSpPr>
          <p:cNvPr id="41" name="TextBox 40"/>
          <p:cNvSpPr txBox="1"/>
          <p:nvPr/>
        </p:nvSpPr>
        <p:spPr>
          <a:xfrm>
            <a:off x="7141464" y="4288536"/>
            <a:ext cx="4389120" cy="64008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Scorecard, risks and open decisions</a:t>
            </a:r>
          </a:p>
          <a:p>
            <a:pPr algn="l">
              <a:lnSpc>
                <a:spcPct val="105000"/>
              </a:lnSpc>
              <a:spcBef>
                <a:spcPts val="200"/>
              </a:spcBef>
            </a:pPr>
            <a:r>
              <a:rPr sz="850" b="0">
                <a:solidFill>
                  <a:srgbClr val="64748B"/>
                </a:solidFill>
                <a:latin typeface="Segoe UI"/>
              </a:rPr>
              <a:t>What must be settled before work starts</a:t>
            </a:r>
          </a:p>
        </p:txBody>
      </p:sp>
      <p:sp>
        <p:nvSpPr>
          <p:cNvPr id="42" name="Rounded Rectangle 41"/>
          <p:cNvSpPr/>
          <p:nvPr/>
        </p:nvSpPr>
        <p:spPr>
          <a:xfrm>
            <a:off x="6355080" y="5989320"/>
            <a:ext cx="5330952" cy="457200"/>
          </a:xfrm>
          <a:prstGeom prst="roundRect">
            <a:avLst>
              <a:gd name="adj" fmla="val 14000"/>
            </a:avLst>
          </a:prstGeom>
          <a:solidFill>
            <a:srgbClr val="E9EEF6"/>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537960" y="6062472"/>
            <a:ext cx="5029200" cy="329184"/>
          </a:xfrm>
          <a:prstGeom prst="rect">
            <a:avLst/>
          </a:prstGeom>
          <a:noFill/>
        </p:spPr>
        <p:txBody>
          <a:bodyPr wrap="square" anchor="t" lIns="18288" rIns="18288" tIns="0" bIns="0">
            <a:spAutoFit/>
          </a:bodyPr>
          <a:lstStyle/>
          <a:p>
            <a:pPr algn="l">
              <a:lnSpc>
                <a:spcPct val="115000"/>
              </a:lnSpc>
            </a:pPr>
            <a:r>
              <a:rPr sz="850" b="0" i="0">
                <a:solidFill>
                  <a:srgbClr val="142A47"/>
                </a:solidFill>
                <a:latin typeface="Segoe UI"/>
              </a:rPr>
              <a:t>Statements about the current platform describe the shipping product. ME statements are proposal requirements.</a:t>
            </a:r>
          </a:p>
        </p:txBody>
      </p:sp>
      <p:sp>
        <p:nvSpPr>
          <p:cNvPr id="44" name="Rectangle 43"/>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46" name="TextBox 45"/>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01 · ARCHITECTURE — CURRENT PLATFORM</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OLD BTS as built today: three boards, one test channel</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One clarification worth noting: the current platform is three boards, not two. The CAN interfaces already exist, on a separate COM controller.</a:t>
            </a:r>
          </a:p>
        </p:txBody>
      </p:sp>
      <p:sp>
        <p:nvSpPr>
          <p:cNvPr id="7" name="Rounded Rectangle 6"/>
          <p:cNvSpPr/>
          <p:nvPr/>
        </p:nvSpPr>
        <p:spPr>
          <a:xfrm>
            <a:off x="9829800" y="1463040"/>
            <a:ext cx="1874519" cy="274320"/>
          </a:xfrm>
          <a:prstGeom prst="roundRect">
            <a:avLst>
              <a:gd name="adj" fmla="val 50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ONE TEST CHANNEL</a:t>
            </a:r>
          </a:p>
        </p:txBody>
      </p:sp>
      <p:sp>
        <p:nvSpPr>
          <p:cNvPr id="8" name="Rounded Rectangle 7"/>
          <p:cNvSpPr/>
          <p:nvPr/>
        </p:nvSpPr>
        <p:spPr>
          <a:xfrm>
            <a:off x="502920" y="1783080"/>
            <a:ext cx="1874519" cy="1143000"/>
          </a:xfrm>
          <a:prstGeom prst="roundRect">
            <a:avLst>
              <a:gd name="adj" fmla="val 8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000" b="1">
                <a:solidFill>
                  <a:srgbClr val="FFFFFF"/>
                </a:solidFill>
                <a:latin typeface="Segoe UI"/>
              </a:rPr>
              <a:t>PC / SERVER</a:t>
            </a:r>
          </a:p>
          <a:p>
            <a:pPr algn="ctr">
              <a:lnSpc>
                <a:spcPct val="102000"/>
              </a:lnSpc>
            </a:pPr>
            <a:r>
              <a:rPr sz="850">
                <a:solidFill>
                  <a:srgbClr val="DCE6F2"/>
                </a:solidFill>
                <a:latin typeface="Segoe UI"/>
              </a:rPr>
              <a:t>Web Application</a:t>
            </a:r>
          </a:p>
          <a:p>
            <a:pPr algn="ctr">
              <a:lnSpc>
                <a:spcPct val="102000"/>
              </a:lnSpc>
            </a:pPr>
            <a:r>
              <a:rPr sz="850">
                <a:solidFill>
                  <a:srgbClr val="DCE6F2"/>
                </a:solidFill>
                <a:latin typeface="Segoe UI"/>
              </a:rPr>
              <a:t>Sequence authoring</a:t>
            </a:r>
          </a:p>
          <a:p>
            <a:pPr algn="ctr">
              <a:lnSpc>
                <a:spcPct val="102000"/>
              </a:lnSpc>
            </a:pPr>
            <a:r>
              <a:rPr sz="850">
                <a:solidFill>
                  <a:srgbClr val="DCE6F2"/>
                </a:solidFill>
                <a:latin typeface="Segoe UI"/>
              </a:rPr>
              <a:t>Results database</a:t>
            </a:r>
          </a:p>
        </p:txBody>
      </p:sp>
      <p:sp>
        <p:nvSpPr>
          <p:cNvPr id="9" name="TextBox 8"/>
          <p:cNvSpPr txBox="1"/>
          <p:nvPr/>
        </p:nvSpPr>
        <p:spPr>
          <a:xfrm>
            <a:off x="502920" y="2990088"/>
            <a:ext cx="1965960" cy="566928"/>
          </a:xfrm>
          <a:prstGeom prst="rect">
            <a:avLst/>
          </a:prstGeom>
          <a:noFill/>
        </p:spPr>
        <p:txBody>
          <a:bodyPr wrap="square" anchor="t" lIns="0" rIns="0" tIns="0" bIns="0">
            <a:spAutoFit/>
          </a:bodyPr>
          <a:lstStyle/>
          <a:p>
            <a:pPr algn="l">
              <a:lnSpc>
                <a:spcPct val="105000"/>
              </a:lnSpc>
              <a:spcBef>
                <a:spcPts val="0"/>
              </a:spcBef>
            </a:pPr>
            <a:r>
              <a:rPr sz="750" b="1">
                <a:solidFill>
                  <a:srgbClr val="334155"/>
                </a:solidFill>
                <a:latin typeface="Segoe UI"/>
              </a:rPr>
              <a:t>→   TCP/IP  —  programme download</a:t>
            </a:r>
          </a:p>
          <a:p>
            <a:pPr algn="l">
              <a:lnSpc>
                <a:spcPct val="105000"/>
              </a:lnSpc>
              <a:spcBef>
                <a:spcPts val="200"/>
              </a:spcBef>
            </a:pPr>
            <a:r>
              <a:rPr sz="750" b="1">
                <a:solidFill>
                  <a:srgbClr val="0A6E6A"/>
                </a:solidFill>
                <a:latin typeface="Segoe UI"/>
              </a:rPr>
              <a:t>←   UDP  —  live and session data</a:t>
            </a:r>
          </a:p>
        </p:txBody>
      </p:sp>
      <p:sp>
        <p:nvSpPr>
          <p:cNvPr id="10" name="Rounded Rectangle 9"/>
          <p:cNvSpPr/>
          <p:nvPr/>
        </p:nvSpPr>
        <p:spPr>
          <a:xfrm>
            <a:off x="502920" y="4069080"/>
            <a:ext cx="1874519" cy="960120"/>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FFFFFF"/>
                </a:solidFill>
                <a:latin typeface="Segoe UI"/>
              </a:rPr>
              <a:t>BMS</a:t>
            </a:r>
          </a:p>
          <a:p>
            <a:pPr algn="ctr">
              <a:lnSpc>
                <a:spcPct val="102000"/>
              </a:lnSpc>
            </a:pPr>
            <a:r>
              <a:rPr sz="850">
                <a:solidFill>
                  <a:srgbClr val="DCE6F2"/>
                </a:solidFill>
                <a:latin typeface="Segoe UI"/>
              </a:rPr>
              <a:t>customer CAN network</a:t>
            </a:r>
          </a:p>
        </p:txBody>
      </p:sp>
      <p:sp>
        <p:nvSpPr>
          <p:cNvPr id="11" name="TextBox 10"/>
          <p:cNvSpPr txBox="1"/>
          <p:nvPr/>
        </p:nvSpPr>
        <p:spPr>
          <a:xfrm>
            <a:off x="502920" y="5084064"/>
            <a:ext cx="1874519" cy="274320"/>
          </a:xfrm>
          <a:prstGeom prst="rect">
            <a:avLst/>
          </a:prstGeom>
          <a:noFill/>
        </p:spPr>
        <p:txBody>
          <a:bodyPr wrap="square" anchor="t" lIns="0" rIns="0" tIns="0" bIns="0">
            <a:spAutoFit/>
          </a:bodyPr>
          <a:lstStyle/>
          <a:p>
            <a:pPr algn="l">
              <a:lnSpc>
                <a:spcPct val="105000"/>
              </a:lnSpc>
              <a:spcBef>
                <a:spcPts val="0"/>
              </a:spcBef>
            </a:pPr>
            <a:r>
              <a:rPr sz="750" b="1">
                <a:solidFill>
                  <a:srgbClr val="B47A14"/>
                </a:solidFill>
                <a:latin typeface="Segoe UI"/>
              </a:rPr>
              <a:t>↔   CAN</a:t>
            </a:r>
          </a:p>
        </p:txBody>
      </p:sp>
      <p:sp>
        <p:nvSpPr>
          <p:cNvPr id="12" name="Rounded Rectangle 11"/>
          <p:cNvSpPr/>
          <p:nvPr/>
        </p:nvSpPr>
        <p:spPr>
          <a:xfrm>
            <a:off x="2697480" y="1417320"/>
            <a:ext cx="6949440" cy="4160520"/>
          </a:xfrm>
          <a:prstGeom prst="roundRect">
            <a:avLst>
              <a:gd name="adj" fmla="val 3000"/>
            </a:avLst>
          </a:prstGeom>
          <a:solidFill>
            <a:srgbClr val="E8EDF4"/>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80360" y="1481328"/>
            <a:ext cx="3657600" cy="201168"/>
          </a:xfrm>
          <a:prstGeom prst="rect">
            <a:avLst/>
          </a:prstGeom>
          <a:noFill/>
        </p:spPr>
        <p:txBody>
          <a:bodyPr wrap="square" anchor="t" lIns="18288" rIns="18288" tIns="0" bIns="0">
            <a:spAutoFit/>
          </a:bodyPr>
          <a:lstStyle/>
          <a:p>
            <a:pPr algn="l">
              <a:lnSpc>
                <a:spcPct val="100000"/>
              </a:lnSpc>
            </a:pPr>
            <a:r>
              <a:rPr sz="800" b="1" i="0">
                <a:solidFill>
                  <a:srgbClr val="64748B"/>
                </a:solidFill>
                <a:latin typeface="Segoe UI"/>
              </a:rPr>
              <a:t>TEST BENCH HARDWARE</a:t>
            </a:r>
          </a:p>
        </p:txBody>
      </p:sp>
      <p:sp>
        <p:nvSpPr>
          <p:cNvPr id="14" name="Rounded Rectangle 13"/>
          <p:cNvSpPr/>
          <p:nvPr/>
        </p:nvSpPr>
        <p:spPr>
          <a:xfrm>
            <a:off x="2880360" y="1810512"/>
            <a:ext cx="2377440" cy="1847088"/>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50" b="1">
                <a:solidFill>
                  <a:srgbClr val="FFFFFF"/>
                </a:solidFill>
                <a:latin typeface="Segoe UI"/>
              </a:rPr>
              <a:t>PRIMARY</a:t>
            </a:r>
          </a:p>
          <a:p>
            <a:pPr algn="ctr">
              <a:lnSpc>
                <a:spcPct val="102000"/>
              </a:lnSpc>
            </a:pPr>
            <a:r>
              <a:rPr sz="800">
                <a:solidFill>
                  <a:srgbClr val="DCE6F2"/>
                </a:solidFill>
                <a:latin typeface="Segoe UI"/>
              </a:rPr>
              <a:t>SAM9X60 · real-time OS</a:t>
            </a:r>
          </a:p>
          <a:p>
            <a:pPr algn="ctr">
              <a:lnSpc>
                <a:spcPct val="102000"/>
              </a:lnSpc>
            </a:pPr>
            <a:r>
              <a:rPr sz="800">
                <a:solidFill>
                  <a:srgbClr val="DCE6F2"/>
                </a:solidFill>
                <a:latin typeface="Segoe UI"/>
              </a:rPr>
              <a:t>───────────</a:t>
            </a:r>
          </a:p>
          <a:p>
            <a:pPr algn="ctr">
              <a:lnSpc>
                <a:spcPct val="102000"/>
              </a:lnSpc>
            </a:pPr>
            <a:r>
              <a:rPr sz="800">
                <a:solidFill>
                  <a:srgbClr val="DCE6F2"/>
                </a:solidFill>
                <a:latin typeface="Segoe UI"/>
              </a:rPr>
              <a:t>• Network communication</a:t>
            </a:r>
          </a:p>
          <a:p>
            <a:pPr algn="ctr">
              <a:lnSpc>
                <a:spcPct val="102000"/>
              </a:lnSpc>
            </a:pPr>
            <a:r>
              <a:rPr sz="800">
                <a:solidFill>
                  <a:srgbClr val="DCE6F2"/>
                </a:solidFill>
                <a:latin typeface="Segoe UI"/>
              </a:rPr>
              <a:t>• 4 MB serial memory</a:t>
            </a:r>
          </a:p>
          <a:p>
            <a:pPr algn="ctr">
              <a:lnSpc>
                <a:spcPct val="102000"/>
              </a:lnSpc>
            </a:pPr>
            <a:r>
              <a:rPr sz="800">
                <a:solidFill>
                  <a:srgbClr val="DCE6F2"/>
                </a:solidFill>
                <a:latin typeface="Segoe UI"/>
              </a:rPr>
              <a:t>• Stores ONE programme</a:t>
            </a:r>
          </a:p>
          <a:p>
            <a:pPr algn="ctr">
              <a:lnSpc>
                <a:spcPct val="102000"/>
              </a:lnSpc>
            </a:pPr>
            <a:r>
              <a:rPr sz="800">
                <a:solidFill>
                  <a:srgbClr val="DCE6F2"/>
                </a:solidFill>
                <a:latin typeface="Segoe UI"/>
              </a:rPr>
              <a:t>• Passes steps downward</a:t>
            </a:r>
          </a:p>
          <a:p>
            <a:pPr algn="ctr">
              <a:lnSpc>
                <a:spcPct val="102000"/>
              </a:lnSpc>
            </a:pPr>
            <a:r>
              <a:rPr sz="800">
                <a:solidFill>
                  <a:srgbClr val="DCE6F2"/>
                </a:solidFill>
                <a:latin typeface="Segoe UI"/>
              </a:rPr>
              <a:t>• Relays measurements up</a:t>
            </a:r>
          </a:p>
          <a:p>
            <a:pPr algn="ctr">
              <a:lnSpc>
                <a:spcPct val="102000"/>
              </a:lnSpc>
            </a:pPr>
            <a:r>
              <a:rPr sz="800">
                <a:solidFill>
                  <a:srgbClr val="DCE6F2"/>
                </a:solidFill>
                <a:latin typeface="Segoe UI"/>
              </a:rPr>
              <a:t>• Does NOT interpret</a:t>
            </a:r>
          </a:p>
          <a:p>
            <a:pPr algn="ctr">
              <a:lnSpc>
                <a:spcPct val="102000"/>
              </a:lnSpc>
            </a:pPr>
            <a:r>
              <a:rPr sz="800">
                <a:solidFill>
                  <a:srgbClr val="DCE6F2"/>
                </a:solidFill>
                <a:latin typeface="Segoe UI"/>
              </a:rPr>
              <a:t>   the test</a:t>
            </a:r>
          </a:p>
        </p:txBody>
      </p:sp>
      <p:sp>
        <p:nvSpPr>
          <p:cNvPr id="15" name="Rounded Rectangle 14"/>
          <p:cNvSpPr/>
          <p:nvPr/>
        </p:nvSpPr>
        <p:spPr>
          <a:xfrm>
            <a:off x="2880360" y="3730752"/>
            <a:ext cx="1783080" cy="246888"/>
          </a:xfrm>
          <a:prstGeom prst="roundRect">
            <a:avLst>
              <a:gd name="adj" fmla="val 50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50" b="1">
                <a:solidFill>
                  <a:srgbClr val="FFFFFF"/>
                </a:solidFill>
                <a:latin typeface="Segoe UI"/>
              </a:rPr>
              <a:t>ONE TEST CHANNEL ONLY</a:t>
            </a:r>
          </a:p>
        </p:txBody>
      </p:sp>
      <p:sp>
        <p:nvSpPr>
          <p:cNvPr id="16" name="Rounded Rectangle 15"/>
          <p:cNvSpPr/>
          <p:nvPr/>
        </p:nvSpPr>
        <p:spPr>
          <a:xfrm>
            <a:off x="2880360" y="4187952"/>
            <a:ext cx="2377440" cy="123444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050" b="1">
                <a:solidFill>
                  <a:srgbClr val="FFFFFF"/>
                </a:solidFill>
                <a:latin typeface="Segoe UI"/>
              </a:rPr>
              <a:t>COM CONTROLLER</a:t>
            </a:r>
          </a:p>
          <a:p>
            <a:pPr algn="ctr">
              <a:lnSpc>
                <a:spcPct val="102000"/>
              </a:lnSpc>
            </a:pPr>
            <a:r>
              <a:rPr sz="800">
                <a:solidFill>
                  <a:srgbClr val="FBF2DF"/>
                </a:solidFill>
                <a:latin typeface="Segoe UI"/>
              </a:rPr>
              <a:t>STM32H723 · bare metal</a:t>
            </a:r>
          </a:p>
          <a:p>
            <a:pPr algn="ctr">
              <a:lnSpc>
                <a:spcPct val="102000"/>
              </a:lnSpc>
            </a:pPr>
            <a:r>
              <a:rPr sz="800">
                <a:solidFill>
                  <a:srgbClr val="FBF2DF"/>
                </a:solidFill>
                <a:latin typeface="Segoe UI"/>
              </a:rPr>
              <a:t>───────────</a:t>
            </a:r>
          </a:p>
          <a:p>
            <a:pPr algn="ctr">
              <a:lnSpc>
                <a:spcPct val="102000"/>
              </a:lnSpc>
            </a:pPr>
            <a:r>
              <a:rPr sz="800">
                <a:solidFill>
                  <a:srgbClr val="FBF2DF"/>
                </a:solidFill>
                <a:latin typeface="Segoe UI"/>
              </a:rPr>
              <a:t>• Three CAN interfaces</a:t>
            </a:r>
          </a:p>
          <a:p>
            <a:pPr algn="ctr">
              <a:lnSpc>
                <a:spcPct val="102000"/>
              </a:lnSpc>
            </a:pPr>
            <a:r>
              <a:rPr sz="800">
                <a:solidFill>
                  <a:srgbClr val="FBF2DF"/>
                </a:solidFill>
                <a:latin typeface="Segoe UI"/>
              </a:rPr>
              <a:t>• Interprets the CAN database</a:t>
            </a:r>
          </a:p>
          <a:p>
            <a:pPr algn="ctr">
              <a:lnSpc>
                <a:spcPct val="102000"/>
              </a:lnSpc>
            </a:pPr>
            <a:r>
              <a:rPr sz="800">
                <a:solidFill>
                  <a:srgbClr val="FBF2DF"/>
                </a:solidFill>
                <a:latin typeface="Segoe UI"/>
              </a:rPr>
              <a:t>• BMS logging</a:t>
            </a:r>
          </a:p>
          <a:p>
            <a:pPr algn="ctr">
              <a:lnSpc>
                <a:spcPct val="102000"/>
              </a:lnSpc>
            </a:pPr>
            <a:r>
              <a:rPr sz="800">
                <a:solidFill>
                  <a:srgbClr val="FBF2DF"/>
                </a:solidFill>
                <a:latin typeface="Segoe UI"/>
              </a:rPr>
              <a:t>• Industrial fieldbus</a:t>
            </a:r>
          </a:p>
        </p:txBody>
      </p:sp>
      <p:sp>
        <p:nvSpPr>
          <p:cNvPr id="17" name="Rounded Rectangle 16"/>
          <p:cNvSpPr/>
          <p:nvPr/>
        </p:nvSpPr>
        <p:spPr>
          <a:xfrm>
            <a:off x="6263640" y="1810512"/>
            <a:ext cx="2514600" cy="361188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50" b="1">
                <a:solidFill>
                  <a:srgbClr val="FFFFFF"/>
                </a:solidFill>
                <a:latin typeface="Segoe UI"/>
              </a:rPr>
              <a:t>SECONDARY</a:t>
            </a:r>
          </a:p>
          <a:p>
            <a:pPr algn="ctr">
              <a:lnSpc>
                <a:spcPct val="102000"/>
              </a:lnSpc>
            </a:pPr>
            <a:r>
              <a:rPr sz="800">
                <a:solidFill>
                  <a:srgbClr val="F6DFE2"/>
                </a:solidFill>
                <a:latin typeface="Segoe UI"/>
              </a:rPr>
              <a:t>STM32H723 · bare metal</a:t>
            </a:r>
          </a:p>
          <a:p>
            <a:pPr algn="ctr">
              <a:lnSpc>
                <a:spcPct val="102000"/>
              </a:lnSpc>
            </a:pPr>
            <a:r>
              <a:rPr sz="800">
                <a:solidFill>
                  <a:srgbClr val="F6DFE2"/>
                </a:solidFill>
                <a:latin typeface="Segoe UI"/>
              </a:rPr>
              <a:t>───────────</a:t>
            </a:r>
          </a:p>
          <a:p>
            <a:pPr algn="ctr">
              <a:lnSpc>
                <a:spcPct val="102000"/>
              </a:lnSpc>
            </a:pPr>
            <a:r>
              <a:rPr sz="800">
                <a:solidFill>
                  <a:srgbClr val="F6DFE2"/>
                </a:solidFill>
                <a:latin typeface="Segoe UI"/>
              </a:rPr>
              <a:t>• INTERPRETS every step</a:t>
            </a:r>
          </a:p>
          <a:p>
            <a:pPr algn="ctr">
              <a:lnSpc>
                <a:spcPct val="102000"/>
              </a:lnSpc>
            </a:pPr>
            <a:r>
              <a:rPr sz="800">
                <a:solidFill>
                  <a:srgbClr val="F6DFE2"/>
                </a:solidFill>
                <a:latin typeface="Segoe UI"/>
              </a:rPr>
              <a:t>• EVALUATES the cutoffs</a:t>
            </a:r>
          </a:p>
          <a:p>
            <a:pPr algn="ctr">
              <a:lnSpc>
                <a:spcPct val="102000"/>
              </a:lnSpc>
            </a:pPr>
            <a:r>
              <a:rPr sz="800">
                <a:solidFill>
                  <a:srgbClr val="F6DFE2"/>
                </a:solidFill>
                <a:latin typeface="Segoe UI"/>
              </a:rPr>
              <a:t>• Runs the 1 ms control loop</a:t>
            </a:r>
          </a:p>
          <a:p>
            <a:pPr algn="ctr">
              <a:lnSpc>
                <a:spcPct val="102000"/>
              </a:lnSpc>
            </a:pPr>
            <a:r>
              <a:rPr sz="800">
                <a:solidFill>
                  <a:srgbClr val="F6DFE2"/>
                </a:solidFill>
                <a:latin typeface="Segoe UI"/>
              </a:rPr>
              <a:t>• 20-bit output to the</a:t>
            </a:r>
          </a:p>
          <a:p>
            <a:pPr algn="ctr">
              <a:lnSpc>
                <a:spcPct val="102000"/>
              </a:lnSpc>
            </a:pPr>
            <a:r>
              <a:rPr sz="800">
                <a:solidFill>
                  <a:srgbClr val="F6DFE2"/>
                </a:solidFill>
                <a:latin typeface="Segoe UI"/>
              </a:rPr>
              <a:t>   power stage</a:t>
            </a:r>
          </a:p>
          <a:p>
            <a:pPr algn="ctr">
              <a:lnSpc>
                <a:spcPct val="102000"/>
              </a:lnSpc>
            </a:pPr>
            <a:r>
              <a:rPr sz="800">
                <a:solidFill>
                  <a:srgbClr val="F6DFE2"/>
                </a:solidFill>
                <a:latin typeface="Segoe UI"/>
              </a:rPr>
              <a:t>• 24-bit measurement input</a:t>
            </a:r>
          </a:p>
          <a:p>
            <a:pPr algn="ctr">
              <a:lnSpc>
                <a:spcPct val="102000"/>
              </a:lnSpc>
            </a:pPr>
            <a:r>
              <a:rPr sz="800">
                <a:solidFill>
                  <a:srgbClr val="F6DFE2"/>
                </a:solidFill>
                <a:latin typeface="Segoe UI"/>
              </a:rPr>
              <a:t>• Performs calibration</a:t>
            </a:r>
          </a:p>
          <a:p>
            <a:pPr algn="ctr">
              <a:lnSpc>
                <a:spcPct val="102000"/>
              </a:lnSpc>
            </a:pPr>
            <a:r>
              <a:rPr sz="800">
                <a:solidFill>
                  <a:srgbClr val="F6DFE2"/>
                </a:solidFill>
                <a:latin typeface="Segoe UI"/>
              </a:rPr>
              <a:t>───────────</a:t>
            </a:r>
          </a:p>
          <a:p>
            <a:pPr algn="ctr">
              <a:lnSpc>
                <a:spcPct val="102000"/>
              </a:lnSpc>
            </a:pPr>
            <a:r>
              <a:rPr sz="800">
                <a:solidFill>
                  <a:srgbClr val="F6DFE2"/>
                </a:solidFill>
                <a:latin typeface="Segoe UI"/>
              </a:rPr>
              <a:t>The largest body of</a:t>
            </a:r>
          </a:p>
          <a:p>
            <a:pPr algn="ctr">
              <a:lnSpc>
                <a:spcPct val="102000"/>
              </a:lnSpc>
            </a:pPr>
            <a:r>
              <a:rPr sz="800">
                <a:solidFill>
                  <a:srgbClr val="F6DFE2"/>
                </a:solidFill>
                <a:latin typeface="Segoe UI"/>
              </a:rPr>
              <a:t>control logic in the</a:t>
            </a:r>
          </a:p>
          <a:p>
            <a:pPr algn="ctr">
              <a:lnSpc>
                <a:spcPct val="102000"/>
              </a:lnSpc>
            </a:pPr>
            <a:r>
              <a:rPr sz="800">
                <a:solidFill>
                  <a:srgbClr val="F6DFE2"/>
                </a:solidFill>
                <a:latin typeface="Segoe UI"/>
              </a:rPr>
              <a:t>whole product</a:t>
            </a:r>
          </a:p>
        </p:txBody>
      </p:sp>
      <p:sp>
        <p:nvSpPr>
          <p:cNvPr id="18" name="Rounded Rectangle 17"/>
          <p:cNvSpPr/>
          <p:nvPr/>
        </p:nvSpPr>
        <p:spPr>
          <a:xfrm>
            <a:off x="9829800" y="2103120"/>
            <a:ext cx="1874519" cy="960120"/>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FFFFFF"/>
                </a:solidFill>
                <a:latin typeface="Segoe UI"/>
              </a:rPr>
              <a:t>BATTERY</a:t>
            </a:r>
          </a:p>
          <a:p>
            <a:pPr algn="ctr">
              <a:lnSpc>
                <a:spcPct val="102000"/>
              </a:lnSpc>
            </a:pPr>
            <a:r>
              <a:rPr sz="850">
                <a:solidFill>
                  <a:srgbClr val="DCE6F2"/>
                </a:solidFill>
                <a:latin typeface="Segoe UI"/>
              </a:rPr>
              <a:t>under test</a:t>
            </a:r>
          </a:p>
        </p:txBody>
      </p:sp>
      <p:cxnSp>
        <p:nvCxnSpPr>
          <p:cNvPr id="19" name="Connector 18"/>
          <p:cNvCxnSpPr/>
          <p:nvPr/>
        </p:nvCxnSpPr>
        <p:spPr>
          <a:xfrm>
            <a:off x="2377440" y="2148840"/>
            <a:ext cx="502920" cy="0"/>
          </a:xfrm>
          <a:prstGeom prst="line">
            <a:avLst/>
          </a:prstGeom>
          <a:ln w="22225">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377440" y="2651760"/>
            <a:ext cx="502920" cy="0"/>
          </a:xfrm>
          <a:prstGeom prst="line">
            <a:avLst/>
          </a:prstGeom>
          <a:ln w="22225">
            <a:solidFill>
              <a:srgbClr val="0A6E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377440" y="4617720"/>
            <a:ext cx="502920" cy="0"/>
          </a:xfrm>
          <a:prstGeom prst="line">
            <a:avLst/>
          </a:prstGeom>
          <a:ln w="20320">
            <a:headEnd type="triangle" w="med" len="med"/>
            <a:solidFill>
              <a:srgbClr val="B47A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57800" y="2432304"/>
            <a:ext cx="1005840" cy="0"/>
          </a:xfrm>
          <a:prstGeom prst="line">
            <a:avLst/>
          </a:prstGeom>
          <a:ln w="25400">
            <a:solidFill>
              <a:srgbClr val="2E54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285232" y="1856231"/>
            <a:ext cx="950976" cy="50292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650" b="1">
                <a:solidFill>
                  <a:srgbClr val="2E5482"/>
                </a:solidFill>
                <a:latin typeface="Segoe UI"/>
              </a:rPr>
              <a:t>dedicated link</a:t>
            </a:r>
          </a:p>
          <a:p>
            <a:pPr algn="ctr"/>
            <a:r>
              <a:rPr sz="650" b="1">
                <a:solidFill>
                  <a:srgbClr val="2E5482"/>
                </a:solidFill>
                <a:latin typeface="Segoe UI"/>
              </a:rPr>
              <a:t>(UART)</a:t>
            </a:r>
          </a:p>
          <a:p>
            <a:pPr algn="ctr"/>
            <a:r>
              <a:rPr sz="650" b="1">
                <a:solidFill>
                  <a:srgbClr val="2E5482"/>
                </a:solidFill>
                <a:latin typeface="Segoe UI"/>
              </a:rPr>
              <a:t>test steps</a:t>
            </a:r>
          </a:p>
        </p:txBody>
      </p:sp>
      <p:cxnSp>
        <p:nvCxnSpPr>
          <p:cNvPr id="24" name="Connector 23"/>
          <p:cNvCxnSpPr/>
          <p:nvPr/>
        </p:nvCxnSpPr>
        <p:spPr>
          <a:xfrm flipH="1">
            <a:off x="5257800" y="3154680"/>
            <a:ext cx="1005840" cy="0"/>
          </a:xfrm>
          <a:prstGeom prst="line">
            <a:avLst/>
          </a:prstGeom>
          <a:ln w="25400">
            <a:solidFill>
              <a:srgbClr val="8A3A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285232" y="3218688"/>
            <a:ext cx="950976" cy="502920"/>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650" b="1">
                <a:solidFill>
                  <a:srgbClr val="8A3A48"/>
                </a:solidFill>
                <a:latin typeface="Segoe UI"/>
              </a:rPr>
              <a:t>dedicated link</a:t>
            </a:r>
          </a:p>
          <a:p>
            <a:pPr algn="ctr"/>
            <a:r>
              <a:rPr sz="650" b="1">
                <a:solidFill>
                  <a:srgbClr val="8A3A48"/>
                </a:solidFill>
                <a:latin typeface="Segoe UI"/>
              </a:rPr>
              <a:t>(UART)</a:t>
            </a:r>
          </a:p>
          <a:p>
            <a:pPr algn="ctr"/>
            <a:r>
              <a:rPr sz="650" b="1">
                <a:solidFill>
                  <a:srgbClr val="8A3A48"/>
                </a:solidFill>
                <a:latin typeface="Segoe UI"/>
              </a:rPr>
              <a:t>measurements</a:t>
            </a:r>
          </a:p>
        </p:txBody>
      </p:sp>
      <p:cxnSp>
        <p:nvCxnSpPr>
          <p:cNvPr id="26" name="Connector 25"/>
          <p:cNvCxnSpPr/>
          <p:nvPr/>
        </p:nvCxnSpPr>
        <p:spPr>
          <a:xfrm flipV="1">
            <a:off x="4983480" y="3675887"/>
            <a:ext cx="0" cy="512065"/>
          </a:xfrm>
          <a:prstGeom prst="line">
            <a:avLst/>
          </a:prstGeom>
          <a:ln w="20320">
            <a:headEnd type="triangle" w="med" len="med"/>
            <a:solidFill>
              <a:srgbClr val="B47A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47488" y="3767328"/>
            <a:ext cx="1143000" cy="274320"/>
          </a:xfrm>
          <a:prstGeom prst="rect">
            <a:avLst/>
          </a:prstGeom>
          <a:noFill/>
        </p:spPr>
        <p:txBody>
          <a:bodyPr wrap="square" anchor="t" lIns="18288" rIns="18288" tIns="0" bIns="0">
            <a:spAutoFit/>
          </a:bodyPr>
          <a:lstStyle/>
          <a:p>
            <a:pPr algn="l">
              <a:lnSpc>
                <a:spcPct val="100000"/>
              </a:lnSpc>
            </a:pPr>
            <a:r>
              <a:rPr sz="650" b="1" i="0">
                <a:solidFill>
                  <a:srgbClr val="B47A14"/>
                </a:solidFill>
                <a:latin typeface="Segoe UI"/>
              </a:rPr>
              <a:t>UART</a:t>
            </a:r>
          </a:p>
          <a:p>
            <a:pPr algn="l">
              <a:lnSpc>
                <a:spcPct val="100000"/>
              </a:lnSpc>
            </a:pPr>
            <a:r>
              <a:rPr sz="650" b="1" i="0">
                <a:solidFill>
                  <a:srgbClr val="B47A14"/>
                </a:solidFill>
                <a:latin typeface="Segoe UI"/>
              </a:rPr>
              <a:t>CAN database</a:t>
            </a:r>
          </a:p>
        </p:txBody>
      </p:sp>
      <p:cxnSp>
        <p:nvCxnSpPr>
          <p:cNvPr id="28" name="Connector 27"/>
          <p:cNvCxnSpPr/>
          <p:nvPr/>
        </p:nvCxnSpPr>
        <p:spPr>
          <a:xfrm>
            <a:off x="8778240" y="2578608"/>
            <a:ext cx="1051560" cy="0"/>
          </a:xfrm>
          <a:prstGeom prst="line">
            <a:avLst/>
          </a:prstGeom>
          <a:ln w="19050">
            <a:headEnd type="triangle" w="med" len="med"/>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02920" y="5715000"/>
            <a:ext cx="11183112" cy="731520"/>
          </a:xfrm>
          <a:prstGeom prst="roundRect">
            <a:avLst>
              <a:gd name="adj" fmla="val 12000"/>
            </a:avLst>
          </a:prstGeom>
          <a:solidFill>
            <a:srgbClr val="FBE9EA"/>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02920" y="5715000"/>
            <a:ext cx="64008" cy="73152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5815584"/>
            <a:ext cx="10725912" cy="548640"/>
          </a:xfrm>
          <a:prstGeom prst="rect">
            <a:avLst/>
          </a:prstGeom>
          <a:noFill/>
        </p:spPr>
        <p:txBody>
          <a:bodyPr wrap="square" anchor="t" lIns="0" rIns="0" tIns="0" bIns="0">
            <a:spAutoFit/>
          </a:bodyPr>
          <a:lstStyle/>
          <a:p>
            <a:pPr algn="l">
              <a:lnSpc>
                <a:spcPct val="105000"/>
              </a:lnSpc>
              <a:spcBef>
                <a:spcPts val="0"/>
              </a:spcBef>
            </a:pPr>
            <a:r>
              <a:rPr sz="1000" b="1">
                <a:solidFill>
                  <a:srgbClr val="9B2C35"/>
                </a:solidFill>
                <a:latin typeface="Segoe UI"/>
              </a:rPr>
              <a:t>KEY OBSERVATION      Every individual battery is given its own controller board, its own network stack and its own network address.</a:t>
            </a:r>
          </a:p>
          <a:p>
            <a:pPr algn="l">
              <a:lnSpc>
                <a:spcPct val="105000"/>
              </a:lnSpc>
              <a:spcBef>
                <a:spcPts val="300"/>
              </a:spcBef>
            </a:pPr>
            <a:r>
              <a:rPr sz="850" b="0">
                <a:solidFill>
                  <a:srgbClr val="334155"/>
                </a:solidFill>
                <a:latin typeface="Segoe UI"/>
              </a:rPr>
              <a:t>During a running test the Primary acts mainly as a message carrier. The complete cycle of measure, decide and act happens inside one microcontroller in about one millisecond. Fast — but it cannot scale.</a:t>
            </a:r>
          </a:p>
        </p:txBody>
      </p:sp>
      <p:sp>
        <p:nvSpPr>
          <p:cNvPr id="32" name="Rectangle 31"/>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34" name="TextBox 33"/>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02 · ARCHITECTURE — PROPOSED PLATFORM</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NEW ME as proposed: two board types, one Primary drives eight channels</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Proposal requirements. The PC application and its network protocol are preserved unchanged.</a:t>
            </a:r>
          </a:p>
        </p:txBody>
      </p:sp>
      <p:sp>
        <p:nvSpPr>
          <p:cNvPr id="7" name="Rounded Rectangle 6"/>
          <p:cNvSpPr/>
          <p:nvPr/>
        </p:nvSpPr>
        <p:spPr>
          <a:xfrm>
            <a:off x="9464040" y="1463040"/>
            <a:ext cx="2240280" cy="274320"/>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EIGHT TEST CHANNELS</a:t>
            </a:r>
          </a:p>
        </p:txBody>
      </p:sp>
      <p:sp>
        <p:nvSpPr>
          <p:cNvPr id="8" name="Rounded Rectangle 7"/>
          <p:cNvSpPr/>
          <p:nvPr/>
        </p:nvSpPr>
        <p:spPr>
          <a:xfrm>
            <a:off x="502920" y="2468880"/>
            <a:ext cx="1874519" cy="1188720"/>
          </a:xfrm>
          <a:prstGeom prst="roundRect">
            <a:avLst>
              <a:gd name="adj" fmla="val 8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000" b="1">
                <a:solidFill>
                  <a:srgbClr val="FFFFFF"/>
                </a:solidFill>
                <a:latin typeface="Segoe UI"/>
              </a:rPr>
              <a:t>PC / SERVER</a:t>
            </a:r>
          </a:p>
          <a:p>
            <a:pPr algn="ctr">
              <a:lnSpc>
                <a:spcPct val="102000"/>
              </a:lnSpc>
            </a:pPr>
            <a:r>
              <a:rPr sz="850">
                <a:solidFill>
                  <a:srgbClr val="DCE6F2"/>
                </a:solidFill>
                <a:latin typeface="Segoe UI"/>
              </a:rPr>
              <a:t>Web Application</a:t>
            </a:r>
          </a:p>
          <a:p>
            <a:pPr algn="ctr">
              <a:lnSpc>
                <a:spcPct val="102000"/>
              </a:lnSpc>
            </a:pPr>
            <a:r>
              <a:rPr sz="850">
                <a:solidFill>
                  <a:srgbClr val="DCE6F2"/>
                </a:solidFill>
                <a:latin typeface="Segoe UI"/>
              </a:rPr>
              <a:t/>
            </a:r>
          </a:p>
          <a:p>
            <a:pPr algn="ctr">
              <a:lnSpc>
                <a:spcPct val="102000"/>
              </a:lnSpc>
            </a:pPr>
            <a:r>
              <a:rPr sz="850">
                <a:solidFill>
                  <a:srgbClr val="DCE6F2"/>
                </a:solidFill>
                <a:latin typeface="Segoe UI"/>
              </a:rPr>
              <a:t>Interface UNCHANGED</a:t>
            </a:r>
          </a:p>
        </p:txBody>
      </p:sp>
      <p:sp>
        <p:nvSpPr>
          <p:cNvPr id="9" name="TextBox 8"/>
          <p:cNvSpPr txBox="1"/>
          <p:nvPr/>
        </p:nvSpPr>
        <p:spPr>
          <a:xfrm>
            <a:off x="502920" y="3721608"/>
            <a:ext cx="1874519" cy="502920"/>
          </a:xfrm>
          <a:prstGeom prst="rect">
            <a:avLst/>
          </a:prstGeom>
          <a:noFill/>
        </p:spPr>
        <p:txBody>
          <a:bodyPr wrap="square" anchor="t" lIns="0" rIns="0" tIns="0" bIns="0">
            <a:spAutoFit/>
          </a:bodyPr>
          <a:lstStyle/>
          <a:p>
            <a:pPr algn="l">
              <a:lnSpc>
                <a:spcPct val="105000"/>
              </a:lnSpc>
              <a:spcBef>
                <a:spcPts val="0"/>
              </a:spcBef>
            </a:pPr>
            <a:r>
              <a:rPr sz="750" b="1">
                <a:solidFill>
                  <a:srgbClr val="334155"/>
                </a:solidFill>
                <a:latin typeface="Segoe UI"/>
              </a:rPr>
              <a:t>→   programme download</a:t>
            </a:r>
          </a:p>
          <a:p>
            <a:pPr algn="l">
              <a:lnSpc>
                <a:spcPct val="105000"/>
              </a:lnSpc>
              <a:spcBef>
                <a:spcPts val="200"/>
              </a:spcBef>
            </a:pPr>
            <a:r>
              <a:rPr sz="750" b="1">
                <a:solidFill>
                  <a:srgbClr val="0A6E6A"/>
                </a:solidFill>
                <a:latin typeface="Segoe UI"/>
              </a:rPr>
              <a:t>←   live and session data</a:t>
            </a:r>
          </a:p>
        </p:txBody>
      </p:sp>
      <p:sp>
        <p:nvSpPr>
          <p:cNvPr id="10" name="Rounded Rectangle 9"/>
          <p:cNvSpPr/>
          <p:nvPr/>
        </p:nvSpPr>
        <p:spPr>
          <a:xfrm>
            <a:off x="2697480" y="1417320"/>
            <a:ext cx="6583680" cy="4160520"/>
          </a:xfrm>
          <a:prstGeom prst="roundRect">
            <a:avLst>
              <a:gd name="adj" fmla="val 3000"/>
            </a:avLst>
          </a:prstGeom>
          <a:solidFill>
            <a:srgbClr val="E8EFEB"/>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880360" y="1481328"/>
            <a:ext cx="4114800" cy="201168"/>
          </a:xfrm>
          <a:prstGeom prst="rect">
            <a:avLst/>
          </a:prstGeom>
          <a:noFill/>
        </p:spPr>
        <p:txBody>
          <a:bodyPr wrap="square" anchor="t" lIns="18288" rIns="18288" tIns="0" bIns="0">
            <a:spAutoFit/>
          </a:bodyPr>
          <a:lstStyle/>
          <a:p>
            <a:pPr algn="l">
              <a:lnSpc>
                <a:spcPct val="100000"/>
              </a:lnSpc>
            </a:pPr>
            <a:r>
              <a:rPr sz="800" b="1" i="0">
                <a:solidFill>
                  <a:srgbClr val="64748B"/>
                </a:solidFill>
                <a:latin typeface="Segoe UI"/>
              </a:rPr>
              <a:t>TEST BENCH HARDWARE</a:t>
            </a:r>
          </a:p>
        </p:txBody>
      </p:sp>
      <p:sp>
        <p:nvSpPr>
          <p:cNvPr id="12" name="Rounded Rectangle 11"/>
          <p:cNvSpPr/>
          <p:nvPr/>
        </p:nvSpPr>
        <p:spPr>
          <a:xfrm>
            <a:off x="2880360" y="1828800"/>
            <a:ext cx="2331720" cy="356616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50" b="1">
                <a:solidFill>
                  <a:srgbClr val="FFFFFF"/>
                </a:solidFill>
                <a:latin typeface="Segoe UI"/>
              </a:rPr>
              <a:t>PRIMARY
TEST ENGINE</a:t>
            </a:r>
          </a:p>
          <a:p>
            <a:pPr algn="ctr">
              <a:lnSpc>
                <a:spcPct val="102000"/>
              </a:lnSpc>
            </a:pPr>
            <a:r>
              <a:rPr sz="850">
                <a:solidFill>
                  <a:srgbClr val="DCE6F2"/>
                </a:solidFill>
                <a:latin typeface="Segoe UI"/>
              </a:rPr>
              <a:t>───────────</a:t>
            </a:r>
          </a:p>
          <a:p>
            <a:pPr algn="ctr">
              <a:lnSpc>
                <a:spcPct val="102000"/>
              </a:lnSpc>
            </a:pPr>
            <a:r>
              <a:rPr sz="850">
                <a:solidFill>
                  <a:srgbClr val="DCE6F2"/>
                </a:solidFill>
                <a:latin typeface="Segoe UI"/>
              </a:rPr>
              <a:t>• Network communication</a:t>
            </a:r>
          </a:p>
          <a:p>
            <a:pPr algn="ctr">
              <a:lnSpc>
                <a:spcPct val="102000"/>
              </a:lnSpc>
            </a:pPr>
            <a:r>
              <a:rPr sz="850">
                <a:solidFill>
                  <a:srgbClr val="DCE6F2"/>
                </a:solidFill>
                <a:latin typeface="Segoe UI"/>
              </a:rPr>
              <a:t>• Non-volatile memory</a:t>
            </a:r>
          </a:p>
          <a:p>
            <a:pPr algn="ctr">
              <a:lnSpc>
                <a:spcPct val="102000"/>
              </a:lnSpc>
            </a:pPr>
            <a:r>
              <a:rPr sz="850">
                <a:solidFill>
                  <a:srgbClr val="DCE6F2"/>
                </a:solidFill>
                <a:latin typeface="Segoe UI"/>
              </a:rPr>
              <a:t>• Stores EIGHT programmes</a:t>
            </a:r>
          </a:p>
          <a:p>
            <a:pPr algn="ctr">
              <a:lnSpc>
                <a:spcPct val="102000"/>
              </a:lnSpc>
            </a:pPr>
            <a:r>
              <a:rPr sz="850">
                <a:solidFill>
                  <a:srgbClr val="DCE6F2"/>
                </a:solidFill>
                <a:latin typeface="Segoe UI"/>
              </a:rPr>
              <a:t>• INTERPRETS every step</a:t>
            </a:r>
          </a:p>
          <a:p>
            <a:pPr algn="ctr">
              <a:lnSpc>
                <a:spcPct val="102000"/>
              </a:lnSpc>
            </a:pPr>
            <a:r>
              <a:rPr sz="850">
                <a:solidFill>
                  <a:srgbClr val="DCE6F2"/>
                </a:solidFill>
                <a:latin typeface="Segoe UI"/>
              </a:rPr>
              <a:t>• EXECUTES the sequence</a:t>
            </a:r>
          </a:p>
          <a:p>
            <a:pPr algn="ctr">
              <a:lnSpc>
                <a:spcPct val="102000"/>
              </a:lnSpc>
            </a:pPr>
            <a:r>
              <a:rPr sz="850">
                <a:solidFill>
                  <a:srgbClr val="DCE6F2"/>
                </a:solidFill>
                <a:latin typeface="Segoe UI"/>
              </a:rPr>
              <a:t>• MONITORS all cutoffs</a:t>
            </a:r>
          </a:p>
          <a:p>
            <a:pPr algn="ctr">
              <a:lnSpc>
                <a:spcPct val="102000"/>
              </a:lnSpc>
            </a:pPr>
            <a:r>
              <a:rPr sz="850">
                <a:solidFill>
                  <a:srgbClr val="DCE6F2"/>
                </a:solidFill>
                <a:latin typeface="Segoe UI"/>
              </a:rPr>
              <a:t>• Controls the recording rate</a:t>
            </a:r>
          </a:p>
          <a:p>
            <a:pPr algn="ctr">
              <a:lnSpc>
                <a:spcPct val="102000"/>
              </a:lnSpc>
            </a:pPr>
            <a:r>
              <a:rPr sz="850">
                <a:solidFill>
                  <a:srgbClr val="DCE6F2"/>
                </a:solidFill>
                <a:latin typeface="Segoe UI"/>
              </a:rPr>
              <a:t>• Bus master</a:t>
            </a:r>
          </a:p>
          <a:p>
            <a:pPr algn="ctr">
              <a:lnSpc>
                <a:spcPct val="102000"/>
              </a:lnSpc>
            </a:pPr>
            <a:r>
              <a:rPr sz="850">
                <a:solidFill>
                  <a:srgbClr val="DCE6F2"/>
                </a:solidFill>
                <a:latin typeface="Segoe UI"/>
              </a:rPr>
              <a:t>───────────</a:t>
            </a:r>
          </a:p>
          <a:p>
            <a:pPr algn="ctr">
              <a:lnSpc>
                <a:spcPct val="102000"/>
              </a:lnSpc>
            </a:pPr>
            <a:r>
              <a:rPr sz="850">
                <a:solidFill>
                  <a:srgbClr val="DCE6F2"/>
                </a:solidFill>
                <a:latin typeface="Segoe UI"/>
              </a:rPr>
              <a:t>All test logic lives here</a:t>
            </a:r>
          </a:p>
        </p:txBody>
      </p:sp>
      <p:sp>
        <p:nvSpPr>
          <p:cNvPr id="13" name="Rectangle 12"/>
          <p:cNvSpPr/>
          <p:nvPr/>
        </p:nvSpPr>
        <p:spPr>
          <a:xfrm>
            <a:off x="6217920" y="1874519"/>
            <a:ext cx="91440" cy="3474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77840" y="1517904"/>
            <a:ext cx="1371600" cy="274320"/>
          </a:xfrm>
          <a:prstGeom prst="rect">
            <a:avLst/>
          </a:prstGeom>
          <a:noFill/>
        </p:spPr>
        <p:txBody>
          <a:bodyPr wrap="square" anchor="t" lIns="18288" rIns="18288" tIns="0" bIns="0">
            <a:spAutoFit/>
          </a:bodyPr>
          <a:lstStyle/>
          <a:p>
            <a:pPr algn="ctr">
              <a:lnSpc>
                <a:spcPct val="100000"/>
              </a:lnSpc>
            </a:pPr>
            <a:r>
              <a:rPr sz="850" b="1" i="0">
                <a:solidFill>
                  <a:srgbClr val="0A6E6A"/>
                </a:solidFill>
                <a:latin typeface="Segoe UI"/>
              </a:rPr>
              <a:t>SHARED CAN BUS</a:t>
            </a:r>
          </a:p>
        </p:txBody>
      </p:sp>
      <p:cxnSp>
        <p:nvCxnSpPr>
          <p:cNvPr id="15" name="Connector 14"/>
          <p:cNvCxnSpPr/>
          <p:nvPr/>
        </p:nvCxnSpPr>
        <p:spPr>
          <a:xfrm>
            <a:off x="5212080" y="2788920"/>
            <a:ext cx="1005840" cy="0"/>
          </a:xfrm>
          <a:prstGeom prst="line">
            <a:avLst/>
          </a:prstGeom>
          <a:ln w="27940">
            <a:solidFill>
              <a:srgbClr val="2E54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257800" y="2386584"/>
            <a:ext cx="914400" cy="370332"/>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650" b="1">
                <a:solidFill>
                  <a:srgbClr val="2E5482"/>
                </a:solidFill>
                <a:latin typeface="Segoe UI"/>
              </a:rPr>
              <a:t>targets down</a:t>
            </a:r>
          </a:p>
          <a:p>
            <a:pPr algn="ctr"/>
            <a:r>
              <a:rPr sz="650" b="1">
                <a:solidFill>
                  <a:srgbClr val="2E5482"/>
                </a:solidFill>
                <a:latin typeface="Segoe UI"/>
              </a:rPr>
              <a:t>current · voltage</a:t>
            </a:r>
          </a:p>
        </p:txBody>
      </p:sp>
      <p:cxnSp>
        <p:nvCxnSpPr>
          <p:cNvPr id="17" name="Connector 16"/>
          <p:cNvCxnSpPr/>
          <p:nvPr/>
        </p:nvCxnSpPr>
        <p:spPr>
          <a:xfrm flipH="1">
            <a:off x="5212080" y="4251960"/>
            <a:ext cx="1005840" cy="0"/>
          </a:xfrm>
          <a:prstGeom prst="line">
            <a:avLst/>
          </a:prstGeom>
          <a:ln w="27940">
            <a:solidFill>
              <a:srgbClr val="246B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57800" y="4315968"/>
            <a:ext cx="914400" cy="370332"/>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650" b="1">
                <a:solidFill>
                  <a:srgbClr val="246B4D"/>
                </a:solidFill>
                <a:latin typeface="Segoe UI"/>
              </a:rPr>
              <a:t>measurements up</a:t>
            </a:r>
          </a:p>
          <a:p>
            <a:pPr algn="ctr"/>
            <a:r>
              <a:rPr sz="650" b="1">
                <a:solidFill>
                  <a:srgbClr val="246B4D"/>
                </a:solidFill>
                <a:latin typeface="Segoe UI"/>
              </a:rPr>
              <a:t>current · voltage</a:t>
            </a:r>
          </a:p>
        </p:txBody>
      </p:sp>
      <p:sp>
        <p:nvSpPr>
          <p:cNvPr id="19" name="Rectangle 18"/>
          <p:cNvSpPr/>
          <p:nvPr/>
        </p:nvSpPr>
        <p:spPr>
          <a:xfrm>
            <a:off x="6309360" y="2093976"/>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0" y="1920240"/>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1  ·  node 1</a:t>
            </a:r>
          </a:p>
        </p:txBody>
      </p:sp>
      <p:sp>
        <p:nvSpPr>
          <p:cNvPr id="21" name="Rectangle 20"/>
          <p:cNvSpPr/>
          <p:nvPr/>
        </p:nvSpPr>
        <p:spPr>
          <a:xfrm>
            <a:off x="8092440" y="2093976"/>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229600" y="1920240"/>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23" name="Rectangle 22"/>
          <p:cNvSpPr/>
          <p:nvPr/>
        </p:nvSpPr>
        <p:spPr>
          <a:xfrm>
            <a:off x="6309360" y="2523744"/>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400800" y="2350008"/>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2  ·  node 2</a:t>
            </a:r>
          </a:p>
        </p:txBody>
      </p:sp>
      <p:sp>
        <p:nvSpPr>
          <p:cNvPr id="25" name="Rectangle 24"/>
          <p:cNvSpPr/>
          <p:nvPr/>
        </p:nvSpPr>
        <p:spPr>
          <a:xfrm>
            <a:off x="8092440" y="2523744"/>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8229600" y="2350008"/>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27" name="Rectangle 26"/>
          <p:cNvSpPr/>
          <p:nvPr/>
        </p:nvSpPr>
        <p:spPr>
          <a:xfrm>
            <a:off x="6309360" y="2953512"/>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400800" y="2779776"/>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3  ·  node 3</a:t>
            </a:r>
          </a:p>
        </p:txBody>
      </p:sp>
      <p:sp>
        <p:nvSpPr>
          <p:cNvPr id="29" name="Rectangle 28"/>
          <p:cNvSpPr/>
          <p:nvPr/>
        </p:nvSpPr>
        <p:spPr>
          <a:xfrm>
            <a:off x="8092440" y="2953512"/>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229600" y="2779776"/>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31" name="Rectangle 30"/>
          <p:cNvSpPr/>
          <p:nvPr/>
        </p:nvSpPr>
        <p:spPr>
          <a:xfrm>
            <a:off x="6309360" y="3383279"/>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400800" y="3209544"/>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4  ·  node 4</a:t>
            </a:r>
          </a:p>
        </p:txBody>
      </p:sp>
      <p:sp>
        <p:nvSpPr>
          <p:cNvPr id="33" name="Rectangle 32"/>
          <p:cNvSpPr/>
          <p:nvPr/>
        </p:nvSpPr>
        <p:spPr>
          <a:xfrm>
            <a:off x="8092440" y="3383279"/>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8229600" y="3209544"/>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35" name="Rectangle 34"/>
          <p:cNvSpPr/>
          <p:nvPr/>
        </p:nvSpPr>
        <p:spPr>
          <a:xfrm>
            <a:off x="6309360" y="3813048"/>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400800" y="3639312"/>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5  ·  node 5</a:t>
            </a:r>
          </a:p>
        </p:txBody>
      </p:sp>
      <p:sp>
        <p:nvSpPr>
          <p:cNvPr id="37" name="Rectangle 36"/>
          <p:cNvSpPr/>
          <p:nvPr/>
        </p:nvSpPr>
        <p:spPr>
          <a:xfrm>
            <a:off x="8092440" y="3813048"/>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8229600" y="3639312"/>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39" name="Rectangle 38"/>
          <p:cNvSpPr/>
          <p:nvPr/>
        </p:nvSpPr>
        <p:spPr>
          <a:xfrm>
            <a:off x="6309360" y="4242816"/>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6400800" y="4069079"/>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6  ·  node 6</a:t>
            </a:r>
          </a:p>
        </p:txBody>
      </p:sp>
      <p:sp>
        <p:nvSpPr>
          <p:cNvPr id="41" name="Rectangle 40"/>
          <p:cNvSpPr/>
          <p:nvPr/>
        </p:nvSpPr>
        <p:spPr>
          <a:xfrm>
            <a:off x="8092440" y="4242816"/>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8229600" y="4069079"/>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43" name="Rectangle 42"/>
          <p:cNvSpPr/>
          <p:nvPr/>
        </p:nvSpPr>
        <p:spPr>
          <a:xfrm>
            <a:off x="6309360" y="4672584"/>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6400800" y="4498848"/>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7  ·  node 7</a:t>
            </a:r>
          </a:p>
        </p:txBody>
      </p:sp>
      <p:sp>
        <p:nvSpPr>
          <p:cNvPr id="45" name="Rectangle 44"/>
          <p:cNvSpPr/>
          <p:nvPr/>
        </p:nvSpPr>
        <p:spPr>
          <a:xfrm>
            <a:off x="8092440" y="4672584"/>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8229600" y="4498848"/>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47" name="Rectangle 46"/>
          <p:cNvSpPr/>
          <p:nvPr/>
        </p:nvSpPr>
        <p:spPr>
          <a:xfrm>
            <a:off x="6309360" y="5102352"/>
            <a:ext cx="91440" cy="1828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6400800" y="4928616"/>
            <a:ext cx="1691640" cy="347472"/>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50" b="1">
                <a:solidFill>
                  <a:srgbClr val="FFFFFF"/>
                </a:solidFill>
                <a:latin typeface="Segoe UI"/>
              </a:rPr>
              <a:t>SECONDARY 8  ·  node 8</a:t>
            </a:r>
          </a:p>
        </p:txBody>
      </p:sp>
      <p:sp>
        <p:nvSpPr>
          <p:cNvPr id="49" name="Rectangle 48"/>
          <p:cNvSpPr/>
          <p:nvPr/>
        </p:nvSpPr>
        <p:spPr>
          <a:xfrm>
            <a:off x="8092440" y="5102352"/>
            <a:ext cx="137160" cy="1828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8229600" y="4928616"/>
            <a:ext cx="822960" cy="347472"/>
          </a:xfrm>
          <a:prstGeom prst="roundRect">
            <a:avLst>
              <a:gd name="adj" fmla="val 8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Battery</a:t>
            </a:r>
          </a:p>
        </p:txBody>
      </p:sp>
      <p:sp>
        <p:nvSpPr>
          <p:cNvPr id="51" name="Rounded Rectangle 50"/>
          <p:cNvSpPr/>
          <p:nvPr/>
        </p:nvSpPr>
        <p:spPr>
          <a:xfrm>
            <a:off x="9464040" y="1828800"/>
            <a:ext cx="2240280" cy="3566160"/>
          </a:xfrm>
          <a:prstGeom prst="roundRect">
            <a:avLst>
              <a:gd name="adj" fmla="val 5000"/>
            </a:avLst>
          </a:prstGeom>
          <a:solidFill>
            <a:srgbClr val="E6F2EB"/>
          </a:solidFill>
          <a:ln w="9525">
            <a:solidFill>
              <a:srgbClr val="246B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601200" y="1993392"/>
            <a:ext cx="1965960" cy="3291840"/>
          </a:xfrm>
          <a:prstGeom prst="rect">
            <a:avLst/>
          </a:prstGeom>
          <a:noFill/>
        </p:spPr>
        <p:txBody>
          <a:bodyPr wrap="square" anchor="t" lIns="0" rIns="0" tIns="0" bIns="0">
            <a:spAutoFit/>
          </a:bodyPr>
          <a:lstStyle/>
          <a:p>
            <a:pPr algn="ctr">
              <a:lnSpc>
                <a:spcPct val="105000"/>
              </a:lnSpc>
              <a:spcBef>
                <a:spcPts val="0"/>
              </a:spcBef>
            </a:pPr>
            <a:r>
              <a:rPr sz="1000" b="1">
                <a:solidFill>
                  <a:srgbClr val="246B4D"/>
                </a:solidFill>
                <a:latin typeface="Segoe UI"/>
              </a:rPr>
              <a:t>SECONDARY</a:t>
            </a:r>
          </a:p>
          <a:p>
            <a:pPr algn="ctr">
              <a:lnSpc>
                <a:spcPct val="105000"/>
              </a:lnSpc>
              <a:spcBef>
                <a:spcPts val="100"/>
              </a:spcBef>
            </a:pPr>
            <a:r>
              <a:rPr sz="850" b="0">
                <a:solidFill>
                  <a:srgbClr val="64748B"/>
                </a:solidFill>
                <a:latin typeface="Segoe UI"/>
              </a:rPr>
              <a:t>becomes</a:t>
            </a:r>
          </a:p>
          <a:p>
            <a:pPr algn="ctr">
              <a:lnSpc>
                <a:spcPct val="105000"/>
              </a:lnSpc>
              <a:spcBef>
                <a:spcPts val="300"/>
              </a:spcBef>
            </a:pPr>
            <a:r>
              <a:rPr sz="1300" b="1">
                <a:solidFill>
                  <a:srgbClr val="246B4D"/>
                </a:solidFill>
                <a:latin typeface="Segoe UI"/>
              </a:rPr>
              <a:t>MUSCLE ONLY</a:t>
            </a:r>
          </a:p>
          <a:p>
            <a:pPr algn="ctr">
              <a:lnSpc>
                <a:spcPct val="105000"/>
              </a:lnSpc>
              <a:spcBef>
                <a:spcPts val="700"/>
              </a:spcBef>
            </a:pPr>
            <a:r>
              <a:rPr sz="700" b="0">
                <a:solidFill>
                  <a:srgbClr val="FFFFFF"/>
                </a:solidFill>
                <a:latin typeface="Segoe UI"/>
              </a:rPr>
              <a:t/>
            </a:r>
          </a:p>
          <a:p>
            <a:pPr algn="ctr">
              <a:lnSpc>
                <a:spcPct val="105000"/>
              </a:lnSpc>
              <a:spcBef>
                <a:spcPts val="0"/>
              </a:spcBef>
            </a:pPr>
            <a:r>
              <a:rPr sz="900" b="0">
                <a:solidFill>
                  <a:srgbClr val="334155"/>
                </a:solidFill>
                <a:latin typeface="Segoe UI"/>
              </a:rPr>
              <a:t>Receive a target.</a:t>
            </a:r>
          </a:p>
          <a:p>
            <a:pPr algn="ctr">
              <a:lnSpc>
                <a:spcPct val="105000"/>
              </a:lnSpc>
              <a:spcBef>
                <a:spcPts val="200"/>
              </a:spcBef>
            </a:pPr>
            <a:r>
              <a:rPr sz="900" b="0">
                <a:solidFill>
                  <a:srgbClr val="334155"/>
                </a:solidFill>
                <a:latin typeface="Segoe UI"/>
              </a:rPr>
              <a:t>Regulate to it.</a:t>
            </a:r>
          </a:p>
          <a:p>
            <a:pPr algn="ctr">
              <a:lnSpc>
                <a:spcPct val="105000"/>
              </a:lnSpc>
              <a:spcBef>
                <a:spcPts val="200"/>
              </a:spcBef>
            </a:pPr>
            <a:r>
              <a:rPr sz="900" b="0">
                <a:solidFill>
                  <a:srgbClr val="334155"/>
                </a:solidFill>
                <a:latin typeface="Segoe UI"/>
              </a:rPr>
              <a:t>Report what is measured.</a:t>
            </a:r>
          </a:p>
          <a:p>
            <a:pPr algn="ctr">
              <a:lnSpc>
                <a:spcPct val="105000"/>
              </a:lnSpc>
              <a:spcBef>
                <a:spcPts val="900"/>
              </a:spcBef>
            </a:pPr>
            <a:r>
              <a:rPr sz="700" b="0">
                <a:solidFill>
                  <a:srgbClr val="FFFFFF"/>
                </a:solidFill>
                <a:latin typeface="Segoe UI"/>
              </a:rPr>
              <a:t/>
            </a:r>
          </a:p>
          <a:p>
            <a:pPr algn="ctr">
              <a:lnSpc>
                <a:spcPct val="105000"/>
              </a:lnSpc>
              <a:spcBef>
                <a:spcPts val="0"/>
              </a:spcBef>
            </a:pPr>
            <a:r>
              <a:rPr sz="900" b="1">
                <a:solidFill>
                  <a:srgbClr val="334155"/>
                </a:solidFill>
                <a:latin typeface="Segoe UI"/>
              </a:rPr>
              <a:t>No step interpretation.</a:t>
            </a:r>
          </a:p>
          <a:p>
            <a:pPr algn="ctr">
              <a:lnSpc>
                <a:spcPct val="105000"/>
              </a:lnSpc>
              <a:spcBef>
                <a:spcPts val="200"/>
              </a:spcBef>
            </a:pPr>
            <a:r>
              <a:rPr sz="900" b="1">
                <a:solidFill>
                  <a:srgbClr val="334155"/>
                </a:solidFill>
                <a:latin typeface="Segoe UI"/>
              </a:rPr>
              <a:t>No test-logic cutoffs.</a:t>
            </a:r>
          </a:p>
          <a:p>
            <a:pPr algn="ctr">
              <a:lnSpc>
                <a:spcPct val="105000"/>
              </a:lnSpc>
              <a:spcBef>
                <a:spcPts val="200"/>
              </a:spcBef>
            </a:pPr>
            <a:r>
              <a:rPr sz="900" b="1">
                <a:solidFill>
                  <a:srgbClr val="334155"/>
                </a:solidFill>
                <a:latin typeface="Segoe UI"/>
              </a:rPr>
              <a:t>No cycle engine.</a:t>
            </a:r>
          </a:p>
          <a:p>
            <a:pPr algn="ctr">
              <a:lnSpc>
                <a:spcPct val="105000"/>
              </a:lnSpc>
              <a:spcBef>
                <a:spcPts val="900"/>
              </a:spcBef>
            </a:pPr>
            <a:r>
              <a:rPr sz="700" b="0">
                <a:solidFill>
                  <a:srgbClr val="FFFFFF"/>
                </a:solidFill>
                <a:latin typeface="Segoe UI"/>
              </a:rPr>
              <a:t/>
            </a:r>
          </a:p>
          <a:p>
            <a:pPr algn="ctr">
              <a:lnSpc>
                <a:spcPct val="105000"/>
              </a:lnSpc>
              <a:spcBef>
                <a:spcPts val="0"/>
              </a:spcBef>
            </a:pPr>
            <a:r>
              <a:rPr sz="900" b="1">
                <a:solidFill>
                  <a:srgbClr val="9B2C35"/>
                </a:solidFill>
                <a:latin typeface="Segoe UI"/>
              </a:rPr>
              <a:t>But it KEEPS its own</a:t>
            </a:r>
          </a:p>
          <a:p>
            <a:pPr algn="ctr">
              <a:lnSpc>
                <a:spcPct val="105000"/>
              </a:lnSpc>
              <a:spcBef>
                <a:spcPts val="0"/>
              </a:spcBef>
            </a:pPr>
            <a:r>
              <a:rPr sz="900" b="1">
                <a:solidFill>
                  <a:srgbClr val="9B2C35"/>
                </a:solidFill>
                <a:latin typeface="Segoe UI"/>
              </a:rPr>
              <a:t>protection limits.</a:t>
            </a:r>
          </a:p>
        </p:txBody>
      </p:sp>
      <p:cxnSp>
        <p:nvCxnSpPr>
          <p:cNvPr id="53" name="Connector 52"/>
          <p:cNvCxnSpPr/>
          <p:nvPr/>
        </p:nvCxnSpPr>
        <p:spPr>
          <a:xfrm>
            <a:off x="2377440" y="2788920"/>
            <a:ext cx="502920" cy="0"/>
          </a:xfrm>
          <a:prstGeom prst="line">
            <a:avLst/>
          </a:prstGeom>
          <a:ln w="22225">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2377440" y="3337560"/>
            <a:ext cx="502920" cy="0"/>
          </a:xfrm>
          <a:prstGeom prst="line">
            <a:avLst/>
          </a:prstGeom>
          <a:ln w="22225">
            <a:solidFill>
              <a:srgbClr val="0A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02920" y="5715000"/>
            <a:ext cx="11183112" cy="731520"/>
          </a:xfrm>
          <a:prstGeom prst="roundRect">
            <a:avLst>
              <a:gd name="adj" fmla="val 12000"/>
            </a:avLst>
          </a:prstGeom>
          <a:solidFill>
            <a:srgbClr val="E6F2EB"/>
          </a:solidFill>
          <a:ln w="9525">
            <a:solidFill>
              <a:srgbClr val="2E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502920" y="5715000"/>
            <a:ext cx="64008" cy="731520"/>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49808" y="5815584"/>
            <a:ext cx="10725912" cy="548640"/>
          </a:xfrm>
          <a:prstGeom prst="rect">
            <a:avLst/>
          </a:prstGeom>
          <a:noFill/>
        </p:spPr>
        <p:txBody>
          <a:bodyPr wrap="square" anchor="t" lIns="0" rIns="0" tIns="0" bIns="0">
            <a:spAutoFit/>
          </a:bodyPr>
          <a:lstStyle/>
          <a:p>
            <a:pPr algn="l">
              <a:lnSpc>
                <a:spcPct val="105000"/>
              </a:lnSpc>
              <a:spcBef>
                <a:spcPts val="0"/>
              </a:spcBef>
            </a:pPr>
            <a:r>
              <a:rPr sz="1000" b="1">
                <a:solidFill>
                  <a:srgbClr val="2E6F4F"/>
                </a:solidFill>
                <a:latin typeface="Segoe UI"/>
              </a:rPr>
              <a:t>KEY OBSERVATION      One controller, one network address and one programme store now serve eight batteries.</a:t>
            </a:r>
          </a:p>
          <a:p>
            <a:pPr algn="l">
              <a:lnSpc>
                <a:spcPct val="105000"/>
              </a:lnSpc>
              <a:spcBef>
                <a:spcPts val="300"/>
              </a:spcBef>
            </a:pPr>
            <a:r>
              <a:rPr sz="850" b="0">
                <a:solidFill>
                  <a:srgbClr val="334155"/>
                </a:solidFill>
                <a:latin typeface="Segoe UI"/>
              </a:rPr>
              <a:t>The saving is entirely in the controller and network layer, which is precisely where the current design is over-provisioned. The power stage count does not change — one is inherently required per battery.</a:t>
            </a:r>
          </a:p>
        </p:txBody>
      </p:sp>
      <p:sp>
        <p:nvSpPr>
          <p:cNvPr id="58" name="Rectangle 57"/>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60" name="TextBox 59"/>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02 · THE CORE SHIFT</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Where the intelligence sits — the single most important difference</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This one change drives almost every benefit and every risk in the ME proposal.</a:t>
            </a:r>
          </a:p>
        </p:txBody>
      </p:sp>
      <p:sp>
        <p:nvSpPr>
          <p:cNvPr id="7" name="Rounded Rectangle 6"/>
          <p:cNvSpPr/>
          <p:nvPr/>
        </p:nvSpPr>
        <p:spPr>
          <a:xfrm>
            <a:off x="502920" y="1234440"/>
            <a:ext cx="5486400" cy="4251960"/>
          </a:xfrm>
          <a:prstGeom prst="roundRect">
            <a:avLst>
              <a:gd name="adj" fmla="val 4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02920" y="1234440"/>
            <a:ext cx="5486400" cy="384048"/>
          </a:xfrm>
          <a:prstGeom prst="roundRect">
            <a:avLst>
              <a:gd name="adj" fmla="val 14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307592"/>
            <a:ext cx="5120640" cy="256032"/>
          </a:xfrm>
          <a:prstGeom prst="rect">
            <a:avLst/>
          </a:prstGeom>
          <a:noFill/>
        </p:spPr>
        <p:txBody>
          <a:bodyPr wrap="square" anchor="t" lIns="18288" rIns="18288" tIns="0" bIns="0">
            <a:spAutoFit/>
          </a:bodyPr>
          <a:lstStyle/>
          <a:p>
            <a:pPr algn="l">
              <a:lnSpc>
                <a:spcPct val="100000"/>
              </a:lnSpc>
            </a:pPr>
            <a:r>
              <a:rPr sz="1050" b="1" i="0">
                <a:solidFill>
                  <a:srgbClr val="FFFFFF"/>
                </a:solidFill>
                <a:latin typeface="Segoe UI"/>
              </a:rPr>
              <a:t>OLD BTS  —  DISTRIBUTED INTELLIGENCE</a:t>
            </a:r>
          </a:p>
        </p:txBody>
      </p:sp>
      <p:sp>
        <p:nvSpPr>
          <p:cNvPr id="10" name="Rounded Rectangle 9"/>
          <p:cNvSpPr/>
          <p:nvPr/>
        </p:nvSpPr>
        <p:spPr>
          <a:xfrm>
            <a:off x="822960" y="1828800"/>
            <a:ext cx="4846320" cy="105156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FFFFFF"/>
                </a:solidFill>
                <a:latin typeface="Segoe UI"/>
              </a:rPr>
              <a:t>PRIMARY  =  A RELAY</a:t>
            </a:r>
          </a:p>
          <a:p>
            <a:pPr algn="ctr">
              <a:lnSpc>
                <a:spcPct val="102000"/>
              </a:lnSpc>
            </a:pPr>
            <a:r>
              <a:rPr sz="850">
                <a:solidFill>
                  <a:srgbClr val="FBF2DF"/>
                </a:solidFill>
                <a:latin typeface="Segoe UI"/>
              </a:rPr>
              <a:t>Stores the programme. Hands out one step at a time.</a:t>
            </a:r>
          </a:p>
          <a:p>
            <a:pPr algn="ctr">
              <a:lnSpc>
                <a:spcPct val="102000"/>
              </a:lnSpc>
            </a:pPr>
            <a:r>
              <a:rPr sz="850">
                <a:solidFill>
                  <a:srgbClr val="FBF2DF"/>
                </a:solidFill>
                <a:latin typeface="Segoe UI"/>
              </a:rPr>
              <a:t>Forwards measurements upward.</a:t>
            </a:r>
          </a:p>
          <a:p>
            <a:pPr algn="ctr">
              <a:lnSpc>
                <a:spcPct val="102000"/>
              </a:lnSpc>
            </a:pPr>
            <a:r>
              <a:rPr sz="850">
                <a:solidFill>
                  <a:srgbClr val="FBF2DF"/>
                </a:solidFill>
                <a:latin typeface="Segoe UI"/>
              </a:rPr>
              <a:t>It does not interpret the test.</a:t>
            </a:r>
          </a:p>
        </p:txBody>
      </p:sp>
      <p:cxnSp>
        <p:nvCxnSpPr>
          <p:cNvPr id="11" name="Connector 10"/>
          <p:cNvCxnSpPr/>
          <p:nvPr/>
        </p:nvCxnSpPr>
        <p:spPr>
          <a:xfrm>
            <a:off x="3246120" y="2880360"/>
            <a:ext cx="0" cy="365760"/>
          </a:xfrm>
          <a:prstGeom prst="line">
            <a:avLst/>
          </a:prstGeom>
          <a:ln w="25400">
            <a:solidFill>
              <a:srgbClr val="3341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10128" y="2926080"/>
            <a:ext cx="2103120" cy="274320"/>
          </a:xfrm>
          <a:prstGeom prst="rect">
            <a:avLst/>
          </a:prstGeom>
          <a:noFill/>
        </p:spPr>
        <p:txBody>
          <a:bodyPr wrap="square" anchor="t" lIns="18288" rIns="18288" tIns="0" bIns="0">
            <a:spAutoFit/>
          </a:bodyPr>
          <a:lstStyle/>
          <a:p>
            <a:pPr algn="l">
              <a:lnSpc>
                <a:spcPct val="100000"/>
              </a:lnSpc>
            </a:pPr>
            <a:r>
              <a:rPr sz="750" b="1" i="0">
                <a:solidFill>
                  <a:srgbClr val="334155"/>
                </a:solidFill>
                <a:latin typeface="Segoe UI"/>
              </a:rPr>
              <a:t>one step at a time</a:t>
            </a:r>
          </a:p>
        </p:txBody>
      </p:sp>
      <p:sp>
        <p:nvSpPr>
          <p:cNvPr id="13" name="Rounded Rectangle 12"/>
          <p:cNvSpPr/>
          <p:nvPr/>
        </p:nvSpPr>
        <p:spPr>
          <a:xfrm>
            <a:off x="822960" y="3246120"/>
            <a:ext cx="4846320" cy="182880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FFFFFF"/>
                </a:solidFill>
                <a:latin typeface="Segoe UI"/>
              </a:rPr>
              <a:t>SECONDARY  =  BRAIN  AND  MUSCLE</a:t>
            </a:r>
          </a:p>
          <a:p>
            <a:pPr algn="ctr">
              <a:lnSpc>
                <a:spcPct val="102000"/>
              </a:lnSpc>
            </a:pPr>
            <a:r>
              <a:rPr sz="850">
                <a:solidFill>
                  <a:srgbClr val="F6DFE2"/>
                </a:solidFill>
                <a:latin typeface="Segoe UI"/>
              </a:rPr>
              <a:t>Interprets steps  ·  Evaluates cutoffs</a:t>
            </a:r>
          </a:p>
          <a:p>
            <a:pPr algn="ctr">
              <a:lnSpc>
                <a:spcPct val="102000"/>
              </a:lnSpc>
            </a:pPr>
            <a:r>
              <a:rPr sz="850">
                <a:solidFill>
                  <a:srgbClr val="F6DFE2"/>
                </a:solidFill>
                <a:latin typeface="Segoe UI"/>
              </a:rPr>
              <a:t>Runs cycles and jumps  ·  Calibrates</a:t>
            </a:r>
          </a:p>
          <a:p>
            <a:pPr algn="ctr">
              <a:lnSpc>
                <a:spcPct val="102000"/>
              </a:lnSpc>
            </a:pPr>
            <a:r>
              <a:rPr sz="850">
                <a:solidFill>
                  <a:srgbClr val="F6DFE2"/>
                </a:solidFill>
                <a:latin typeface="Segoe UI"/>
              </a:rPr>
              <a:t>Regulates current and voltage every 1 ms</a:t>
            </a:r>
          </a:p>
          <a:p>
            <a:pPr algn="ctr">
              <a:lnSpc>
                <a:spcPct val="102000"/>
              </a:lnSpc>
            </a:pPr>
            <a:r>
              <a:rPr sz="850">
                <a:solidFill>
                  <a:srgbClr val="F6DFE2"/>
                </a:solidFill>
                <a:latin typeface="Segoe UI"/>
              </a:rPr>
              <a:t/>
            </a:r>
          </a:p>
          <a:p>
            <a:pPr algn="ctr">
              <a:lnSpc>
                <a:spcPct val="102000"/>
              </a:lnSpc>
            </a:pPr>
            <a:r>
              <a:rPr sz="850">
                <a:solidFill>
                  <a:srgbClr val="F6DFE2"/>
                </a:solidFill>
                <a:latin typeface="Segoe UI"/>
              </a:rPr>
              <a:t>The largest single body of control logic</a:t>
            </a:r>
          </a:p>
          <a:p>
            <a:pPr algn="ctr">
              <a:lnSpc>
                <a:spcPct val="102000"/>
              </a:lnSpc>
            </a:pPr>
            <a:r>
              <a:rPr sz="850">
                <a:solidFill>
                  <a:srgbClr val="F6DFE2"/>
                </a:solidFill>
                <a:latin typeface="Segoe UI"/>
              </a:rPr>
              <a:t>in the entire product</a:t>
            </a:r>
          </a:p>
        </p:txBody>
      </p:sp>
      <p:sp>
        <p:nvSpPr>
          <p:cNvPr id="14" name="TextBox 13"/>
          <p:cNvSpPr txBox="1"/>
          <p:nvPr/>
        </p:nvSpPr>
        <p:spPr>
          <a:xfrm>
            <a:off x="822960" y="5138928"/>
            <a:ext cx="4846320" cy="292608"/>
          </a:xfrm>
          <a:prstGeom prst="rect">
            <a:avLst/>
          </a:prstGeom>
          <a:noFill/>
        </p:spPr>
        <p:txBody>
          <a:bodyPr wrap="square" anchor="t" lIns="18288" rIns="18288" tIns="0" bIns="0">
            <a:spAutoFit/>
          </a:bodyPr>
          <a:lstStyle/>
          <a:p>
            <a:pPr algn="ctr">
              <a:lnSpc>
                <a:spcPct val="110000"/>
              </a:lnSpc>
            </a:pPr>
            <a:r>
              <a:rPr sz="850" b="1" i="0">
                <a:solidFill>
                  <a:srgbClr val="9B2C35"/>
                </a:solidFill>
                <a:latin typeface="Segoe UI"/>
              </a:rPr>
              <a:t>A new test feature means re-qualifying and re-programming EVERY installed Secondary.</a:t>
            </a:r>
          </a:p>
        </p:txBody>
      </p:sp>
      <p:sp>
        <p:nvSpPr>
          <p:cNvPr id="15" name="Chevron 14"/>
          <p:cNvSpPr/>
          <p:nvPr/>
        </p:nvSpPr>
        <p:spPr>
          <a:xfrm>
            <a:off x="6108192" y="3108960"/>
            <a:ext cx="457200" cy="457200"/>
          </a:xfrm>
          <a:prstGeom prst="chevron">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675120" y="1234440"/>
            <a:ext cx="5010912" cy="4251960"/>
          </a:xfrm>
          <a:prstGeom prst="roundRect">
            <a:avLst>
              <a:gd name="adj" fmla="val 4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675120" y="1234440"/>
            <a:ext cx="5010912" cy="384048"/>
          </a:xfrm>
          <a:prstGeom prst="roundRect">
            <a:avLst>
              <a:gd name="adj" fmla="val 14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0" y="1307592"/>
            <a:ext cx="4663440" cy="256032"/>
          </a:xfrm>
          <a:prstGeom prst="rect">
            <a:avLst/>
          </a:prstGeom>
          <a:noFill/>
        </p:spPr>
        <p:txBody>
          <a:bodyPr wrap="square" anchor="t" lIns="18288" rIns="18288" tIns="0" bIns="0">
            <a:spAutoFit/>
          </a:bodyPr>
          <a:lstStyle/>
          <a:p>
            <a:pPr algn="l">
              <a:lnSpc>
                <a:spcPct val="100000"/>
              </a:lnSpc>
            </a:pPr>
            <a:r>
              <a:rPr sz="1050" b="1" i="0">
                <a:solidFill>
                  <a:srgbClr val="FFFFFF"/>
                </a:solidFill>
                <a:latin typeface="Segoe UI"/>
              </a:rPr>
              <a:t>NEW ME  —  CENTRALISED INTELLIGENCE</a:t>
            </a:r>
          </a:p>
        </p:txBody>
      </p:sp>
      <p:sp>
        <p:nvSpPr>
          <p:cNvPr id="19" name="Rounded Rectangle 18"/>
          <p:cNvSpPr/>
          <p:nvPr/>
        </p:nvSpPr>
        <p:spPr>
          <a:xfrm>
            <a:off x="6967728" y="1828800"/>
            <a:ext cx="4425696" cy="182880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FFFFFF"/>
                </a:solidFill>
                <a:latin typeface="Segoe UI"/>
              </a:rPr>
              <a:t>PRIMARY  =  THE BRAIN</a:t>
            </a:r>
          </a:p>
          <a:p>
            <a:pPr algn="ctr">
              <a:lnSpc>
                <a:spcPct val="102000"/>
              </a:lnSpc>
            </a:pPr>
            <a:r>
              <a:rPr sz="850">
                <a:solidFill>
                  <a:srgbClr val="DCE6F2"/>
                </a:solidFill>
                <a:latin typeface="Segoe UI"/>
              </a:rPr>
              <a:t>Stores eight programmes  ·  Interprets steps</a:t>
            </a:r>
          </a:p>
          <a:p>
            <a:pPr algn="ctr">
              <a:lnSpc>
                <a:spcPct val="102000"/>
              </a:lnSpc>
            </a:pPr>
            <a:r>
              <a:rPr sz="850">
                <a:solidFill>
                  <a:srgbClr val="DCE6F2"/>
                </a:solidFill>
                <a:latin typeface="Segoe UI"/>
              </a:rPr>
              <a:t>Executes the sequence  ·  Monitors cutoffs</a:t>
            </a:r>
          </a:p>
          <a:p>
            <a:pPr algn="ctr">
              <a:lnSpc>
                <a:spcPct val="102000"/>
              </a:lnSpc>
            </a:pPr>
            <a:r>
              <a:rPr sz="850">
                <a:solidFill>
                  <a:srgbClr val="DCE6F2"/>
                </a:solidFill>
                <a:latin typeface="Segoe UI"/>
              </a:rPr>
              <a:t>Controls the recording rate</a:t>
            </a:r>
          </a:p>
          <a:p>
            <a:pPr algn="ctr">
              <a:lnSpc>
                <a:spcPct val="102000"/>
              </a:lnSpc>
            </a:pPr>
            <a:r>
              <a:rPr sz="850">
                <a:solidFill>
                  <a:srgbClr val="DCE6F2"/>
                </a:solidFill>
                <a:latin typeface="Segoe UI"/>
              </a:rPr>
              <a:t/>
            </a:r>
          </a:p>
          <a:p>
            <a:pPr algn="ctr">
              <a:lnSpc>
                <a:spcPct val="102000"/>
              </a:lnSpc>
            </a:pPr>
            <a:r>
              <a:rPr sz="850">
                <a:solidFill>
                  <a:srgbClr val="DCE6F2"/>
                </a:solidFill>
                <a:latin typeface="Segoe UI"/>
              </a:rPr>
              <a:t>ALL test logic lives here</a:t>
            </a:r>
          </a:p>
        </p:txBody>
      </p:sp>
      <p:cxnSp>
        <p:nvCxnSpPr>
          <p:cNvPr id="20" name="Connector 19"/>
          <p:cNvCxnSpPr/>
          <p:nvPr/>
        </p:nvCxnSpPr>
        <p:spPr>
          <a:xfrm>
            <a:off x="9180576" y="3657600"/>
            <a:ext cx="0" cy="365760"/>
          </a:xfrm>
          <a:prstGeom prst="line">
            <a:avLst/>
          </a:prstGeom>
          <a:ln w="25400">
            <a:solidFill>
              <a:srgbClr val="0A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244584" y="3703320"/>
            <a:ext cx="2103120" cy="274320"/>
          </a:xfrm>
          <a:prstGeom prst="rect">
            <a:avLst/>
          </a:prstGeom>
          <a:noFill/>
        </p:spPr>
        <p:txBody>
          <a:bodyPr wrap="square" anchor="t" lIns="18288" rIns="18288" tIns="0" bIns="0">
            <a:spAutoFit/>
          </a:bodyPr>
          <a:lstStyle/>
          <a:p>
            <a:pPr algn="l">
              <a:lnSpc>
                <a:spcPct val="100000"/>
              </a:lnSpc>
            </a:pPr>
            <a:r>
              <a:rPr sz="750" b="1" i="0">
                <a:solidFill>
                  <a:srgbClr val="0A6E6A"/>
                </a:solidFill>
                <a:latin typeface="Segoe UI"/>
              </a:rPr>
              <a:t>targets to eight nodes</a:t>
            </a:r>
          </a:p>
        </p:txBody>
      </p:sp>
      <p:sp>
        <p:nvSpPr>
          <p:cNvPr id="22" name="Rounded Rectangle 21"/>
          <p:cNvSpPr/>
          <p:nvPr/>
        </p:nvSpPr>
        <p:spPr>
          <a:xfrm>
            <a:off x="6967728" y="4023360"/>
            <a:ext cx="4425696" cy="105156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1100" b="1">
                <a:solidFill>
                  <a:srgbClr val="FFFFFF"/>
                </a:solidFill>
                <a:latin typeface="Segoe UI"/>
              </a:rPr>
              <a:t>SECONDARY × 8  =  MUSCLE ONLY</a:t>
            </a:r>
          </a:p>
          <a:p>
            <a:pPr algn="ctr">
              <a:lnSpc>
                <a:spcPct val="102000"/>
              </a:lnSpc>
            </a:pPr>
            <a:r>
              <a:rPr sz="850">
                <a:solidFill>
                  <a:srgbClr val="DFEFE5"/>
                </a:solidFill>
                <a:latin typeface="Segoe UI"/>
              </a:rPr>
              <a:t>Receive a target. Regulate to it.</a:t>
            </a:r>
          </a:p>
          <a:p>
            <a:pPr algn="ctr">
              <a:lnSpc>
                <a:spcPct val="102000"/>
              </a:lnSpc>
            </a:pPr>
            <a:r>
              <a:rPr sz="850">
                <a:solidFill>
                  <a:srgbClr val="DFEFE5"/>
                </a:solidFill>
                <a:latin typeface="Segoe UI"/>
              </a:rPr>
              <a:t>Report what is measured.</a:t>
            </a:r>
          </a:p>
          <a:p>
            <a:pPr algn="ctr">
              <a:lnSpc>
                <a:spcPct val="102000"/>
              </a:lnSpc>
            </a:pPr>
            <a:r>
              <a:rPr sz="850">
                <a:solidFill>
                  <a:srgbClr val="DFEFE5"/>
                </a:solidFill>
                <a:latin typeface="Segoe UI"/>
              </a:rPr>
              <a:t>Small, stable firmware.</a:t>
            </a:r>
          </a:p>
        </p:txBody>
      </p:sp>
      <p:sp>
        <p:nvSpPr>
          <p:cNvPr id="23" name="TextBox 22"/>
          <p:cNvSpPr txBox="1"/>
          <p:nvPr/>
        </p:nvSpPr>
        <p:spPr>
          <a:xfrm>
            <a:off x="6967728" y="5138928"/>
            <a:ext cx="4425696" cy="292608"/>
          </a:xfrm>
          <a:prstGeom prst="rect">
            <a:avLst/>
          </a:prstGeom>
          <a:noFill/>
        </p:spPr>
        <p:txBody>
          <a:bodyPr wrap="square" anchor="t" lIns="18288" rIns="18288" tIns="0" bIns="0">
            <a:spAutoFit/>
          </a:bodyPr>
          <a:lstStyle/>
          <a:p>
            <a:pPr algn="ctr">
              <a:lnSpc>
                <a:spcPct val="110000"/>
              </a:lnSpc>
            </a:pPr>
            <a:r>
              <a:rPr sz="850" b="1" i="0">
                <a:solidFill>
                  <a:srgbClr val="2E6F4F"/>
                </a:solidFill>
                <a:latin typeface="Segoe UI"/>
              </a:rPr>
              <a:t>A new test feature means one Primary release. One board, one qualification cycle.</a:t>
            </a:r>
          </a:p>
        </p:txBody>
      </p:sp>
      <p:sp>
        <p:nvSpPr>
          <p:cNvPr id="24" name="Rounded Rectangle 23"/>
          <p:cNvSpPr/>
          <p:nvPr/>
        </p:nvSpPr>
        <p:spPr>
          <a:xfrm>
            <a:off x="502920" y="5715000"/>
            <a:ext cx="11183112" cy="731520"/>
          </a:xfrm>
          <a:prstGeom prst="roundRect">
            <a:avLst>
              <a:gd name="adj" fmla="val 12000"/>
            </a:avLst>
          </a:prstGeom>
          <a:solidFill>
            <a:srgbClr val="E9EEF6"/>
          </a:solidFill>
          <a:ln w="9525">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02920" y="5715000"/>
            <a:ext cx="64008" cy="7315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5815584"/>
            <a:ext cx="10725912" cy="548640"/>
          </a:xfrm>
          <a:prstGeom prst="rect">
            <a:avLst/>
          </a:prstGeom>
          <a:noFill/>
        </p:spPr>
        <p:txBody>
          <a:bodyPr wrap="square" anchor="t" lIns="0" rIns="0" tIns="0" bIns="0">
            <a:spAutoFit/>
          </a:bodyPr>
          <a:lstStyle/>
          <a:p>
            <a:pPr algn="l">
              <a:lnSpc>
                <a:spcPct val="105000"/>
              </a:lnSpc>
              <a:spcBef>
                <a:spcPts val="0"/>
              </a:spcBef>
            </a:pPr>
            <a:r>
              <a:rPr sz="1000" b="1">
                <a:solidFill>
                  <a:srgbClr val="1E3A5F"/>
                </a:solidFill>
                <a:latin typeface="Segoe UI"/>
              </a:rPr>
              <a:t>WHY THIS MATTERS COMMERCIALLY      Test logic becomes a single-board concern.</a:t>
            </a:r>
          </a:p>
          <a:p>
            <a:pPr algn="l">
              <a:lnSpc>
                <a:spcPct val="105000"/>
              </a:lnSpc>
              <a:spcBef>
                <a:spcPts val="300"/>
              </a:spcBef>
            </a:pPr>
            <a:r>
              <a:rPr sz="850" b="0">
                <a:solidFill>
                  <a:srgbClr val="334155"/>
                </a:solidFill>
                <a:latin typeface="Segoe UI"/>
              </a:rPr>
              <a:t>Today a new cutoff type or charge profile requires changing the Secondary firmware, re-qualifying it, and re-programming every Secondary already installed at a customer site. Under ME the same change is a Primary release — and once the Secondary firmware is correct, it stops changing.</a:t>
            </a:r>
          </a:p>
        </p:txBody>
      </p:sp>
      <p:sp>
        <p:nvSpPr>
          <p:cNvPr id="27" name="Rectangle 26"/>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29" name="TextBox 28"/>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03 · EXECUTION FLOW — CURRENT PLATFORM</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OLD BTS: the measure, decide and act cycle closes inside one microcontroller</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Four phases. During a running test the Primary's role is essentially to carry messages.</a:t>
            </a:r>
          </a:p>
        </p:txBody>
      </p:sp>
      <p:sp>
        <p:nvSpPr>
          <p:cNvPr id="7" name="TextBox 6"/>
          <p:cNvSpPr txBox="1"/>
          <p:nvPr/>
        </p:nvSpPr>
        <p:spPr>
          <a:xfrm>
            <a:off x="713232" y="1188720"/>
            <a:ext cx="219456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WHO</a:t>
            </a:r>
          </a:p>
        </p:txBody>
      </p:sp>
      <p:sp>
        <p:nvSpPr>
          <p:cNvPr id="8" name="TextBox 7"/>
          <p:cNvSpPr txBox="1"/>
          <p:nvPr/>
        </p:nvSpPr>
        <p:spPr>
          <a:xfrm>
            <a:off x="3017520" y="1188720"/>
            <a:ext cx="365760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WHAT HAPPENS</a:t>
            </a:r>
          </a:p>
        </p:txBody>
      </p:sp>
      <p:sp>
        <p:nvSpPr>
          <p:cNvPr id="9" name="Rounded Rectangle 8"/>
          <p:cNvSpPr/>
          <p:nvPr/>
        </p:nvSpPr>
        <p:spPr>
          <a:xfrm>
            <a:off x="502920" y="1417320"/>
            <a:ext cx="11183112" cy="1005840"/>
          </a:xfrm>
          <a:prstGeom prst="roundRect">
            <a:avLst>
              <a:gd name="adj" fmla="val 6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02920" y="1417320"/>
            <a:ext cx="54864" cy="100584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1467612"/>
            <a:ext cx="5943600" cy="219456"/>
          </a:xfrm>
          <a:prstGeom prst="rect">
            <a:avLst/>
          </a:prstGeom>
          <a:noFill/>
        </p:spPr>
        <p:txBody>
          <a:bodyPr wrap="square" anchor="t" lIns="18288" rIns="18288" tIns="0" bIns="0">
            <a:spAutoFit/>
          </a:bodyPr>
          <a:lstStyle/>
          <a:p>
            <a:pPr algn="l">
              <a:lnSpc>
                <a:spcPct val="100000"/>
              </a:lnSpc>
            </a:pPr>
            <a:r>
              <a:rPr sz="850" b="1" i="0">
                <a:solidFill>
                  <a:srgbClr val="1E3A5F"/>
                </a:solidFill>
                <a:latin typeface="Segoe UI"/>
              </a:rPr>
              <a:t>PHASE 1  ·  PROGRAMME TRANSFER</a:t>
            </a:r>
          </a:p>
        </p:txBody>
      </p:sp>
      <p:sp>
        <p:nvSpPr>
          <p:cNvPr id="12" name="TextBox 11"/>
          <p:cNvSpPr txBox="1"/>
          <p:nvPr/>
        </p:nvSpPr>
        <p:spPr>
          <a:xfrm>
            <a:off x="713232" y="1709928"/>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Web App → Primary</a:t>
            </a:r>
          </a:p>
        </p:txBody>
      </p:sp>
      <p:sp>
        <p:nvSpPr>
          <p:cNvPr id="13" name="TextBox 12"/>
          <p:cNvSpPr txBox="1"/>
          <p:nvPr/>
        </p:nvSpPr>
        <p:spPr>
          <a:xfrm>
            <a:off x="3017520" y="1709928"/>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Encoded test sequence, packet count, battery information</a:t>
            </a:r>
          </a:p>
          <a:p>
            <a:pPr algn="l">
              <a:lnSpc>
                <a:spcPct val="115000"/>
              </a:lnSpc>
            </a:pPr>
            <a:r>
              <a:rPr sz="800" b="0" i="0">
                <a:solidFill>
                  <a:srgbClr val="334155"/>
                </a:solidFill>
                <a:latin typeface="Segoe UI"/>
              </a:rPr>
              <a:t>and optionally a CAN database</a:t>
            </a:r>
          </a:p>
        </p:txBody>
      </p:sp>
      <p:sp>
        <p:nvSpPr>
          <p:cNvPr id="14" name="TextBox 13"/>
          <p:cNvSpPr txBox="1"/>
          <p:nvPr/>
        </p:nvSpPr>
        <p:spPr>
          <a:xfrm>
            <a:off x="713232" y="2093976"/>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 memory</a:t>
            </a:r>
          </a:p>
        </p:txBody>
      </p:sp>
      <p:sp>
        <p:nvSpPr>
          <p:cNvPr id="15" name="TextBox 14"/>
          <p:cNvSpPr txBox="1"/>
          <p:nvPr/>
        </p:nvSpPr>
        <p:spPr>
          <a:xfrm>
            <a:off x="3017520" y="2093976"/>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Store the programme in its single fixed location</a:t>
            </a:r>
          </a:p>
        </p:txBody>
      </p:sp>
      <p:sp>
        <p:nvSpPr>
          <p:cNvPr id="16" name="Rounded Rectangle 15"/>
          <p:cNvSpPr/>
          <p:nvPr/>
        </p:nvSpPr>
        <p:spPr>
          <a:xfrm>
            <a:off x="502920" y="2532888"/>
            <a:ext cx="11183112" cy="1005840"/>
          </a:xfrm>
          <a:prstGeom prst="roundRect">
            <a:avLst>
              <a:gd name="adj" fmla="val 6000"/>
            </a:avLst>
          </a:prstGeom>
          <a:solidFill>
            <a:srgbClr val="F7E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2920" y="2532888"/>
            <a:ext cx="54864" cy="100584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8368" y="2583180"/>
            <a:ext cx="5943600" cy="219456"/>
          </a:xfrm>
          <a:prstGeom prst="rect">
            <a:avLst/>
          </a:prstGeom>
          <a:noFill/>
        </p:spPr>
        <p:txBody>
          <a:bodyPr wrap="square" anchor="t" lIns="18288" rIns="18288" tIns="0" bIns="0">
            <a:spAutoFit/>
          </a:bodyPr>
          <a:lstStyle/>
          <a:p>
            <a:pPr algn="l">
              <a:lnSpc>
                <a:spcPct val="100000"/>
              </a:lnSpc>
            </a:pPr>
            <a:r>
              <a:rPr sz="850" b="1" i="0">
                <a:solidFill>
                  <a:srgbClr val="B47A14"/>
                </a:solidFill>
                <a:latin typeface="Segoe UI"/>
              </a:rPr>
              <a:t>PHASE 2  ·  START AND STEP DISPATCH</a:t>
            </a:r>
          </a:p>
        </p:txBody>
      </p:sp>
      <p:sp>
        <p:nvSpPr>
          <p:cNvPr id="19" name="TextBox 18"/>
          <p:cNvSpPr txBox="1"/>
          <p:nvPr/>
        </p:nvSpPr>
        <p:spPr>
          <a:xfrm>
            <a:off x="713232" y="2825496"/>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Web App → Primary</a:t>
            </a:r>
          </a:p>
        </p:txBody>
      </p:sp>
      <p:sp>
        <p:nvSpPr>
          <p:cNvPr id="20" name="TextBox 19"/>
          <p:cNvSpPr txBox="1"/>
          <p:nvPr/>
        </p:nvSpPr>
        <p:spPr>
          <a:xfrm>
            <a:off x="3017520" y="2825496"/>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Start command</a:t>
            </a:r>
          </a:p>
        </p:txBody>
      </p:sp>
      <p:sp>
        <p:nvSpPr>
          <p:cNvPr id="21" name="TextBox 20"/>
          <p:cNvSpPr txBox="1"/>
          <p:nvPr/>
        </p:nvSpPr>
        <p:spPr>
          <a:xfrm>
            <a:off x="713232" y="3081528"/>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 Secondary</a:t>
            </a:r>
          </a:p>
        </p:txBody>
      </p:sp>
      <p:sp>
        <p:nvSpPr>
          <p:cNvPr id="22" name="TextBox 21"/>
          <p:cNvSpPr txBox="1"/>
          <p:nvPr/>
        </p:nvSpPr>
        <p:spPr>
          <a:xfrm>
            <a:off x="3017520" y="3081528"/>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Send the FIRST step only, over the dedicated link.</a:t>
            </a:r>
          </a:p>
          <a:p>
            <a:pPr algn="l">
              <a:lnSpc>
                <a:spcPct val="115000"/>
              </a:lnSpc>
            </a:pPr>
            <a:r>
              <a:rPr sz="800" b="0" i="0">
                <a:solidFill>
                  <a:srgbClr val="334155"/>
                </a:solidFill>
                <a:latin typeface="Segoe UI"/>
              </a:rPr>
              <a:t>The Primary does not interpret the step.</a:t>
            </a:r>
          </a:p>
        </p:txBody>
      </p:sp>
      <p:sp>
        <p:nvSpPr>
          <p:cNvPr id="23" name="Rounded Rectangle 22"/>
          <p:cNvSpPr/>
          <p:nvPr/>
        </p:nvSpPr>
        <p:spPr>
          <a:xfrm>
            <a:off x="502920" y="3648456"/>
            <a:ext cx="11183112" cy="1005840"/>
          </a:xfrm>
          <a:prstGeom prst="roundRect">
            <a:avLst>
              <a:gd name="adj" fmla="val 6000"/>
            </a:avLst>
          </a:prstGeom>
          <a:solidFill>
            <a:srgbClr val="F6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02920" y="3648456"/>
            <a:ext cx="54864" cy="1005840"/>
          </a:xfrm>
          <a:prstGeom prst="rect">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8368" y="3698748"/>
            <a:ext cx="5943600" cy="219456"/>
          </a:xfrm>
          <a:prstGeom prst="rect">
            <a:avLst/>
          </a:prstGeom>
          <a:noFill/>
        </p:spPr>
        <p:txBody>
          <a:bodyPr wrap="square" anchor="t" lIns="18288" rIns="18288" tIns="0" bIns="0">
            <a:spAutoFit/>
          </a:bodyPr>
          <a:lstStyle/>
          <a:p>
            <a:pPr algn="l">
              <a:lnSpc>
                <a:spcPct val="100000"/>
              </a:lnSpc>
            </a:pPr>
            <a:r>
              <a:rPr sz="850" b="1" i="0">
                <a:solidFill>
                  <a:srgbClr val="8A3A48"/>
                </a:solidFill>
                <a:latin typeface="Segoe UI"/>
              </a:rPr>
              <a:t>PHASE 3  ·  EXECUTION — ENTIRELY ON THE SECONDARY</a:t>
            </a:r>
          </a:p>
        </p:txBody>
      </p:sp>
      <p:sp>
        <p:nvSpPr>
          <p:cNvPr id="26" name="TextBox 25"/>
          <p:cNvSpPr txBox="1"/>
          <p:nvPr/>
        </p:nvSpPr>
        <p:spPr>
          <a:xfrm>
            <a:off x="713232" y="3941064"/>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Secondary, on its own</a:t>
            </a:r>
          </a:p>
        </p:txBody>
      </p:sp>
      <p:sp>
        <p:nvSpPr>
          <p:cNvPr id="27" name="TextBox 26"/>
          <p:cNvSpPr txBox="1"/>
          <p:nvPr/>
        </p:nvSpPr>
        <p:spPr>
          <a:xfrm>
            <a:off x="3017520" y="3941064"/>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Interpret the step</a:t>
            </a:r>
          </a:p>
        </p:txBody>
      </p:sp>
      <p:sp>
        <p:nvSpPr>
          <p:cNvPr id="28" name="TextBox 27"/>
          <p:cNvSpPr txBox="1"/>
          <p:nvPr/>
        </p:nvSpPr>
        <p:spPr>
          <a:xfrm>
            <a:off x="713232" y="4197096"/>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Every 1 ms, closed on one board</a:t>
            </a:r>
          </a:p>
        </p:txBody>
      </p:sp>
      <p:sp>
        <p:nvSpPr>
          <p:cNvPr id="29" name="TextBox 28"/>
          <p:cNvSpPr txBox="1"/>
          <p:nvPr/>
        </p:nvSpPr>
        <p:spPr>
          <a:xfrm>
            <a:off x="3017520" y="4197096"/>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Drive the power stage → measure the battery → run the</a:t>
            </a:r>
          </a:p>
          <a:p>
            <a:pPr algn="l">
              <a:lnSpc>
                <a:spcPct val="115000"/>
              </a:lnSpc>
            </a:pPr>
            <a:r>
              <a:rPr sz="800" b="0" i="0">
                <a:solidFill>
                  <a:srgbClr val="334155"/>
                </a:solidFill>
                <a:latin typeface="Segoe UI"/>
              </a:rPr>
              <a:t>control loop → evaluate the cutoff conditions</a:t>
            </a:r>
          </a:p>
        </p:txBody>
      </p:sp>
      <p:sp>
        <p:nvSpPr>
          <p:cNvPr id="30" name="Rounded Rectangle 29"/>
          <p:cNvSpPr/>
          <p:nvPr/>
        </p:nvSpPr>
        <p:spPr>
          <a:xfrm>
            <a:off x="502920" y="4764024"/>
            <a:ext cx="11183112" cy="877824"/>
          </a:xfrm>
          <a:prstGeom prst="roundRect">
            <a:avLst>
              <a:gd name="adj" fmla="val 6000"/>
            </a:avLst>
          </a:prstGeom>
          <a:solidFill>
            <a:srgbClr val="E6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4764024"/>
            <a:ext cx="54864" cy="877824"/>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 y="4814316"/>
            <a:ext cx="5943600" cy="219456"/>
          </a:xfrm>
          <a:prstGeom prst="rect">
            <a:avLst/>
          </a:prstGeom>
          <a:noFill/>
        </p:spPr>
        <p:txBody>
          <a:bodyPr wrap="square" anchor="t" lIns="18288" rIns="18288" tIns="0" bIns="0">
            <a:spAutoFit/>
          </a:bodyPr>
          <a:lstStyle/>
          <a:p>
            <a:pPr algn="l">
              <a:lnSpc>
                <a:spcPct val="100000"/>
              </a:lnSpc>
            </a:pPr>
            <a:r>
              <a:rPr sz="850" b="1" i="0">
                <a:solidFill>
                  <a:srgbClr val="2E6F4F"/>
                </a:solidFill>
                <a:latin typeface="Segoe UI"/>
              </a:rPr>
              <a:t>PHASE 4  ·  MEASUREMENTS AND STEP ADVANCE</a:t>
            </a:r>
          </a:p>
        </p:txBody>
      </p:sp>
      <p:sp>
        <p:nvSpPr>
          <p:cNvPr id="33" name="TextBox 32"/>
          <p:cNvSpPr txBox="1"/>
          <p:nvPr/>
        </p:nvSpPr>
        <p:spPr>
          <a:xfrm>
            <a:off x="713232" y="5056632"/>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Secondary → Primary</a:t>
            </a:r>
          </a:p>
        </p:txBody>
      </p:sp>
      <p:sp>
        <p:nvSpPr>
          <p:cNvPr id="34" name="TextBox 33"/>
          <p:cNvSpPr txBox="1"/>
          <p:nvPr/>
        </p:nvSpPr>
        <p:spPr>
          <a:xfrm>
            <a:off x="3017520" y="5056632"/>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Send measurements over the second dedicated link</a:t>
            </a:r>
          </a:p>
        </p:txBody>
      </p:sp>
      <p:sp>
        <p:nvSpPr>
          <p:cNvPr id="35" name="TextBox 34"/>
          <p:cNvSpPr txBox="1"/>
          <p:nvPr/>
        </p:nvSpPr>
        <p:spPr>
          <a:xfrm>
            <a:off x="713232" y="5312664"/>
            <a:ext cx="2194560" cy="329184"/>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 Web App</a:t>
            </a:r>
          </a:p>
        </p:txBody>
      </p:sp>
      <p:sp>
        <p:nvSpPr>
          <p:cNvPr id="36" name="TextBox 35"/>
          <p:cNvSpPr txBox="1"/>
          <p:nvPr/>
        </p:nvSpPr>
        <p:spPr>
          <a:xfrm>
            <a:off x="3017520" y="5312664"/>
            <a:ext cx="854964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Forward live and session data, then store in the session database</a:t>
            </a:r>
          </a:p>
        </p:txBody>
      </p:sp>
      <p:sp>
        <p:nvSpPr>
          <p:cNvPr id="37" name="Rounded Rectangle 36"/>
          <p:cNvSpPr/>
          <p:nvPr/>
        </p:nvSpPr>
        <p:spPr>
          <a:xfrm>
            <a:off x="502920" y="5806440"/>
            <a:ext cx="11183112" cy="621792"/>
          </a:xfrm>
          <a:prstGeom prst="roundRect">
            <a:avLst>
              <a:gd name="adj" fmla="val 1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7240" y="5888736"/>
            <a:ext cx="10698480" cy="475488"/>
          </a:xfrm>
          <a:prstGeom prst="rect">
            <a:avLst/>
          </a:prstGeom>
          <a:noFill/>
        </p:spPr>
        <p:txBody>
          <a:bodyPr wrap="square" anchor="t" lIns="0" rIns="0" tIns="0" bIns="0">
            <a:spAutoFit/>
          </a:bodyPr>
          <a:lstStyle/>
          <a:p>
            <a:pPr algn="l">
              <a:lnSpc>
                <a:spcPct val="105000"/>
              </a:lnSpc>
              <a:spcBef>
                <a:spcPts val="0"/>
              </a:spcBef>
            </a:pPr>
            <a:r>
              <a:rPr sz="1000" b="1">
                <a:solidFill>
                  <a:srgbClr val="FFFFFF"/>
                </a:solidFill>
                <a:latin typeface="Segoe UI"/>
              </a:rPr>
              <a:t>WHAT CHARACTERISES THIS DESIGN      The measure, decide and act cycle takes place inside a single microcontroller, in about one millisecond.</a:t>
            </a:r>
          </a:p>
          <a:p>
            <a:pPr algn="l">
              <a:lnSpc>
                <a:spcPct val="105000"/>
              </a:lnSpc>
              <a:spcBef>
                <a:spcPts val="300"/>
              </a:spcBef>
            </a:pPr>
            <a:r>
              <a:rPr sz="850" b="0">
                <a:solidFill>
                  <a:srgbClr val="C2D2E4"/>
                </a:solidFill>
                <a:latin typeface="Segoe UI"/>
              </a:rPr>
              <a:t>That is exactly why the current product reacts quickly — and exactly why it cannot serve more than one channel.</a:t>
            </a:r>
          </a:p>
        </p:txBody>
      </p:sp>
      <p:sp>
        <p:nvSpPr>
          <p:cNvPr id="39" name="Rectangle 38"/>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41" name="TextBox 40"/>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03 · EXECUTION FLOW — PROPOSED PLATFORM</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NEW ME: a two-level loop — fast and local, supervisory and central</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Phases 1 and 4, which face the PC, are unchanged. Phases 2 and 3 are where the architecture changes.</a:t>
            </a:r>
          </a:p>
        </p:txBody>
      </p:sp>
      <p:sp>
        <p:nvSpPr>
          <p:cNvPr id="7" name="TextBox 6"/>
          <p:cNvSpPr txBox="1"/>
          <p:nvPr/>
        </p:nvSpPr>
        <p:spPr>
          <a:xfrm>
            <a:off x="713232" y="1188720"/>
            <a:ext cx="265176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WHO</a:t>
            </a:r>
          </a:p>
        </p:txBody>
      </p:sp>
      <p:sp>
        <p:nvSpPr>
          <p:cNvPr id="8" name="TextBox 7"/>
          <p:cNvSpPr txBox="1"/>
          <p:nvPr/>
        </p:nvSpPr>
        <p:spPr>
          <a:xfrm>
            <a:off x="3493008" y="1188720"/>
            <a:ext cx="365760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WHAT HAPPENS</a:t>
            </a:r>
          </a:p>
        </p:txBody>
      </p:sp>
      <p:sp>
        <p:nvSpPr>
          <p:cNvPr id="9" name="Rounded Rectangle 8"/>
          <p:cNvSpPr/>
          <p:nvPr/>
        </p:nvSpPr>
        <p:spPr>
          <a:xfrm>
            <a:off x="502920" y="1417320"/>
            <a:ext cx="11183112" cy="932688"/>
          </a:xfrm>
          <a:prstGeom prst="roundRect">
            <a:avLst>
              <a:gd name="adj" fmla="val 6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02920" y="1417320"/>
            <a:ext cx="54864" cy="93268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1463040"/>
            <a:ext cx="7315200" cy="219456"/>
          </a:xfrm>
          <a:prstGeom prst="rect">
            <a:avLst/>
          </a:prstGeom>
          <a:noFill/>
        </p:spPr>
        <p:txBody>
          <a:bodyPr wrap="square" anchor="t" lIns="18288" rIns="18288" tIns="0" bIns="0">
            <a:spAutoFit/>
          </a:bodyPr>
          <a:lstStyle/>
          <a:p>
            <a:pPr algn="l">
              <a:lnSpc>
                <a:spcPct val="100000"/>
              </a:lnSpc>
            </a:pPr>
            <a:r>
              <a:rPr sz="850" b="1" i="0">
                <a:solidFill>
                  <a:srgbClr val="1E3A5F"/>
                </a:solidFill>
                <a:latin typeface="Segoe UI"/>
              </a:rPr>
              <a:t>PHASE 1  ·  PROGRAMME TRANSFER      — INTERFACE UNCHANGED</a:t>
            </a:r>
          </a:p>
        </p:txBody>
      </p:sp>
      <p:sp>
        <p:nvSpPr>
          <p:cNvPr id="12" name="TextBox 11"/>
          <p:cNvSpPr txBox="1"/>
          <p:nvPr/>
        </p:nvSpPr>
        <p:spPr>
          <a:xfrm>
            <a:off x="713232" y="1691640"/>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Web App → Primary</a:t>
            </a:r>
          </a:p>
        </p:txBody>
      </p:sp>
      <p:sp>
        <p:nvSpPr>
          <p:cNvPr id="13" name="TextBox 12"/>
          <p:cNvSpPr txBox="1"/>
          <p:nvPr/>
        </p:nvSpPr>
        <p:spPr>
          <a:xfrm>
            <a:off x="3493008" y="1691640"/>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Encoded test sequence, packet count, battery information, optional CAN database</a:t>
            </a:r>
          </a:p>
        </p:txBody>
      </p:sp>
      <p:sp>
        <p:nvSpPr>
          <p:cNvPr id="14" name="TextBox 13"/>
          <p:cNvSpPr txBox="1"/>
          <p:nvPr/>
        </p:nvSpPr>
        <p:spPr>
          <a:xfrm>
            <a:off x="713232" y="1938528"/>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 memory</a:t>
            </a:r>
          </a:p>
        </p:txBody>
      </p:sp>
      <p:sp>
        <p:nvSpPr>
          <p:cNvPr id="15" name="TextBox 14"/>
          <p:cNvSpPr txBox="1"/>
          <p:nvPr/>
        </p:nvSpPr>
        <p:spPr>
          <a:xfrm>
            <a:off x="3493008" y="1938528"/>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Store in programme slot 1 to 8</a:t>
            </a:r>
          </a:p>
        </p:txBody>
      </p:sp>
      <p:sp>
        <p:nvSpPr>
          <p:cNvPr id="16" name="Rounded Rectangle 15"/>
          <p:cNvSpPr/>
          <p:nvPr/>
        </p:nvSpPr>
        <p:spPr>
          <a:xfrm>
            <a:off x="502920" y="2459736"/>
            <a:ext cx="11183112" cy="932688"/>
          </a:xfrm>
          <a:prstGeom prst="roundRect">
            <a:avLst>
              <a:gd name="adj" fmla="val 6000"/>
            </a:avLst>
          </a:prstGeom>
          <a:solidFill>
            <a:srgbClr val="F7E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2920" y="2459736"/>
            <a:ext cx="54864" cy="93268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8368" y="2505456"/>
            <a:ext cx="7315200" cy="219456"/>
          </a:xfrm>
          <a:prstGeom prst="rect">
            <a:avLst/>
          </a:prstGeom>
          <a:noFill/>
        </p:spPr>
        <p:txBody>
          <a:bodyPr wrap="square" anchor="t" lIns="18288" rIns="18288" tIns="0" bIns="0">
            <a:spAutoFit/>
          </a:bodyPr>
          <a:lstStyle/>
          <a:p>
            <a:pPr algn="l">
              <a:lnSpc>
                <a:spcPct val="100000"/>
              </a:lnSpc>
            </a:pPr>
            <a:r>
              <a:rPr sz="850" b="1" i="0">
                <a:solidFill>
                  <a:srgbClr val="B47A14"/>
                </a:solidFill>
                <a:latin typeface="Segoe UI"/>
              </a:rPr>
              <a:t>PHASE 2  ·  START AND SEQUENCE EXECUTION      — MOVED UP TO THE PRIMARY</a:t>
            </a:r>
          </a:p>
        </p:txBody>
      </p:sp>
      <p:sp>
        <p:nvSpPr>
          <p:cNvPr id="19" name="TextBox 18"/>
          <p:cNvSpPr txBox="1"/>
          <p:nvPr/>
        </p:nvSpPr>
        <p:spPr>
          <a:xfrm>
            <a:off x="713232" y="2734056"/>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Web App → Primary</a:t>
            </a:r>
          </a:p>
        </p:txBody>
      </p:sp>
      <p:sp>
        <p:nvSpPr>
          <p:cNvPr id="20" name="TextBox 19"/>
          <p:cNvSpPr txBox="1"/>
          <p:nvPr/>
        </p:nvSpPr>
        <p:spPr>
          <a:xfrm>
            <a:off x="3493008" y="2734056"/>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Start command for a chosen slot and channel</a:t>
            </a:r>
          </a:p>
        </p:txBody>
      </p:sp>
      <p:sp>
        <p:nvSpPr>
          <p:cNvPr id="21" name="TextBox 20"/>
          <p:cNvSpPr txBox="1"/>
          <p:nvPr/>
        </p:nvSpPr>
        <p:spPr>
          <a:xfrm>
            <a:off x="713232" y="2980944"/>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for EVERY step</a:t>
            </a:r>
          </a:p>
        </p:txBody>
      </p:sp>
      <p:sp>
        <p:nvSpPr>
          <p:cNvPr id="22" name="TextBox 21"/>
          <p:cNvSpPr txBox="1"/>
          <p:nvPr/>
        </p:nvSpPr>
        <p:spPr>
          <a:xfrm>
            <a:off x="3493008" y="2980944"/>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Interpret the step and resolve the operator, cycles, jumps and recording rate</a:t>
            </a:r>
          </a:p>
        </p:txBody>
      </p:sp>
      <p:sp>
        <p:nvSpPr>
          <p:cNvPr id="23" name="Rounded Rectangle 22"/>
          <p:cNvSpPr/>
          <p:nvPr/>
        </p:nvSpPr>
        <p:spPr>
          <a:xfrm>
            <a:off x="502920" y="3502152"/>
            <a:ext cx="11183112" cy="1316736"/>
          </a:xfrm>
          <a:prstGeom prst="roundRect">
            <a:avLst>
              <a:gd name="adj" fmla="val 6000"/>
            </a:avLst>
          </a:prstGeom>
          <a:solidFill>
            <a:srgbClr val="E4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02920" y="3502152"/>
            <a:ext cx="54864" cy="1316736"/>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8368" y="3547872"/>
            <a:ext cx="7315200" cy="219456"/>
          </a:xfrm>
          <a:prstGeom prst="rect">
            <a:avLst/>
          </a:prstGeom>
          <a:noFill/>
        </p:spPr>
        <p:txBody>
          <a:bodyPr wrap="square" anchor="t" lIns="18288" rIns="18288" tIns="0" bIns="0">
            <a:spAutoFit/>
          </a:bodyPr>
          <a:lstStyle/>
          <a:p>
            <a:pPr algn="l">
              <a:lnSpc>
                <a:spcPct val="100000"/>
              </a:lnSpc>
            </a:pPr>
            <a:r>
              <a:rPr sz="850" b="1" i="0">
                <a:solidFill>
                  <a:srgbClr val="0A6E6A"/>
                </a:solidFill>
                <a:latin typeface="Segoe UI"/>
              </a:rPr>
              <a:t>PHASE 3  ·  DISTRIBUTED EXECUTION OVER THE BUS      — THE TWO-LEVEL LOOP</a:t>
            </a:r>
          </a:p>
        </p:txBody>
      </p:sp>
      <p:sp>
        <p:nvSpPr>
          <p:cNvPr id="26" name="TextBox 25"/>
          <p:cNvSpPr txBox="1"/>
          <p:nvPr/>
        </p:nvSpPr>
        <p:spPr>
          <a:xfrm>
            <a:off x="713232" y="3776472"/>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 bus → Secondary n</a:t>
            </a:r>
          </a:p>
        </p:txBody>
      </p:sp>
      <p:sp>
        <p:nvSpPr>
          <p:cNvPr id="27" name="TextBox 26"/>
          <p:cNvSpPr txBox="1"/>
          <p:nvPr/>
        </p:nvSpPr>
        <p:spPr>
          <a:xfrm>
            <a:off x="3493008" y="3776472"/>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Target current and voltage, addressed to that node</a:t>
            </a:r>
          </a:p>
        </p:txBody>
      </p:sp>
      <p:sp>
        <p:nvSpPr>
          <p:cNvPr id="28" name="TextBox 27"/>
          <p:cNvSpPr txBox="1"/>
          <p:nvPr/>
        </p:nvSpPr>
        <p:spPr>
          <a:xfrm>
            <a:off x="713232" y="4023360"/>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LEVEL 1 · every 1 ms · local</a:t>
            </a:r>
          </a:p>
        </p:txBody>
      </p:sp>
      <p:sp>
        <p:nvSpPr>
          <p:cNvPr id="29" name="TextBox 28"/>
          <p:cNvSpPr txBox="1"/>
          <p:nvPr/>
        </p:nvSpPr>
        <p:spPr>
          <a:xfrm>
            <a:off x="3493008" y="4023360"/>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Drive → measure → run the control loop → check local protection limits.</a:t>
            </a:r>
          </a:p>
          <a:p>
            <a:pPr algn="l">
              <a:lnSpc>
                <a:spcPct val="115000"/>
              </a:lnSpc>
            </a:pPr>
            <a:r>
              <a:rPr sz="800" b="0" i="0">
                <a:solidFill>
                  <a:srgbClr val="334155"/>
                </a:solidFill>
                <a:latin typeface="Segoe UI"/>
              </a:rPr>
              <a:t>None of this touches the bus.</a:t>
            </a:r>
          </a:p>
        </p:txBody>
      </p:sp>
      <p:sp>
        <p:nvSpPr>
          <p:cNvPr id="30" name="TextBox 29"/>
          <p:cNvSpPr txBox="1"/>
          <p:nvPr/>
        </p:nvSpPr>
        <p:spPr>
          <a:xfrm>
            <a:off x="713232" y="4389120"/>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LEVEL 2 · over the bus</a:t>
            </a:r>
          </a:p>
        </p:txBody>
      </p:sp>
      <p:sp>
        <p:nvSpPr>
          <p:cNvPr id="31" name="TextBox 30"/>
          <p:cNvSpPr txBox="1"/>
          <p:nvPr/>
        </p:nvSpPr>
        <p:spPr>
          <a:xfrm>
            <a:off x="3493008" y="4389120"/>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The Secondary sends grouped measurements. The Primary evaluates the</a:t>
            </a:r>
          </a:p>
          <a:p>
            <a:pPr algn="l">
              <a:lnSpc>
                <a:spcPct val="115000"/>
              </a:lnSpc>
            </a:pPr>
            <a:r>
              <a:rPr sz="800" b="0" i="0">
                <a:solidFill>
                  <a:srgbClr val="334155"/>
                </a:solidFill>
                <a:latin typeface="Segoe UI"/>
              </a:rPr>
              <a:t>test-sequence cutoffs for channel n and updates the recording counters.</a:t>
            </a:r>
          </a:p>
        </p:txBody>
      </p:sp>
      <p:sp>
        <p:nvSpPr>
          <p:cNvPr id="32" name="Rounded Rectangle 31"/>
          <p:cNvSpPr/>
          <p:nvPr/>
        </p:nvSpPr>
        <p:spPr>
          <a:xfrm>
            <a:off x="502920" y="4928616"/>
            <a:ext cx="11183112" cy="932688"/>
          </a:xfrm>
          <a:prstGeom prst="roundRect">
            <a:avLst>
              <a:gd name="adj" fmla="val 6000"/>
            </a:avLst>
          </a:prstGeom>
          <a:solidFill>
            <a:srgbClr val="E6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02920" y="4928616"/>
            <a:ext cx="54864" cy="932688"/>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8368" y="4974336"/>
            <a:ext cx="7315200" cy="219456"/>
          </a:xfrm>
          <a:prstGeom prst="rect">
            <a:avLst/>
          </a:prstGeom>
          <a:noFill/>
        </p:spPr>
        <p:txBody>
          <a:bodyPr wrap="square" anchor="t" lIns="18288" rIns="18288" tIns="0" bIns="0">
            <a:spAutoFit/>
          </a:bodyPr>
          <a:lstStyle/>
          <a:p>
            <a:pPr algn="l">
              <a:lnSpc>
                <a:spcPct val="100000"/>
              </a:lnSpc>
            </a:pPr>
            <a:r>
              <a:rPr sz="850" b="1" i="0">
                <a:solidFill>
                  <a:srgbClr val="2E6F4F"/>
                </a:solidFill>
                <a:latin typeface="Segoe UI"/>
              </a:rPr>
              <a:t>PHASE 4  ·  MEASUREMENTS      — INTERFACE UNCHANGED</a:t>
            </a:r>
          </a:p>
        </p:txBody>
      </p:sp>
      <p:sp>
        <p:nvSpPr>
          <p:cNvPr id="35" name="TextBox 34"/>
          <p:cNvSpPr txBox="1"/>
          <p:nvPr/>
        </p:nvSpPr>
        <p:spPr>
          <a:xfrm>
            <a:off x="713232" y="5202936"/>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 Web App</a:t>
            </a:r>
          </a:p>
        </p:txBody>
      </p:sp>
      <p:sp>
        <p:nvSpPr>
          <p:cNvPr id="36" name="TextBox 35"/>
          <p:cNvSpPr txBox="1"/>
          <p:nvPr/>
        </p:nvSpPr>
        <p:spPr>
          <a:xfrm>
            <a:off x="3493008" y="5202936"/>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Live and session data for all eight channels</a:t>
            </a:r>
          </a:p>
        </p:txBody>
      </p:sp>
      <p:sp>
        <p:nvSpPr>
          <p:cNvPr id="37" name="TextBox 36"/>
          <p:cNvSpPr txBox="1"/>
          <p:nvPr/>
        </p:nvSpPr>
        <p:spPr>
          <a:xfrm>
            <a:off x="713232" y="5449823"/>
            <a:ext cx="2697480" cy="347472"/>
          </a:xfrm>
          <a:prstGeom prst="rect">
            <a:avLst/>
          </a:prstGeom>
          <a:noFill/>
        </p:spPr>
        <p:txBody>
          <a:bodyPr wrap="square" anchor="t" lIns="18288" rIns="18288" tIns="0" bIns="0">
            <a:spAutoFit/>
          </a:bodyPr>
          <a:lstStyle/>
          <a:p>
            <a:pPr algn="l">
              <a:lnSpc>
                <a:spcPct val="110000"/>
              </a:lnSpc>
            </a:pPr>
            <a:r>
              <a:rPr sz="800" b="1" i="0">
                <a:solidFill>
                  <a:srgbClr val="334155"/>
                </a:solidFill>
                <a:latin typeface="Segoe UI"/>
              </a:rPr>
              <a:t>Primary, internally</a:t>
            </a:r>
          </a:p>
        </p:txBody>
      </p:sp>
      <p:sp>
        <p:nvSpPr>
          <p:cNvPr id="38" name="TextBox 37"/>
          <p:cNvSpPr txBox="1"/>
          <p:nvPr/>
        </p:nvSpPr>
        <p:spPr>
          <a:xfrm>
            <a:off x="3493008" y="5449823"/>
            <a:ext cx="8046720" cy="384048"/>
          </a:xfrm>
          <a:prstGeom prst="rect">
            <a:avLst/>
          </a:prstGeom>
          <a:noFill/>
        </p:spPr>
        <p:txBody>
          <a:bodyPr wrap="square" anchor="t" lIns="18288" rIns="18288" tIns="0" bIns="0">
            <a:spAutoFit/>
          </a:bodyPr>
          <a:lstStyle/>
          <a:p>
            <a:pPr algn="l">
              <a:lnSpc>
                <a:spcPct val="115000"/>
              </a:lnSpc>
            </a:pPr>
            <a:r>
              <a:rPr sz="800" b="0" i="0">
                <a:solidFill>
                  <a:srgbClr val="334155"/>
                </a:solidFill>
                <a:latin typeface="Segoe UI"/>
              </a:rPr>
              <a:t>Cutoff met, so advance channel n to its next step</a:t>
            </a:r>
          </a:p>
        </p:txBody>
      </p:sp>
      <p:sp>
        <p:nvSpPr>
          <p:cNvPr id="39" name="Rounded Rectangle 38"/>
          <p:cNvSpPr/>
          <p:nvPr/>
        </p:nvSpPr>
        <p:spPr>
          <a:xfrm>
            <a:off x="502920" y="5989320"/>
            <a:ext cx="11183112" cy="438912"/>
          </a:xfrm>
          <a:prstGeom prst="roundRect">
            <a:avLst>
              <a:gd name="adj" fmla="val 20000"/>
            </a:avLst>
          </a:prstGeom>
          <a:solidFill>
            <a:srgbClr val="FDF3DF"/>
          </a:solidFill>
          <a:ln w="12700">
            <a:solidFill>
              <a:srgbClr val="B47A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02920" y="5989320"/>
            <a:ext cx="54864" cy="438912"/>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 y="6044184"/>
            <a:ext cx="10789920" cy="329184"/>
          </a:xfrm>
          <a:prstGeom prst="rect">
            <a:avLst/>
          </a:prstGeom>
          <a:noFill/>
        </p:spPr>
        <p:txBody>
          <a:bodyPr wrap="square" anchor="t" lIns="18288" rIns="18288" tIns="0" bIns="0">
            <a:spAutoFit/>
          </a:bodyPr>
          <a:lstStyle/>
          <a:p>
            <a:pPr algn="l">
              <a:lnSpc>
                <a:spcPct val="100000"/>
              </a:lnSpc>
            </a:pPr>
            <a:r>
              <a:rPr sz="900" b="1" i="0">
                <a:solidFill>
                  <a:srgbClr val="7A530D"/>
                </a:solidFill>
                <a:latin typeface="Segoe UI"/>
              </a:rPr>
              <a:t>The Primary now runs eight sequence engines at the same time. The next three slides explain what the bus can and cannot deliver in Phase 3.</a:t>
            </a:r>
          </a:p>
        </p:txBody>
      </p:sp>
      <p:sp>
        <p:nvSpPr>
          <p:cNvPr id="42" name="Rectangle 41"/>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44" name="TextBox 43"/>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04 · FUNCTIONAL COMPARISON  (1 OF 3)</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Programme authoring, transfer and storage</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Requirement areas 1 to 5 and 11. The first four rows are unchanged by design, which removes a great deal of schedule risk.</a:t>
            </a:r>
          </a:p>
        </p:txBody>
      </p:sp>
      <p:sp>
        <p:nvSpPr>
          <p:cNvPr id="7" name="Rounded Rectangle 6"/>
          <p:cNvSpPr/>
          <p:nvPr/>
        </p:nvSpPr>
        <p:spPr>
          <a:xfrm>
            <a:off x="502920" y="1207008"/>
            <a:ext cx="11183112" cy="621792"/>
          </a:xfrm>
          <a:prstGeom prst="roundRect">
            <a:avLst>
              <a:gd name="adj" fmla="val 12000"/>
            </a:avLst>
          </a:prstGeom>
          <a:solidFill>
            <a:srgbClr val="E6F2EB"/>
          </a:solidFill>
          <a:ln w="9525">
            <a:solidFill>
              <a:srgbClr val="2E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207008"/>
            <a:ext cx="64008" cy="621792"/>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307592"/>
            <a:ext cx="10725912" cy="438912"/>
          </a:xfrm>
          <a:prstGeom prst="rect">
            <a:avLst/>
          </a:prstGeom>
          <a:noFill/>
        </p:spPr>
        <p:txBody>
          <a:bodyPr wrap="square" anchor="t" lIns="0" rIns="0" tIns="0" bIns="0">
            <a:spAutoFit/>
          </a:bodyPr>
          <a:lstStyle/>
          <a:p>
            <a:pPr algn="l">
              <a:lnSpc>
                <a:spcPct val="105000"/>
              </a:lnSpc>
              <a:spcBef>
                <a:spcPts val="0"/>
              </a:spcBef>
            </a:pPr>
            <a:r>
              <a:rPr sz="1000" b="1">
                <a:solidFill>
                  <a:srgbClr val="2E6F4F"/>
                </a:solidFill>
                <a:latin typeface="Segoe UI"/>
              </a:rPr>
              <a:t>PRESERVED      The whole PC application and its communication protocol are unchanged.</a:t>
            </a:r>
          </a:p>
          <a:p>
            <a:pPr algn="l">
              <a:lnSpc>
                <a:spcPct val="105000"/>
              </a:lnSpc>
              <a:spcBef>
                <a:spcPts val="300"/>
              </a:spcBef>
            </a:pPr>
            <a:r>
              <a:rPr sz="850" b="0">
                <a:solidFill>
                  <a:srgbClr val="334155"/>
                </a:solidFill>
                <a:latin typeface="Segoe UI"/>
              </a:rPr>
              <a:t>ME is a firmware and hardware-topology change, not a rewrite of the web application. Existing session databases, reports and exports continue to work.</a:t>
            </a:r>
          </a:p>
        </p:txBody>
      </p:sp>
      <p:graphicFrame>
        <p:nvGraphicFramePr>
          <p:cNvPr id="10" name="Table 9"/>
          <p:cNvGraphicFramePr>
            <a:graphicFrameLocks noGrp="1"/>
          </p:cNvGraphicFramePr>
          <p:nvPr/>
        </p:nvGraphicFramePr>
        <p:xfrm>
          <a:off x="502920" y="1975104"/>
          <a:ext cx="11183109" cy="2487168"/>
        </p:xfrm>
        <a:graphic>
          <a:graphicData uri="http://schemas.openxmlformats.org/drawingml/2006/table">
            <a:tbl>
              <a:tblPr firstRow="1">
                <a:tableStyleId>{5C22544A-7EE6-4342-B048-85BDC9FD1C3A}</a:tableStyleId>
              </a:tblPr>
              <a:tblGrid>
                <a:gridCol w="430119"/>
                <a:gridCol w="2236622"/>
                <a:gridCol w="3526981"/>
                <a:gridCol w="3526981"/>
                <a:gridCol w="1462406"/>
              </a:tblGrid>
              <a:tr h="310896">
                <a:tc>
                  <a:txBody>
                    <a:bodyPr/>
                    <a:lstStyle/>
                    <a:p>
                      <a:pPr>
                        <a:lnSpc>
                          <a:spcPct val="100000"/>
                        </a:lnSpc>
                      </a:pPr>
                      <a:r>
                        <a:rPr sz="900" b="1">
                          <a:solidFill>
                            <a:srgbClr val="FFFFFF"/>
                          </a:solidFill>
                          <a:latin typeface="Segoe UI"/>
                        </a:rPr>
                        <a:t>#</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Function</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OLD BTS   (today)</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NEW ME   (proposed)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Change</a:t>
                      </a:r>
                    </a:p>
                  </a:txBody>
                  <a:tcPr marL="50292" marR="41148" marT="20116" marB="20116" anchor="ctr">
                    <a:solidFill>
                      <a:srgbClr val="1E3A5F"/>
                    </a:solidFill>
                  </a:tcPr>
                </a:tc>
              </a:tr>
              <a:tr h="310896">
                <a:tc>
                  <a:txBody>
                    <a:bodyPr/>
                    <a:lstStyle/>
                    <a:p>
                      <a:pPr>
                        <a:lnSpc>
                          <a:spcPct val="100000"/>
                        </a:lnSpc>
                      </a:pPr>
                      <a:r>
                        <a:rPr sz="850" b="0">
                          <a:solidFill>
                            <a:srgbClr val="334155"/>
                          </a:solidFill>
                          <a:latin typeface="Segoe UI"/>
                        </a:rPr>
                        <a:t>1</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Sequence authoring</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PC web application</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PC web application</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None</a:t>
                      </a:r>
                    </a:p>
                  </a:txBody>
                  <a:tcPr marL="50292" marR="41148" marT="20116" marB="20116" anchor="ctr">
                    <a:solidFill>
                      <a:srgbClr val="FFFFFF"/>
                    </a:solidFill>
                  </a:tcPr>
                </a:tc>
              </a:tr>
              <a:tr h="310896">
                <a:tc>
                  <a:txBody>
                    <a:bodyPr/>
                    <a:lstStyle/>
                    <a:p>
                      <a:pPr>
                        <a:lnSpc>
                          <a:spcPct val="100000"/>
                        </a:lnSpc>
                      </a:pPr>
                      <a:r>
                        <a:rPr sz="850" b="0">
                          <a:solidFill>
                            <a:srgbClr val="334155"/>
                          </a:solidFill>
                          <a:latin typeface="Segoe UI"/>
                        </a:rPr>
                        <a:t>2</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PC to Primary connection</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Ethernet</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Ethernet</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None</a:t>
                      </a:r>
                    </a:p>
                  </a:txBody>
                  <a:tcPr marL="50292" marR="41148" marT="20116" marB="20116" anchor="ctr">
                    <a:solidFill>
                      <a:srgbClr val="F6F8FB"/>
                    </a:solidFill>
                  </a:tcPr>
                </a:tc>
              </a:tr>
              <a:tr h="310896">
                <a:tc>
                  <a:txBody>
                    <a:bodyPr/>
                    <a:lstStyle/>
                    <a:p>
                      <a:pPr>
                        <a:lnSpc>
                          <a:spcPct val="100000"/>
                        </a:lnSpc>
                      </a:pPr>
                      <a:r>
                        <a:rPr sz="850" b="0">
                          <a:solidFill>
                            <a:srgbClr val="334155"/>
                          </a:solidFill>
                          <a:latin typeface="Segoe UI"/>
                        </a:rPr>
                        <a:t>3</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Sequence transfer</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Encoded, over the network</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Encoded, over the network</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None</a:t>
                      </a:r>
                    </a:p>
                  </a:txBody>
                  <a:tcPr marL="50292" marR="41148" marT="20116" marB="20116" anchor="ctr">
                    <a:solidFill>
                      <a:srgbClr val="FFFFFF"/>
                    </a:solidFill>
                  </a:tcPr>
                </a:tc>
              </a:tr>
              <a:tr h="310896">
                <a:tc>
                  <a:txBody>
                    <a:bodyPr/>
                    <a:lstStyle/>
                    <a:p>
                      <a:pPr>
                        <a:lnSpc>
                          <a:spcPct val="100000"/>
                        </a:lnSpc>
                      </a:pPr>
                      <a:r>
                        <a:rPr sz="850" b="0">
                          <a:solidFill>
                            <a:srgbClr val="334155"/>
                          </a:solidFill>
                          <a:latin typeface="Segoe UI"/>
                        </a:rPr>
                        <a:t>4</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Data sent with the transfer</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Packet count, battery information,</a:t>
                      </a:r>
                    </a:p>
                    <a:p>
                      <a:pPr>
                        <a:lnSpc>
                          <a:spcPct val="100000"/>
                        </a:lnSpc>
                      </a:pPr>
                      <a:r>
                        <a:rPr sz="850" b="0">
                          <a:solidFill>
                            <a:srgbClr val="334155"/>
                          </a:solidFill>
                          <a:latin typeface="Segoe UI"/>
                        </a:rPr>
                        <a:t>optional CAN database</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Packet count, battery information,</a:t>
                      </a:r>
                    </a:p>
                    <a:p>
                      <a:pPr>
                        <a:lnSpc>
                          <a:spcPct val="100000"/>
                        </a:lnSpc>
                      </a:pPr>
                      <a:r>
                        <a:rPr sz="850" b="0">
                          <a:solidFill>
                            <a:srgbClr val="334155"/>
                          </a:solidFill>
                          <a:latin typeface="Segoe UI"/>
                        </a:rPr>
                        <a:t>optional CAN database</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None</a:t>
                      </a:r>
                    </a:p>
                  </a:txBody>
                  <a:tcPr marL="50292" marR="41148" marT="20116" marB="20116" anchor="ctr">
                    <a:solidFill>
                      <a:srgbClr val="F6F8FB"/>
                    </a:solidFill>
                  </a:tcPr>
                </a:tc>
              </a:tr>
              <a:tr h="310896">
                <a:tc>
                  <a:txBody>
                    <a:bodyPr/>
                    <a:lstStyle/>
                    <a:p>
                      <a:pPr>
                        <a:lnSpc>
                          <a:spcPct val="100000"/>
                        </a:lnSpc>
                      </a:pPr>
                      <a:r>
                        <a:rPr sz="850" b="0">
                          <a:solidFill>
                            <a:srgbClr val="334155"/>
                          </a:solidFill>
                          <a:latin typeface="Segoe UI"/>
                        </a:rPr>
                        <a:t>5</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Storage medium</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4 MB serial memory device</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Non-volatile memory, to be selected</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Decision needed</a:t>
                      </a:r>
                    </a:p>
                  </a:txBody>
                  <a:tcPr marL="50292" marR="41148" marT="20116" marB="20116" anchor="ctr">
                    <a:solidFill>
                      <a:srgbClr val="FDF6E7"/>
                    </a:solidFill>
                  </a:tcPr>
                </a:tc>
              </a:tr>
              <a:tr h="310896">
                <a:tc>
                  <a:txBody>
                    <a:bodyPr/>
                    <a:lstStyle/>
                    <a:p>
                      <a:pPr>
                        <a:lnSpc>
                          <a:spcPct val="100000"/>
                        </a:lnSpc>
                      </a:pPr>
                      <a:r>
                        <a:rPr sz="850" b="0">
                          <a:solidFill>
                            <a:srgbClr val="334155"/>
                          </a:solidFill>
                          <a:latin typeface="Segoe UI"/>
                        </a:rPr>
                        <a:t>5</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Programme capacity</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ONE sequence</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EIGHT sequences</a:t>
                      </a:r>
                    </a:p>
                  </a:txBody>
                  <a:tcPr marL="50292" marR="41148" marT="20116" marB="20116" anchor="ctr">
                    <a:solidFill>
                      <a:srgbClr val="FDF6E7"/>
                    </a:solidFill>
                  </a:tcPr>
                </a:tc>
                <a:tc>
                  <a:txBody>
                    <a:bodyPr/>
                    <a:lstStyle/>
                    <a:p>
                      <a:pPr>
                        <a:lnSpc>
                          <a:spcPct val="100000"/>
                        </a:lnSpc>
                      </a:pPr>
                      <a:r>
                        <a:rPr sz="850" b="1">
                          <a:solidFill>
                            <a:srgbClr val="B47A14"/>
                          </a:solidFill>
                          <a:latin typeface="Segoe UI"/>
                        </a:rPr>
                        <a:t>Eight-fold</a:t>
                      </a:r>
                    </a:p>
                  </a:txBody>
                  <a:tcPr marL="50292" marR="41148" marT="20116" marB="20116" anchor="ctr">
                    <a:solidFill>
                      <a:srgbClr val="FDF6E7"/>
                    </a:solidFill>
                  </a:tcPr>
                </a:tc>
              </a:tr>
              <a:tr h="310896">
                <a:tc>
                  <a:txBody>
                    <a:bodyPr/>
                    <a:lstStyle/>
                    <a:p>
                      <a:pPr>
                        <a:lnSpc>
                          <a:spcPct val="100000"/>
                        </a:lnSpc>
                      </a:pPr>
                      <a:r>
                        <a:rPr sz="850" b="0">
                          <a:solidFill>
                            <a:srgbClr val="334155"/>
                          </a:solidFill>
                          <a:latin typeface="Segoe UI"/>
                        </a:rPr>
                        <a:t>11</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Slot addressing</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A single fixed location; no concept of a slot</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Eight addressable slots</a:t>
                      </a:r>
                    </a:p>
                  </a:txBody>
                  <a:tcPr marL="50292" marR="41148" marT="20116" marB="20116" anchor="ctr">
                    <a:solidFill>
                      <a:srgbClr val="FDF6E7"/>
                    </a:solidFill>
                  </a:tcPr>
                </a:tc>
                <a:tc>
                  <a:txBody>
                    <a:bodyPr/>
                    <a:lstStyle/>
                    <a:p>
                      <a:pPr>
                        <a:lnSpc>
                          <a:spcPct val="100000"/>
                        </a:lnSpc>
                      </a:pPr>
                      <a:r>
                        <a:rPr sz="850" b="1">
                          <a:solidFill>
                            <a:srgbClr val="B47A14"/>
                          </a:solidFill>
                          <a:latin typeface="Segoe UI"/>
                        </a:rPr>
                        <a:t>New memory layout</a:t>
                      </a:r>
                    </a:p>
                  </a:txBody>
                  <a:tcPr marL="50292" marR="41148" marT="20116" marB="20116" anchor="ctr">
                    <a:solidFill>
                      <a:srgbClr val="FDF6E7"/>
                    </a:solidFill>
                  </a:tcPr>
                </a:tc>
              </a:tr>
            </a:tbl>
          </a:graphicData>
        </a:graphic>
      </p:graphicFrame>
      <p:sp>
        <p:nvSpPr>
          <p:cNvPr id="11" name="Rounded Rectangle 10"/>
          <p:cNvSpPr/>
          <p:nvPr/>
        </p:nvSpPr>
        <p:spPr>
          <a:xfrm>
            <a:off x="502920" y="4617720"/>
            <a:ext cx="5486400" cy="178308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4617720"/>
            <a:ext cx="5486400"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232" y="4773168"/>
            <a:ext cx="5074920" cy="1554480"/>
          </a:xfrm>
          <a:prstGeom prst="rect">
            <a:avLst/>
          </a:prstGeom>
          <a:noFill/>
        </p:spPr>
        <p:txBody>
          <a:bodyPr wrap="square" anchor="t" lIns="0" rIns="0" tIns="0" bIns="0">
            <a:spAutoFit/>
          </a:bodyPr>
          <a:lstStyle/>
          <a:p>
            <a:pPr algn="l">
              <a:lnSpc>
                <a:spcPct val="105000"/>
              </a:lnSpc>
              <a:spcBef>
                <a:spcPts val="0"/>
              </a:spcBef>
            </a:pPr>
            <a:r>
              <a:rPr sz="1000" b="1">
                <a:solidFill>
                  <a:srgbClr val="B47A14"/>
                </a:solidFill>
                <a:latin typeface="Segoe UI"/>
              </a:rPr>
              <a:t>MEMORY SIZING — a decision needed before board layout</a:t>
            </a:r>
          </a:p>
          <a:p>
            <a:pPr algn="l">
              <a:lnSpc>
                <a:spcPct val="105000"/>
              </a:lnSpc>
              <a:spcBef>
                <a:spcPts val="500"/>
              </a:spcBef>
            </a:pPr>
            <a:r>
              <a:rPr sz="850" b="0">
                <a:solidFill>
                  <a:srgbClr val="334155"/>
                </a:solidFill>
                <a:latin typeface="Segoe UI"/>
              </a:rPr>
              <a:t>The current design reserves up to 1 MB for a single test programme, on a memory device of 4 MB in total.</a:t>
            </a:r>
          </a:p>
          <a:p>
            <a:pPr algn="l">
              <a:lnSpc>
                <a:spcPct val="105000"/>
              </a:lnSpc>
              <a:spcBef>
                <a:spcPts val="400"/>
              </a:spcBef>
            </a:pPr>
            <a:r>
              <a:rPr sz="850" b="1">
                <a:solidFill>
                  <a:srgbClr val="334155"/>
                </a:solidFill>
                <a:latin typeface="Segoe UI"/>
              </a:rPr>
              <a:t>Eight slots at that same worst-case size would need 8 MB — more than the entire existing device.</a:t>
            </a:r>
          </a:p>
          <a:p>
            <a:pPr algn="l">
              <a:lnSpc>
                <a:spcPct val="105000"/>
              </a:lnSpc>
              <a:spcBef>
                <a:spcPts val="400"/>
              </a:spcBef>
            </a:pPr>
            <a:r>
              <a:rPr sz="850" b="0">
                <a:solidFill>
                  <a:srgbClr val="334155"/>
                </a:solidFill>
                <a:latin typeface="Segoe UI"/>
              </a:rPr>
              <a:t>We recommend measuring the size of real customer programmes before choosing, rather than providing for a theoretical maximum that may never occur.</a:t>
            </a:r>
          </a:p>
        </p:txBody>
      </p:sp>
      <p:sp>
        <p:nvSpPr>
          <p:cNvPr id="14" name="Rounded Rectangle 13"/>
          <p:cNvSpPr/>
          <p:nvPr/>
        </p:nvSpPr>
        <p:spPr>
          <a:xfrm>
            <a:off x="6199632" y="4617720"/>
            <a:ext cx="5486400" cy="178308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99632" y="4617720"/>
            <a:ext cx="5486400" cy="45720"/>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9944" y="4773168"/>
            <a:ext cx="5074920" cy="1554480"/>
          </a:xfrm>
          <a:prstGeom prst="rect">
            <a:avLst/>
          </a:prstGeom>
          <a:noFill/>
        </p:spPr>
        <p:txBody>
          <a:bodyPr wrap="square" anchor="t" lIns="0" rIns="0" tIns="0" bIns="0">
            <a:spAutoFit/>
          </a:bodyPr>
          <a:lstStyle/>
          <a:p>
            <a:pPr algn="l">
              <a:lnSpc>
                <a:spcPct val="105000"/>
              </a:lnSpc>
              <a:spcBef>
                <a:spcPts val="0"/>
              </a:spcBef>
            </a:pPr>
            <a:r>
              <a:rPr sz="1000" b="1">
                <a:solidFill>
                  <a:srgbClr val="2E6F4F"/>
                </a:solidFill>
                <a:latin typeface="Segoe UI"/>
              </a:rPr>
              <a:t>WHAT THIS BUYS US</a:t>
            </a:r>
          </a:p>
          <a:p>
            <a:pPr algn="l">
              <a:lnSpc>
                <a:spcPct val="105000"/>
              </a:lnSpc>
              <a:spcBef>
                <a:spcPts val="500"/>
              </a:spcBef>
            </a:pPr>
            <a:r>
              <a:rPr sz="850" b="0">
                <a:solidFill>
                  <a:srgbClr val="334155"/>
                </a:solidFill>
                <a:latin typeface="Segoe UI"/>
              </a:rPr>
              <a:t>Eight batteries can be loaded with eight different test sequences and started independently, from one controller with one network address.</a:t>
            </a:r>
          </a:p>
          <a:p>
            <a:pPr algn="l">
              <a:lnSpc>
                <a:spcPct val="105000"/>
              </a:lnSpc>
              <a:spcBef>
                <a:spcPts val="400"/>
              </a:spcBef>
            </a:pPr>
            <a:r>
              <a:rPr sz="850" b="0">
                <a:solidFill>
                  <a:srgbClr val="334155"/>
                </a:solidFill>
                <a:latin typeface="Segoe UI"/>
              </a:rPr>
              <a:t>The operator's workflow in the web application does not change at all.</a:t>
            </a:r>
          </a:p>
          <a:p>
            <a:pPr algn="l">
              <a:lnSpc>
                <a:spcPct val="105000"/>
              </a:lnSpc>
              <a:spcBef>
                <a:spcPts val="400"/>
              </a:spcBef>
            </a:pPr>
            <a:r>
              <a:rPr sz="850" b="1">
                <a:solidFill>
                  <a:srgbClr val="334155"/>
                </a:solidFill>
                <a:latin typeface="Segoe UI"/>
              </a:rPr>
              <a:t>The existing investment in the PC application is fully protected.</a:t>
            </a:r>
          </a:p>
        </p:txBody>
      </p:sp>
      <p:sp>
        <p:nvSpPr>
          <p:cNvPr id="17" name="Rectangle 16"/>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19" name="TextBox 18"/>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04 · FUNCTIONAL COMPARISON  (2 OF 3)</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Execution and control — the core architectural change</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Requirement areas 6, 8 and 9. This is where ownership moves from the Secondary up to the Primary.</a:t>
            </a:r>
          </a:p>
        </p:txBody>
      </p:sp>
      <p:graphicFrame>
        <p:nvGraphicFramePr>
          <p:cNvPr id="7" name="Table 6"/>
          <p:cNvGraphicFramePr>
            <a:graphicFrameLocks noGrp="1"/>
          </p:cNvGraphicFramePr>
          <p:nvPr/>
        </p:nvGraphicFramePr>
        <p:xfrm>
          <a:off x="502920" y="1234440"/>
          <a:ext cx="11183110" cy="3072384"/>
        </p:xfrm>
        <a:graphic>
          <a:graphicData uri="http://schemas.openxmlformats.org/drawingml/2006/table">
            <a:tbl>
              <a:tblPr firstRow="1">
                <a:tableStyleId>{5C22544A-7EE6-4342-B048-85BDC9FD1C3A}</a:tableStyleId>
              </a:tblPr>
              <a:tblGrid>
                <a:gridCol w="445542"/>
                <a:gridCol w="2049494"/>
                <a:gridCol w="3698001"/>
                <a:gridCol w="3118796"/>
                <a:gridCol w="1871277"/>
              </a:tblGrid>
              <a:tr h="384048">
                <a:tc>
                  <a:txBody>
                    <a:bodyPr/>
                    <a:lstStyle/>
                    <a:p>
                      <a:pPr>
                        <a:lnSpc>
                          <a:spcPct val="100000"/>
                        </a:lnSpc>
                      </a:pPr>
                      <a:r>
                        <a:rPr sz="900" b="1">
                          <a:solidFill>
                            <a:srgbClr val="FFFFFF"/>
                          </a:solidFill>
                          <a:latin typeface="Segoe UI"/>
                        </a:rPr>
                        <a:t>#</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Function</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OLD BTS   (today)</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NEW ME   (proposed)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Impact</a:t>
                      </a:r>
                    </a:p>
                  </a:txBody>
                  <a:tcPr marL="50292" marR="41148" marT="20116" marB="20116" anchor="ctr">
                    <a:solidFill>
                      <a:srgbClr val="1E3A5F"/>
                    </a:solidFill>
                  </a:tcPr>
                </a:tc>
              </a:tr>
              <a:tr h="384048">
                <a:tc>
                  <a:txBody>
                    <a:bodyPr/>
                    <a:lstStyle/>
                    <a:p>
                      <a:pPr>
                        <a:lnSpc>
                          <a:spcPct val="100000"/>
                        </a:lnSpc>
                      </a:pPr>
                      <a:r>
                        <a:rPr sz="850" b="0">
                          <a:solidFill>
                            <a:srgbClr val="334155"/>
                          </a:solidFill>
                          <a:latin typeface="Segoe UI"/>
                        </a:rPr>
                        <a:t>6</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Step interpretation</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Secondary</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PRIMARY</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Ownership moves up</a:t>
                      </a:r>
                    </a:p>
                  </a:txBody>
                  <a:tcPr marL="50292" marR="41148" marT="20116" marB="20116" anchor="ctr">
                    <a:solidFill>
                      <a:srgbClr val="FFFFFF"/>
                    </a:solidFill>
                  </a:tcPr>
                </a:tc>
              </a:tr>
              <a:tr h="384048">
                <a:tc>
                  <a:txBody>
                    <a:bodyPr/>
                    <a:lstStyle/>
                    <a:p>
                      <a:pPr>
                        <a:lnSpc>
                          <a:spcPct val="100000"/>
                        </a:lnSpc>
                      </a:pPr>
                      <a:r>
                        <a:rPr sz="850" b="0">
                          <a:solidFill>
                            <a:srgbClr val="334155"/>
                          </a:solidFill>
                          <a:latin typeface="Segoe UI"/>
                        </a:rPr>
                        <a:t>6</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Sequence execution</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Secondary</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PRIMARY</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Ownership moves up</a:t>
                      </a:r>
                    </a:p>
                  </a:txBody>
                  <a:tcPr marL="50292" marR="41148" marT="20116" marB="20116" anchor="ctr">
                    <a:solidFill>
                      <a:srgbClr val="F6F8FB"/>
                    </a:solidFill>
                  </a:tcPr>
                </a:tc>
              </a:tr>
              <a:tr h="384048">
                <a:tc>
                  <a:txBody>
                    <a:bodyPr/>
                    <a:lstStyle/>
                    <a:p>
                      <a:pPr>
                        <a:lnSpc>
                          <a:spcPct val="100000"/>
                        </a:lnSpc>
                      </a:pPr>
                      <a:r>
                        <a:rPr sz="850" b="0">
                          <a:solidFill>
                            <a:srgbClr val="334155"/>
                          </a:solidFill>
                          <a:latin typeface="Segoe UI"/>
                        </a:rPr>
                        <a:t>6</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Step dispatch model</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The Primary sends a raw step;</a:t>
                      </a:r>
                    </a:p>
                    <a:p>
                      <a:pPr>
                        <a:lnSpc>
                          <a:spcPct val="100000"/>
                        </a:lnSpc>
                      </a:pPr>
                      <a:r>
                        <a:rPr sz="850" b="0">
                          <a:solidFill>
                            <a:srgbClr val="334155"/>
                          </a:solidFill>
                          <a:latin typeface="Segoe UI"/>
                        </a:rPr>
                        <a:t>the Secondary interprets it</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The Primary interprets the step and</a:t>
                      </a:r>
                    </a:p>
                    <a:p>
                      <a:pPr>
                        <a:lnSpc>
                          <a:spcPct val="100000"/>
                        </a:lnSpc>
                      </a:pPr>
                      <a:r>
                        <a:rPr sz="850" b="0">
                          <a:solidFill>
                            <a:srgbClr val="334155"/>
                          </a:solidFill>
                          <a:latin typeface="Segoe UI"/>
                        </a:rPr>
                        <a:t>sends only the resolved targets</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The Secondary stops parsing</a:t>
                      </a:r>
                    </a:p>
                    <a:p>
                      <a:pPr>
                        <a:lnSpc>
                          <a:spcPct val="100000"/>
                        </a:lnSpc>
                      </a:pPr>
                      <a:r>
                        <a:rPr sz="850" b="0">
                          <a:solidFill>
                            <a:srgbClr val="334155"/>
                          </a:solidFill>
                          <a:latin typeface="Segoe UI"/>
                        </a:rPr>
                        <a:t>the test protocol</a:t>
                      </a:r>
                    </a:p>
                  </a:txBody>
                  <a:tcPr marL="50292" marR="41148" marT="20116" marB="20116" anchor="ctr">
                    <a:solidFill>
                      <a:srgbClr val="FFFFFF"/>
                    </a:solidFill>
                  </a:tcPr>
                </a:tc>
              </a:tr>
              <a:tr h="384048">
                <a:tc>
                  <a:txBody>
                    <a:bodyPr/>
                    <a:lstStyle/>
                    <a:p>
                      <a:pPr>
                        <a:lnSpc>
                          <a:spcPct val="100000"/>
                        </a:lnSpc>
                      </a:pPr>
                      <a:r>
                        <a:rPr sz="850" b="0">
                          <a:solidFill>
                            <a:srgbClr val="334155"/>
                          </a:solidFill>
                          <a:latin typeface="Segoe UI"/>
                        </a:rPr>
                        <a:t>9</a:t>
                      </a:r>
                    </a:p>
                  </a:txBody>
                  <a:tcPr marL="50292" marR="41148" marT="20116" marB="20116" anchor="ctr">
                    <a:solidFill>
                      <a:srgbClr val="FBE9EA"/>
                    </a:solidFill>
                  </a:tcPr>
                </a:tc>
                <a:tc>
                  <a:txBody>
                    <a:bodyPr/>
                    <a:lstStyle/>
                    <a:p>
                      <a:pPr>
                        <a:lnSpc>
                          <a:spcPct val="100000"/>
                        </a:lnSpc>
                      </a:pPr>
                      <a:r>
                        <a:rPr sz="850" b="0">
                          <a:solidFill>
                            <a:srgbClr val="334155"/>
                          </a:solidFill>
                          <a:latin typeface="Segoe UI"/>
                        </a:rPr>
                        <a:t>Cutoff monitoring</a:t>
                      </a:r>
                    </a:p>
                  </a:txBody>
                  <a:tcPr marL="50292" marR="41148" marT="20116" marB="20116" anchor="ctr">
                    <a:solidFill>
                      <a:srgbClr val="FBE9EA"/>
                    </a:solidFill>
                  </a:tcPr>
                </a:tc>
                <a:tc>
                  <a:txBody>
                    <a:bodyPr/>
                    <a:lstStyle/>
                    <a:p>
                      <a:pPr>
                        <a:lnSpc>
                          <a:spcPct val="100000"/>
                        </a:lnSpc>
                      </a:pPr>
                      <a:r>
                        <a:rPr sz="850" b="0">
                          <a:solidFill>
                            <a:srgbClr val="334155"/>
                          </a:solidFill>
                          <a:latin typeface="Segoe UI"/>
                        </a:rPr>
                        <a:t>Secondary, locally, about every 1 ms</a:t>
                      </a:r>
                    </a:p>
                  </a:txBody>
                  <a:tcPr marL="50292" marR="41148" marT="20116" marB="20116" anchor="ctr">
                    <a:solidFill>
                      <a:srgbClr val="FBE9EA"/>
                    </a:solidFill>
                  </a:tcPr>
                </a:tc>
                <a:tc>
                  <a:txBody>
                    <a:bodyPr/>
                    <a:lstStyle/>
                    <a:p>
                      <a:pPr>
                        <a:lnSpc>
                          <a:spcPct val="100000"/>
                        </a:lnSpc>
                      </a:pPr>
                      <a:r>
                        <a:rPr sz="850" b="0">
                          <a:solidFill>
                            <a:srgbClr val="334155"/>
                          </a:solidFill>
                          <a:latin typeface="Segoe UI"/>
                        </a:rPr>
                        <a:t>PRIMARY, using data received over the bus</a:t>
                      </a:r>
                    </a:p>
                  </a:txBody>
                  <a:tcPr marL="50292" marR="41148" marT="20116" marB="20116" anchor="ctr">
                    <a:solidFill>
                      <a:srgbClr val="FBE9EA"/>
                    </a:solidFill>
                  </a:tcPr>
                </a:tc>
                <a:tc>
                  <a:txBody>
                    <a:bodyPr/>
                    <a:lstStyle/>
                    <a:p>
                      <a:pPr>
                        <a:lnSpc>
                          <a:spcPct val="100000"/>
                        </a:lnSpc>
                      </a:pPr>
                      <a:r>
                        <a:rPr sz="850" b="1">
                          <a:solidFill>
                            <a:srgbClr val="9B2C35"/>
                          </a:solidFill>
                          <a:latin typeface="Segoe UI"/>
                        </a:rPr>
                        <a:t>Reaction time increases</a:t>
                      </a:r>
                    </a:p>
                    <a:p>
                      <a:pPr>
                        <a:lnSpc>
                          <a:spcPct val="100000"/>
                        </a:lnSpc>
                      </a:pPr>
                      <a:r>
                        <a:rPr sz="850" b="1">
                          <a:solidFill>
                            <a:srgbClr val="9B2C35"/>
                          </a:solidFill>
                          <a:latin typeface="Segoe UI"/>
                        </a:rPr>
                        <a:t>— see slide 16</a:t>
                      </a:r>
                    </a:p>
                  </a:txBody>
                  <a:tcPr marL="50292" marR="41148" marT="20116" marB="20116" anchor="ctr">
                    <a:solidFill>
                      <a:srgbClr val="FBE9EA"/>
                    </a:solidFill>
                  </a:tcPr>
                </a:tc>
              </a:tr>
              <a:tr h="384048">
                <a:tc>
                  <a:txBody>
                    <a:bodyPr/>
                    <a:lstStyle/>
                    <a:p>
                      <a:pPr>
                        <a:lnSpc>
                          <a:spcPct val="100000"/>
                        </a:lnSpc>
                      </a:pPr>
                      <a:r>
                        <a:rPr sz="850" b="0">
                          <a:solidFill>
                            <a:srgbClr val="334155"/>
                          </a:solidFill>
                          <a:latin typeface="Segoe UI"/>
                        </a:rPr>
                        <a:t>9</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Recording rate control</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Secondary</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PRIMARY</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Ownership moves up</a:t>
                      </a:r>
                    </a:p>
                  </a:txBody>
                  <a:tcPr marL="50292" marR="41148" marT="20116" marB="20116" anchor="ctr">
                    <a:solidFill>
                      <a:srgbClr val="FFFFFF"/>
                    </a:solidFill>
                  </a:tcPr>
                </a:tc>
              </a:tr>
              <a:tr h="384048">
                <a:tc>
                  <a:txBody>
                    <a:bodyPr/>
                    <a:lstStyle/>
                    <a:p>
                      <a:pPr>
                        <a:lnSpc>
                          <a:spcPct val="100000"/>
                        </a:lnSpc>
                      </a:pPr>
                      <a:r>
                        <a:rPr sz="850" b="0">
                          <a:solidFill>
                            <a:srgbClr val="334155"/>
                          </a:solidFill>
                          <a:latin typeface="Segoe UI"/>
                        </a:rPr>
                        <a:t>8</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Secondary responsibility</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A complete test engine: step interpretation,</a:t>
                      </a:r>
                    </a:p>
                    <a:p>
                      <a:pPr>
                        <a:lnSpc>
                          <a:spcPct val="100000"/>
                        </a:lnSpc>
                      </a:pPr>
                      <a:r>
                        <a:rPr sz="850" b="0">
                          <a:solidFill>
                            <a:srgbClr val="334155"/>
                          </a:solidFill>
                          <a:latin typeface="Segoe UI"/>
                        </a:rPr>
                        <a:t>cutoffs, cycles, jumps, calibration, regulation</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Regulate to a received target and</a:t>
                      </a:r>
                    </a:p>
                    <a:p>
                      <a:pPr>
                        <a:lnSpc>
                          <a:spcPct val="100000"/>
                        </a:lnSpc>
                      </a:pPr>
                      <a:r>
                        <a:rPr sz="850" b="0">
                          <a:solidFill>
                            <a:srgbClr val="334155"/>
                          </a:solidFill>
                          <a:latin typeface="Segoe UI"/>
                        </a:rPr>
                        <a:t>report measurements</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Scope greatly reduced</a:t>
                      </a:r>
                    </a:p>
                  </a:txBody>
                  <a:tcPr marL="50292" marR="41148" marT="20116" marB="20116" anchor="ctr">
                    <a:solidFill>
                      <a:srgbClr val="F6F8FB"/>
                    </a:solidFill>
                  </a:tcPr>
                </a:tc>
              </a:tr>
              <a:tr h="384048">
                <a:tc>
                  <a:txBody>
                    <a:bodyPr/>
                    <a:lstStyle/>
                    <a:p>
                      <a:pPr>
                        <a:lnSpc>
                          <a:spcPct val="100000"/>
                        </a:lnSpc>
                      </a:pPr>
                      <a:r>
                        <a:rPr sz="850" b="0">
                          <a:solidFill>
                            <a:srgbClr val="334155"/>
                          </a:solidFill>
                          <a:latin typeface="Segoe UI"/>
                        </a:rPr>
                        <a:t>—</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Regulation loop</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Runs every 1 ms on the Secondary</a:t>
                      </a:r>
                    </a:p>
                  </a:txBody>
                  <a:tcPr marL="50292" marR="41148" marT="20116" marB="20116" anchor="ctr">
                    <a:solidFill>
                      <a:srgbClr val="FDF6E7"/>
                    </a:solidFill>
                  </a:tcPr>
                </a:tc>
                <a:tc>
                  <a:txBody>
                    <a:bodyPr/>
                    <a:lstStyle/>
                    <a:p>
                      <a:pPr>
                        <a:lnSpc>
                          <a:spcPct val="100000"/>
                        </a:lnSpc>
                      </a:pPr>
                      <a:r>
                        <a:rPr sz="850" b="0">
                          <a:solidFill>
                            <a:srgbClr val="334155"/>
                          </a:solidFill>
                          <a:latin typeface="Segoe UI"/>
                        </a:rPr>
                        <a:t>MUST remain every 1 ms on the Secondary</a:t>
                      </a:r>
                    </a:p>
                  </a:txBody>
                  <a:tcPr marL="50292" marR="41148" marT="20116" marB="20116" anchor="ctr">
                    <a:solidFill>
                      <a:srgbClr val="FDF6E7"/>
                    </a:solidFill>
                  </a:tcPr>
                </a:tc>
                <a:tc>
                  <a:txBody>
                    <a:bodyPr/>
                    <a:lstStyle/>
                    <a:p>
                      <a:pPr>
                        <a:lnSpc>
                          <a:spcPct val="100000"/>
                        </a:lnSpc>
                      </a:pPr>
                      <a:r>
                        <a:rPr sz="850" b="1">
                          <a:solidFill>
                            <a:srgbClr val="B47A14"/>
                          </a:solidFill>
                          <a:latin typeface="Segoe UI"/>
                        </a:rPr>
                        <a:t>Condition A — do not move</a:t>
                      </a:r>
                    </a:p>
                    <a:p>
                      <a:pPr>
                        <a:lnSpc>
                          <a:spcPct val="100000"/>
                        </a:lnSpc>
                      </a:pPr>
                      <a:r>
                        <a:rPr sz="850" b="1">
                          <a:solidFill>
                            <a:srgbClr val="B47A14"/>
                          </a:solidFill>
                          <a:latin typeface="Segoe UI"/>
                        </a:rPr>
                        <a:t>it across the bus</a:t>
                      </a:r>
                    </a:p>
                  </a:txBody>
                  <a:tcPr marL="50292" marR="41148" marT="20116" marB="20116" anchor="ctr">
                    <a:solidFill>
                      <a:srgbClr val="FDF6E7"/>
                    </a:solidFill>
                  </a:tcPr>
                </a:tc>
              </a:tr>
            </a:tbl>
          </a:graphicData>
        </a:graphic>
      </p:graphicFrame>
      <p:sp>
        <p:nvSpPr>
          <p:cNvPr id="8" name="Rounded Rectangle 7"/>
          <p:cNvSpPr/>
          <p:nvPr/>
        </p:nvSpPr>
        <p:spPr>
          <a:xfrm>
            <a:off x="502920" y="4617720"/>
            <a:ext cx="5486400" cy="178308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02920" y="4617720"/>
            <a:ext cx="5486400" cy="45720"/>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4773168"/>
            <a:ext cx="5074920" cy="1554480"/>
          </a:xfrm>
          <a:prstGeom prst="rect">
            <a:avLst/>
          </a:prstGeom>
          <a:noFill/>
        </p:spPr>
        <p:txBody>
          <a:bodyPr wrap="square" anchor="t" lIns="0" rIns="0" tIns="0" bIns="0">
            <a:spAutoFit/>
          </a:bodyPr>
          <a:lstStyle/>
          <a:p>
            <a:pPr algn="l">
              <a:lnSpc>
                <a:spcPct val="105000"/>
              </a:lnSpc>
              <a:spcBef>
                <a:spcPts val="0"/>
              </a:spcBef>
            </a:pPr>
            <a:r>
              <a:rPr sz="1000" b="1">
                <a:solidFill>
                  <a:srgbClr val="2E6F4F"/>
                </a:solidFill>
                <a:latin typeface="Segoe UI"/>
              </a:rPr>
              <a:t>WHAT WE GAIN</a:t>
            </a:r>
          </a:p>
          <a:p>
            <a:pPr algn="l">
              <a:lnSpc>
                <a:spcPct val="105000"/>
              </a:lnSpc>
              <a:spcBef>
                <a:spcPts val="500"/>
              </a:spcBef>
            </a:pPr>
            <a:r>
              <a:rPr sz="850" b="0">
                <a:solidFill>
                  <a:srgbClr val="334155"/>
                </a:solidFill>
                <a:latin typeface="Segoe UI"/>
              </a:rPr>
              <a:t>One place to change test logic. New operators, new cutoff types and corrections all become a Primary release.</a:t>
            </a:r>
          </a:p>
          <a:p>
            <a:pPr algn="l">
              <a:lnSpc>
                <a:spcPct val="105000"/>
              </a:lnSpc>
              <a:spcBef>
                <a:spcPts val="400"/>
              </a:spcBef>
            </a:pPr>
            <a:r>
              <a:rPr sz="850" b="0">
                <a:solidFill>
                  <a:srgbClr val="334155"/>
                </a:solidFill>
                <a:latin typeface="Segoe UI"/>
              </a:rPr>
              <a:t>The Secondary loses step interpretation, test-logic cutoffs and the cycle engine. Smaller firmware is easier to test and easier to trust.</a:t>
            </a:r>
          </a:p>
          <a:p>
            <a:pPr algn="l">
              <a:lnSpc>
                <a:spcPct val="105000"/>
              </a:lnSpc>
              <a:spcBef>
                <a:spcPts val="400"/>
              </a:spcBef>
            </a:pPr>
            <a:r>
              <a:rPr sz="850" b="1">
                <a:solidFill>
                  <a:srgbClr val="334155"/>
                </a:solidFill>
                <a:latin typeface="Segoe UI"/>
              </a:rPr>
              <a:t>Installed Secondaries no longer need re-programming when test logic changes.</a:t>
            </a:r>
          </a:p>
        </p:txBody>
      </p:sp>
      <p:sp>
        <p:nvSpPr>
          <p:cNvPr id="11" name="Rounded Rectangle 10"/>
          <p:cNvSpPr/>
          <p:nvPr/>
        </p:nvSpPr>
        <p:spPr>
          <a:xfrm>
            <a:off x="6199632" y="4617720"/>
            <a:ext cx="5486400" cy="1783080"/>
          </a:xfrm>
          <a:prstGeom prst="roundRect">
            <a:avLst>
              <a:gd name="adj" fmla="val 6000"/>
            </a:avLst>
          </a:prstGeom>
          <a:solidFill>
            <a:srgbClr val="FBE9EA"/>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99632" y="4617720"/>
            <a:ext cx="5486400" cy="4572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9944" y="4773168"/>
            <a:ext cx="5074920" cy="1554480"/>
          </a:xfrm>
          <a:prstGeom prst="rect">
            <a:avLst/>
          </a:prstGeom>
          <a:noFill/>
        </p:spPr>
        <p:txBody>
          <a:bodyPr wrap="square" anchor="t" lIns="0" rIns="0" tIns="0" bIns="0">
            <a:spAutoFit/>
          </a:bodyPr>
          <a:lstStyle/>
          <a:p>
            <a:pPr algn="l">
              <a:lnSpc>
                <a:spcPct val="105000"/>
              </a:lnSpc>
              <a:spcBef>
                <a:spcPts val="0"/>
              </a:spcBef>
            </a:pPr>
            <a:r>
              <a:rPr sz="1000" b="1">
                <a:solidFill>
                  <a:srgbClr val="9B2C35"/>
                </a:solidFill>
                <a:latin typeface="Segoe UI"/>
              </a:rPr>
              <a:t>WHAT WE MUST PAY FOR</a:t>
            </a:r>
          </a:p>
          <a:p>
            <a:pPr algn="l">
              <a:lnSpc>
                <a:spcPct val="105000"/>
              </a:lnSpc>
              <a:spcBef>
                <a:spcPts val="500"/>
              </a:spcBef>
            </a:pPr>
            <a:r>
              <a:rPr sz="850" b="0">
                <a:solidFill>
                  <a:srgbClr val="334155"/>
                </a:solidFill>
                <a:latin typeface="Segoe UI"/>
              </a:rPr>
              <a:t>Cutoff reaction slows from about 1 ms locally to about 10 ms across the bus. Acceptable for test logic, but not for protection.</a:t>
            </a:r>
          </a:p>
          <a:p>
            <a:pPr algn="l">
              <a:lnSpc>
                <a:spcPct val="105000"/>
              </a:lnSpc>
              <a:spcBef>
                <a:spcPts val="400"/>
              </a:spcBef>
            </a:pPr>
            <a:r>
              <a:rPr sz="850" b="0">
                <a:solidFill>
                  <a:srgbClr val="334155"/>
                </a:solidFill>
                <a:latin typeface="Segoe UI"/>
              </a:rPr>
              <a:t>A single Primary fault now affects eight channels instead of one.</a:t>
            </a:r>
          </a:p>
          <a:p>
            <a:pPr algn="l">
              <a:lnSpc>
                <a:spcPct val="105000"/>
              </a:lnSpc>
              <a:spcBef>
                <a:spcPts val="400"/>
              </a:spcBef>
            </a:pPr>
            <a:r>
              <a:rPr sz="850" b="1">
                <a:solidFill>
                  <a:srgbClr val="334155"/>
                </a:solidFill>
                <a:latin typeface="Segoe UI"/>
              </a:rPr>
              <a:t>Both are manageable — Conditions A and B — but neither is free. See the risk register.</a:t>
            </a:r>
          </a:p>
        </p:txBody>
      </p:sp>
      <p:sp>
        <p:nvSpPr>
          <p:cNvPr id="14" name="Rectangle 13"/>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16" name="TextBox 15"/>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04 · FUNCTIONAL COMPARISON  (3 OF 3)</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Communication, measurement reporting and scale</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Requirement areas 7, 9, 10 and 12, together with the resulting scale factors.</a:t>
            </a:r>
          </a:p>
        </p:txBody>
      </p:sp>
      <p:graphicFrame>
        <p:nvGraphicFramePr>
          <p:cNvPr id="7" name="Table 6"/>
          <p:cNvGraphicFramePr>
            <a:graphicFrameLocks noGrp="1"/>
          </p:cNvGraphicFramePr>
          <p:nvPr/>
        </p:nvGraphicFramePr>
        <p:xfrm>
          <a:off x="502920" y="1234440"/>
          <a:ext cx="11183110" cy="1755648"/>
        </p:xfrm>
        <a:graphic>
          <a:graphicData uri="http://schemas.openxmlformats.org/drawingml/2006/table">
            <a:tbl>
              <a:tblPr firstRow="1">
                <a:tableStyleId>{5C22544A-7EE6-4342-B048-85BDC9FD1C3A}</a:tableStyleId>
              </a:tblPr>
              <a:tblGrid>
                <a:gridCol w="445542"/>
                <a:gridCol w="2049494"/>
                <a:gridCol w="3742555"/>
                <a:gridCol w="3118796"/>
                <a:gridCol w="1826723"/>
              </a:tblGrid>
              <a:tr h="292608">
                <a:tc>
                  <a:txBody>
                    <a:bodyPr/>
                    <a:lstStyle/>
                    <a:p>
                      <a:pPr>
                        <a:lnSpc>
                          <a:spcPct val="100000"/>
                        </a:lnSpc>
                      </a:pPr>
                      <a:r>
                        <a:rPr sz="900" b="1">
                          <a:solidFill>
                            <a:srgbClr val="FFFFFF"/>
                          </a:solidFill>
                          <a:latin typeface="Segoe UI"/>
                        </a:rPr>
                        <a:t>#</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Function</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OLD BTS   (today)</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NEW ME   (proposed)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Impact</a:t>
                      </a:r>
                    </a:p>
                  </a:txBody>
                  <a:tcPr marL="50292" marR="41148" marT="20116" marB="20116" anchor="ctr">
                    <a:solidFill>
                      <a:srgbClr val="1E3A5F"/>
                    </a:solidFill>
                  </a:tcPr>
                </a:tc>
              </a:tr>
              <a:tr h="292608">
                <a:tc>
                  <a:txBody>
                    <a:bodyPr/>
                    <a:lstStyle/>
                    <a:p>
                      <a:pPr>
                        <a:lnSpc>
                          <a:spcPct val="100000"/>
                        </a:lnSpc>
                      </a:pPr>
                      <a:r>
                        <a:rPr sz="850" b="0">
                          <a:solidFill>
                            <a:srgbClr val="334155"/>
                          </a:solidFill>
                          <a:latin typeface="Segoe UI"/>
                        </a:rPr>
                        <a:t>7</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Primary to Secondary</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A dedicated wired link, one Secondary per link</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CAN, shared by up to eight nodes</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Topology change</a:t>
                      </a:r>
                    </a:p>
                  </a:txBody>
                  <a:tcPr marL="50292" marR="41148" marT="20116" marB="20116" anchor="ctr">
                    <a:solidFill>
                      <a:srgbClr val="FFFFFF"/>
                    </a:solidFill>
                  </a:tcPr>
                </a:tc>
              </a:tr>
              <a:tr h="292608">
                <a:tc>
                  <a:txBody>
                    <a:bodyPr/>
                    <a:lstStyle/>
                    <a:p>
                      <a:pPr>
                        <a:lnSpc>
                          <a:spcPct val="100000"/>
                        </a:lnSpc>
                      </a:pPr>
                      <a:r>
                        <a:rPr sz="850" b="0">
                          <a:solidFill>
                            <a:srgbClr val="334155"/>
                          </a:solidFill>
                          <a:latin typeface="Segoe UI"/>
                        </a:rPr>
                        <a:t>9</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Secondary to Primary</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A second dedicated wired link</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The same shared bus</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Capacity is now shared</a:t>
                      </a:r>
                    </a:p>
                  </a:txBody>
                  <a:tcPr marL="50292" marR="41148" marT="20116" marB="20116" anchor="ctr">
                    <a:solidFill>
                      <a:srgbClr val="F6F8FB"/>
                    </a:solidFill>
                  </a:tcPr>
                </a:tc>
              </a:tr>
              <a:tr h="292608">
                <a:tc>
                  <a:txBody>
                    <a:bodyPr/>
                    <a:lstStyle/>
                    <a:p>
                      <a:pPr>
                        <a:lnSpc>
                          <a:spcPct val="100000"/>
                        </a:lnSpc>
                      </a:pPr>
                      <a:r>
                        <a:rPr sz="850" b="0">
                          <a:solidFill>
                            <a:srgbClr val="334155"/>
                          </a:solidFill>
                          <a:latin typeface="Segoe UI"/>
                        </a:rPr>
                        <a:t>7</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Message content</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The complete encoded step</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Only the essential values: target current and voltage</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Greatly simplified</a:t>
                      </a:r>
                    </a:p>
                  </a:txBody>
                  <a:tcPr marL="50292" marR="41148" marT="20116" marB="20116" anchor="ctr">
                    <a:solidFill>
                      <a:srgbClr val="FFFFFF"/>
                    </a:solidFill>
                  </a:tcPr>
                </a:tc>
              </a:tr>
              <a:tr h="292608">
                <a:tc>
                  <a:txBody>
                    <a:bodyPr/>
                    <a:lstStyle/>
                    <a:p>
                      <a:pPr>
                        <a:lnSpc>
                          <a:spcPct val="100000"/>
                        </a:lnSpc>
                      </a:pPr>
                      <a:r>
                        <a:rPr sz="850" b="0">
                          <a:solidFill>
                            <a:srgbClr val="334155"/>
                          </a:solidFill>
                          <a:latin typeface="Segoe UI"/>
                        </a:rPr>
                        <a:t>10</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Node addressing</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Implicit — one Secondary per link</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An explicit address per node, eight in total</a:t>
                      </a:r>
                    </a:p>
                  </a:txBody>
                  <a:tcPr marL="50292" marR="41148" marT="20116" marB="20116" anchor="ctr">
                    <a:solidFill>
                      <a:srgbClr val="F6F8FB"/>
                    </a:solidFill>
                  </a:tcPr>
                </a:tc>
                <a:tc>
                  <a:txBody>
                    <a:bodyPr/>
                    <a:lstStyle/>
                    <a:p>
                      <a:pPr>
                        <a:lnSpc>
                          <a:spcPct val="100000"/>
                        </a:lnSpc>
                      </a:pPr>
                      <a:r>
                        <a:rPr sz="850" b="0">
                          <a:solidFill>
                            <a:srgbClr val="334155"/>
                          </a:solidFill>
                          <a:latin typeface="Segoe UI"/>
                        </a:rPr>
                        <a:t>New addressing scheme</a:t>
                      </a:r>
                    </a:p>
                  </a:txBody>
                  <a:tcPr marL="50292" marR="41148" marT="20116" marB="20116" anchor="ctr">
                    <a:solidFill>
                      <a:srgbClr val="F6F8FB"/>
                    </a:solidFill>
                  </a:tcPr>
                </a:tc>
              </a:tr>
              <a:tr h="292608">
                <a:tc>
                  <a:txBody>
                    <a:bodyPr/>
                    <a:lstStyle/>
                    <a:p>
                      <a:pPr>
                        <a:lnSpc>
                          <a:spcPct val="100000"/>
                        </a:lnSpc>
                      </a:pPr>
                      <a:r>
                        <a:rPr sz="850" b="0">
                          <a:solidFill>
                            <a:srgbClr val="334155"/>
                          </a:solidFill>
                          <a:latin typeface="Segoe UI"/>
                        </a:rPr>
                        <a:t>12</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Primary to Web Application</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Live and session data over the network</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Unchanged</a:t>
                      </a:r>
                    </a:p>
                  </a:txBody>
                  <a:tcPr marL="50292" marR="41148" marT="20116" marB="20116" anchor="ctr">
                    <a:solidFill>
                      <a:srgbClr val="FFFFFF"/>
                    </a:solidFill>
                  </a:tcPr>
                </a:tc>
                <a:tc>
                  <a:txBody>
                    <a:bodyPr/>
                    <a:lstStyle/>
                    <a:p>
                      <a:pPr>
                        <a:lnSpc>
                          <a:spcPct val="100000"/>
                        </a:lnSpc>
                      </a:pPr>
                      <a:r>
                        <a:rPr sz="850" b="0">
                          <a:solidFill>
                            <a:srgbClr val="334155"/>
                          </a:solidFill>
                          <a:latin typeface="Segoe UI"/>
                        </a:rPr>
                        <a:t>No protocol change, but eight times the volume</a:t>
                      </a:r>
                    </a:p>
                  </a:txBody>
                  <a:tcPr marL="50292" marR="41148" marT="20116" marB="20116" anchor="ctr">
                    <a:solidFill>
                      <a:srgbClr val="FFFFFF"/>
                    </a:solidFill>
                  </a:tcPr>
                </a:tc>
              </a:tr>
            </a:tbl>
          </a:graphicData>
        </a:graphic>
      </p:graphicFrame>
      <p:sp>
        <p:nvSpPr>
          <p:cNvPr id="8" name="TextBox 7"/>
          <p:cNvSpPr txBox="1"/>
          <p:nvPr/>
        </p:nvSpPr>
        <p:spPr>
          <a:xfrm>
            <a:off x="502920" y="3182112"/>
            <a:ext cx="5486400" cy="256032"/>
          </a:xfrm>
          <a:prstGeom prst="rect">
            <a:avLst/>
          </a:prstGeom>
          <a:noFill/>
        </p:spPr>
        <p:txBody>
          <a:bodyPr wrap="square" anchor="t" lIns="18288" rIns="18288" tIns="0" bIns="0">
            <a:spAutoFit/>
          </a:bodyPr>
          <a:lstStyle/>
          <a:p>
            <a:pPr algn="l">
              <a:lnSpc>
                <a:spcPct val="100000"/>
              </a:lnSpc>
            </a:pPr>
            <a:r>
              <a:rPr sz="950" b="1" i="0">
                <a:solidFill>
                  <a:srgbClr val="142A47"/>
                </a:solidFill>
                <a:latin typeface="Segoe UI"/>
              </a:rPr>
              <a:t>RESULTING SCALE FACTORS</a:t>
            </a:r>
          </a:p>
        </p:txBody>
      </p:sp>
      <p:sp>
        <p:nvSpPr>
          <p:cNvPr id="9" name="Rounded Rectangle 8"/>
          <p:cNvSpPr/>
          <p:nvPr/>
        </p:nvSpPr>
        <p:spPr>
          <a:xfrm>
            <a:off x="502920" y="3493008"/>
            <a:ext cx="2139696" cy="157276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02920" y="3493008"/>
            <a:ext cx="2139696" cy="4572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2648" y="3602736"/>
            <a:ext cx="1920239" cy="420624"/>
          </a:xfrm>
          <a:prstGeom prst="rect">
            <a:avLst/>
          </a:prstGeom>
          <a:noFill/>
        </p:spPr>
        <p:txBody>
          <a:bodyPr wrap="square" anchor="t" lIns="18288" rIns="18288" tIns="0" bIns="0">
            <a:spAutoFit/>
          </a:bodyPr>
          <a:lstStyle/>
          <a:p>
            <a:pPr algn="ctr">
              <a:lnSpc>
                <a:spcPct val="110000"/>
              </a:lnSpc>
            </a:pPr>
            <a:r>
              <a:rPr sz="850" b="1" i="0">
                <a:solidFill>
                  <a:srgbClr val="64748B"/>
                </a:solidFill>
                <a:latin typeface="Segoe UI"/>
              </a:rPr>
              <a:t>Secondaries</a:t>
            </a:r>
          </a:p>
          <a:p>
            <a:pPr algn="ctr">
              <a:lnSpc>
                <a:spcPct val="110000"/>
              </a:lnSpc>
            </a:pPr>
            <a:r>
              <a:rPr sz="850" b="1" i="0">
                <a:solidFill>
                  <a:srgbClr val="64748B"/>
                </a:solidFill>
                <a:latin typeface="Segoe UI"/>
              </a:rPr>
              <a:t>per Primary</a:t>
            </a:r>
          </a:p>
        </p:txBody>
      </p:sp>
      <p:sp>
        <p:nvSpPr>
          <p:cNvPr id="12" name="TextBox 11"/>
          <p:cNvSpPr txBox="1"/>
          <p:nvPr/>
        </p:nvSpPr>
        <p:spPr>
          <a:xfrm>
            <a:off x="612648"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8A3A48"/>
                </a:solidFill>
                <a:latin typeface="Segoe UI Light"/>
              </a:rPr>
              <a:t>1</a:t>
            </a:r>
          </a:p>
        </p:txBody>
      </p:sp>
      <p:sp>
        <p:nvSpPr>
          <p:cNvPr id="13" name="TextBox 12"/>
          <p:cNvSpPr txBox="1"/>
          <p:nvPr/>
        </p:nvSpPr>
        <p:spPr>
          <a:xfrm>
            <a:off x="612648"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OLD</a:t>
            </a:r>
          </a:p>
        </p:txBody>
      </p:sp>
      <p:sp>
        <p:nvSpPr>
          <p:cNvPr id="14" name="Rectangle 13"/>
          <p:cNvSpPr/>
          <p:nvPr/>
        </p:nvSpPr>
        <p:spPr>
          <a:xfrm>
            <a:off x="1563624" y="4078224"/>
            <a:ext cx="18288" cy="56692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246B4D"/>
                </a:solidFill>
                <a:latin typeface="Segoe UI Light"/>
              </a:rPr>
              <a:t>8</a:t>
            </a:r>
          </a:p>
        </p:txBody>
      </p:sp>
      <p:sp>
        <p:nvSpPr>
          <p:cNvPr id="16" name="TextBox 15"/>
          <p:cNvSpPr txBox="1"/>
          <p:nvPr/>
        </p:nvSpPr>
        <p:spPr>
          <a:xfrm>
            <a:off x="1618488"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ME</a:t>
            </a:r>
          </a:p>
        </p:txBody>
      </p:sp>
      <p:sp>
        <p:nvSpPr>
          <p:cNvPr id="17" name="Rounded Rectangle 16"/>
          <p:cNvSpPr/>
          <p:nvPr/>
        </p:nvSpPr>
        <p:spPr>
          <a:xfrm>
            <a:off x="886968" y="4700016"/>
            <a:ext cx="1371600" cy="256032"/>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50" b="1">
                <a:solidFill>
                  <a:srgbClr val="FFFFFF"/>
                </a:solidFill>
                <a:latin typeface="Segoe UI"/>
              </a:rPr>
              <a:t>8 ×</a:t>
            </a:r>
          </a:p>
        </p:txBody>
      </p:sp>
      <p:sp>
        <p:nvSpPr>
          <p:cNvPr id="18" name="Rounded Rectangle 17"/>
          <p:cNvSpPr/>
          <p:nvPr/>
        </p:nvSpPr>
        <p:spPr>
          <a:xfrm>
            <a:off x="2761487" y="3493008"/>
            <a:ext cx="2139696" cy="157276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761487" y="3493008"/>
            <a:ext cx="2139696" cy="4572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871215" y="3602736"/>
            <a:ext cx="1920239" cy="420624"/>
          </a:xfrm>
          <a:prstGeom prst="rect">
            <a:avLst/>
          </a:prstGeom>
          <a:noFill/>
        </p:spPr>
        <p:txBody>
          <a:bodyPr wrap="square" anchor="t" lIns="18288" rIns="18288" tIns="0" bIns="0">
            <a:spAutoFit/>
          </a:bodyPr>
          <a:lstStyle/>
          <a:p>
            <a:pPr algn="ctr">
              <a:lnSpc>
                <a:spcPct val="110000"/>
              </a:lnSpc>
            </a:pPr>
            <a:r>
              <a:rPr sz="850" b="1" i="0">
                <a:solidFill>
                  <a:srgbClr val="64748B"/>
                </a:solidFill>
                <a:latin typeface="Segoe UI"/>
              </a:rPr>
              <a:t>Stored</a:t>
            </a:r>
          </a:p>
          <a:p>
            <a:pPr algn="ctr">
              <a:lnSpc>
                <a:spcPct val="110000"/>
              </a:lnSpc>
            </a:pPr>
            <a:r>
              <a:rPr sz="850" b="1" i="0">
                <a:solidFill>
                  <a:srgbClr val="64748B"/>
                </a:solidFill>
                <a:latin typeface="Segoe UI"/>
              </a:rPr>
              <a:t>sequences</a:t>
            </a:r>
          </a:p>
        </p:txBody>
      </p:sp>
      <p:sp>
        <p:nvSpPr>
          <p:cNvPr id="21" name="TextBox 20"/>
          <p:cNvSpPr txBox="1"/>
          <p:nvPr/>
        </p:nvSpPr>
        <p:spPr>
          <a:xfrm>
            <a:off x="2871215"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8A3A48"/>
                </a:solidFill>
                <a:latin typeface="Segoe UI Light"/>
              </a:rPr>
              <a:t>1</a:t>
            </a:r>
          </a:p>
        </p:txBody>
      </p:sp>
      <p:sp>
        <p:nvSpPr>
          <p:cNvPr id="22" name="TextBox 21"/>
          <p:cNvSpPr txBox="1"/>
          <p:nvPr/>
        </p:nvSpPr>
        <p:spPr>
          <a:xfrm>
            <a:off x="2871215"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OLD</a:t>
            </a:r>
          </a:p>
        </p:txBody>
      </p:sp>
      <p:sp>
        <p:nvSpPr>
          <p:cNvPr id="23" name="Rectangle 22"/>
          <p:cNvSpPr/>
          <p:nvPr/>
        </p:nvSpPr>
        <p:spPr>
          <a:xfrm>
            <a:off x="3822191" y="4078224"/>
            <a:ext cx="18288" cy="56692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77055"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246B4D"/>
                </a:solidFill>
                <a:latin typeface="Segoe UI Light"/>
              </a:rPr>
              <a:t>8</a:t>
            </a:r>
          </a:p>
        </p:txBody>
      </p:sp>
      <p:sp>
        <p:nvSpPr>
          <p:cNvPr id="25" name="TextBox 24"/>
          <p:cNvSpPr txBox="1"/>
          <p:nvPr/>
        </p:nvSpPr>
        <p:spPr>
          <a:xfrm>
            <a:off x="3877055"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ME</a:t>
            </a:r>
          </a:p>
        </p:txBody>
      </p:sp>
      <p:sp>
        <p:nvSpPr>
          <p:cNvPr id="26" name="Rounded Rectangle 25"/>
          <p:cNvSpPr/>
          <p:nvPr/>
        </p:nvSpPr>
        <p:spPr>
          <a:xfrm>
            <a:off x="3145535" y="4700016"/>
            <a:ext cx="1371600" cy="256032"/>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50" b="1">
                <a:solidFill>
                  <a:srgbClr val="FFFFFF"/>
                </a:solidFill>
                <a:latin typeface="Segoe UI"/>
              </a:rPr>
              <a:t>8 ×</a:t>
            </a:r>
          </a:p>
        </p:txBody>
      </p:sp>
      <p:sp>
        <p:nvSpPr>
          <p:cNvPr id="27" name="Rounded Rectangle 26"/>
          <p:cNvSpPr/>
          <p:nvPr/>
        </p:nvSpPr>
        <p:spPr>
          <a:xfrm>
            <a:off x="5020055" y="3493008"/>
            <a:ext cx="2139696" cy="157276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020055" y="3493008"/>
            <a:ext cx="2139696" cy="4572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9783" y="3602736"/>
            <a:ext cx="1920239" cy="420624"/>
          </a:xfrm>
          <a:prstGeom prst="rect">
            <a:avLst/>
          </a:prstGeom>
          <a:noFill/>
        </p:spPr>
        <p:txBody>
          <a:bodyPr wrap="square" anchor="t" lIns="18288" rIns="18288" tIns="0" bIns="0">
            <a:spAutoFit/>
          </a:bodyPr>
          <a:lstStyle/>
          <a:p>
            <a:pPr algn="ctr">
              <a:lnSpc>
                <a:spcPct val="110000"/>
              </a:lnSpc>
            </a:pPr>
            <a:r>
              <a:rPr sz="850" b="1" i="0">
                <a:solidFill>
                  <a:srgbClr val="64748B"/>
                </a:solidFill>
                <a:latin typeface="Segoe UI"/>
              </a:rPr>
              <a:t>Concurrent</a:t>
            </a:r>
          </a:p>
          <a:p>
            <a:pPr algn="ctr">
              <a:lnSpc>
                <a:spcPct val="110000"/>
              </a:lnSpc>
            </a:pPr>
            <a:r>
              <a:rPr sz="850" b="1" i="0">
                <a:solidFill>
                  <a:srgbClr val="64748B"/>
                </a:solidFill>
                <a:latin typeface="Segoe UI"/>
              </a:rPr>
              <a:t>test channels</a:t>
            </a:r>
          </a:p>
        </p:txBody>
      </p:sp>
      <p:sp>
        <p:nvSpPr>
          <p:cNvPr id="30" name="TextBox 29"/>
          <p:cNvSpPr txBox="1"/>
          <p:nvPr/>
        </p:nvSpPr>
        <p:spPr>
          <a:xfrm>
            <a:off x="5129783"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8A3A48"/>
                </a:solidFill>
                <a:latin typeface="Segoe UI Light"/>
              </a:rPr>
              <a:t>1</a:t>
            </a:r>
          </a:p>
        </p:txBody>
      </p:sp>
      <p:sp>
        <p:nvSpPr>
          <p:cNvPr id="31" name="TextBox 30"/>
          <p:cNvSpPr txBox="1"/>
          <p:nvPr/>
        </p:nvSpPr>
        <p:spPr>
          <a:xfrm>
            <a:off x="5129783"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OLD</a:t>
            </a:r>
          </a:p>
        </p:txBody>
      </p:sp>
      <p:sp>
        <p:nvSpPr>
          <p:cNvPr id="32" name="Rectangle 31"/>
          <p:cNvSpPr/>
          <p:nvPr/>
        </p:nvSpPr>
        <p:spPr>
          <a:xfrm>
            <a:off x="6080759" y="4078224"/>
            <a:ext cx="18288" cy="56692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135623"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246B4D"/>
                </a:solidFill>
                <a:latin typeface="Segoe UI Light"/>
              </a:rPr>
              <a:t>8</a:t>
            </a:r>
          </a:p>
        </p:txBody>
      </p:sp>
      <p:sp>
        <p:nvSpPr>
          <p:cNvPr id="34" name="TextBox 33"/>
          <p:cNvSpPr txBox="1"/>
          <p:nvPr/>
        </p:nvSpPr>
        <p:spPr>
          <a:xfrm>
            <a:off x="6135623"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ME</a:t>
            </a:r>
          </a:p>
        </p:txBody>
      </p:sp>
      <p:sp>
        <p:nvSpPr>
          <p:cNvPr id="35" name="Rounded Rectangle 34"/>
          <p:cNvSpPr/>
          <p:nvPr/>
        </p:nvSpPr>
        <p:spPr>
          <a:xfrm>
            <a:off x="5404103" y="4700016"/>
            <a:ext cx="1371600" cy="256032"/>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50" b="1">
                <a:solidFill>
                  <a:srgbClr val="FFFFFF"/>
                </a:solidFill>
                <a:latin typeface="Segoe UI"/>
              </a:rPr>
              <a:t>8 ×</a:t>
            </a:r>
          </a:p>
        </p:txBody>
      </p:sp>
      <p:sp>
        <p:nvSpPr>
          <p:cNvPr id="36" name="Rounded Rectangle 35"/>
          <p:cNvSpPr/>
          <p:nvPr/>
        </p:nvSpPr>
        <p:spPr>
          <a:xfrm>
            <a:off x="7278623" y="3493008"/>
            <a:ext cx="2139696" cy="157276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278623" y="3493008"/>
            <a:ext cx="2139696" cy="45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388351" y="3602736"/>
            <a:ext cx="1920239" cy="420624"/>
          </a:xfrm>
          <a:prstGeom prst="rect">
            <a:avLst/>
          </a:prstGeom>
          <a:noFill/>
        </p:spPr>
        <p:txBody>
          <a:bodyPr wrap="square" anchor="t" lIns="18288" rIns="18288" tIns="0" bIns="0">
            <a:spAutoFit/>
          </a:bodyPr>
          <a:lstStyle/>
          <a:p>
            <a:pPr algn="ctr">
              <a:lnSpc>
                <a:spcPct val="110000"/>
              </a:lnSpc>
            </a:pPr>
            <a:r>
              <a:rPr sz="850" b="1" i="0">
                <a:solidFill>
                  <a:srgbClr val="64748B"/>
                </a:solidFill>
                <a:latin typeface="Segoe UI"/>
              </a:rPr>
              <a:t>Board types</a:t>
            </a:r>
          </a:p>
          <a:p>
            <a:pPr algn="ctr">
              <a:lnSpc>
                <a:spcPct val="110000"/>
              </a:lnSpc>
            </a:pPr>
            <a:r>
              <a:rPr sz="850" b="1" i="0">
                <a:solidFill>
                  <a:srgbClr val="64748B"/>
                </a:solidFill>
                <a:latin typeface="Segoe UI"/>
              </a:rPr>
              <a:t>in a bench</a:t>
            </a:r>
          </a:p>
        </p:txBody>
      </p:sp>
      <p:sp>
        <p:nvSpPr>
          <p:cNvPr id="39" name="TextBox 38"/>
          <p:cNvSpPr txBox="1"/>
          <p:nvPr/>
        </p:nvSpPr>
        <p:spPr>
          <a:xfrm>
            <a:off x="7388351"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8A3A48"/>
                </a:solidFill>
                <a:latin typeface="Segoe UI Light"/>
              </a:rPr>
              <a:t>3</a:t>
            </a:r>
          </a:p>
        </p:txBody>
      </p:sp>
      <p:sp>
        <p:nvSpPr>
          <p:cNvPr id="40" name="TextBox 39"/>
          <p:cNvSpPr txBox="1"/>
          <p:nvPr/>
        </p:nvSpPr>
        <p:spPr>
          <a:xfrm>
            <a:off x="7388351"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OLD</a:t>
            </a:r>
          </a:p>
        </p:txBody>
      </p:sp>
      <p:sp>
        <p:nvSpPr>
          <p:cNvPr id="41" name="Rectangle 40"/>
          <p:cNvSpPr/>
          <p:nvPr/>
        </p:nvSpPr>
        <p:spPr>
          <a:xfrm>
            <a:off x="8339327" y="4078224"/>
            <a:ext cx="18288" cy="56692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94192"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246B4D"/>
                </a:solidFill>
                <a:latin typeface="Segoe UI Light"/>
              </a:rPr>
              <a:t>2</a:t>
            </a:r>
          </a:p>
        </p:txBody>
      </p:sp>
      <p:sp>
        <p:nvSpPr>
          <p:cNvPr id="43" name="TextBox 42"/>
          <p:cNvSpPr txBox="1"/>
          <p:nvPr/>
        </p:nvSpPr>
        <p:spPr>
          <a:xfrm>
            <a:off x="8394192"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ME</a:t>
            </a:r>
          </a:p>
        </p:txBody>
      </p:sp>
      <p:sp>
        <p:nvSpPr>
          <p:cNvPr id="44" name="Rounded Rectangle 43"/>
          <p:cNvSpPr/>
          <p:nvPr/>
        </p:nvSpPr>
        <p:spPr>
          <a:xfrm>
            <a:off x="7662671" y="4700016"/>
            <a:ext cx="1371600" cy="256032"/>
          </a:xfrm>
          <a:prstGeom prst="roundRect">
            <a:avLst>
              <a:gd name="adj" fmla="val 50000"/>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50" b="1">
                <a:solidFill>
                  <a:srgbClr val="FFFFFF"/>
                </a:solidFill>
                <a:latin typeface="Segoe UI"/>
              </a:rPr>
              <a:t>one fewer</a:t>
            </a:r>
          </a:p>
        </p:txBody>
      </p:sp>
      <p:sp>
        <p:nvSpPr>
          <p:cNvPr id="45" name="Rounded Rectangle 44"/>
          <p:cNvSpPr/>
          <p:nvPr/>
        </p:nvSpPr>
        <p:spPr>
          <a:xfrm>
            <a:off x="9537192" y="3493008"/>
            <a:ext cx="2139696" cy="157276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537192" y="3493008"/>
            <a:ext cx="2139696" cy="45720"/>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646919" y="3602736"/>
            <a:ext cx="1920239" cy="420624"/>
          </a:xfrm>
          <a:prstGeom prst="rect">
            <a:avLst/>
          </a:prstGeom>
          <a:noFill/>
        </p:spPr>
        <p:txBody>
          <a:bodyPr wrap="square" anchor="t" lIns="18288" rIns="18288" tIns="0" bIns="0">
            <a:spAutoFit/>
          </a:bodyPr>
          <a:lstStyle/>
          <a:p>
            <a:pPr algn="ctr">
              <a:lnSpc>
                <a:spcPct val="110000"/>
              </a:lnSpc>
            </a:pPr>
            <a:r>
              <a:rPr sz="850" b="1" i="0">
                <a:solidFill>
                  <a:srgbClr val="64748B"/>
                </a:solidFill>
                <a:latin typeface="Segoe UI"/>
              </a:rPr>
              <a:t>Primary boards for</a:t>
            </a:r>
          </a:p>
          <a:p>
            <a:pPr algn="ctr">
              <a:lnSpc>
                <a:spcPct val="110000"/>
              </a:lnSpc>
            </a:pPr>
            <a:r>
              <a:rPr sz="850" b="1" i="0">
                <a:solidFill>
                  <a:srgbClr val="64748B"/>
                </a:solidFill>
                <a:latin typeface="Segoe UI"/>
              </a:rPr>
              <a:t>eight channels</a:t>
            </a:r>
          </a:p>
        </p:txBody>
      </p:sp>
      <p:sp>
        <p:nvSpPr>
          <p:cNvPr id="48" name="TextBox 47"/>
          <p:cNvSpPr txBox="1"/>
          <p:nvPr/>
        </p:nvSpPr>
        <p:spPr>
          <a:xfrm>
            <a:off x="9646919"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8A3A48"/>
                </a:solidFill>
                <a:latin typeface="Segoe UI Light"/>
              </a:rPr>
              <a:t>8</a:t>
            </a:r>
          </a:p>
        </p:txBody>
      </p:sp>
      <p:sp>
        <p:nvSpPr>
          <p:cNvPr id="49" name="TextBox 48"/>
          <p:cNvSpPr txBox="1"/>
          <p:nvPr/>
        </p:nvSpPr>
        <p:spPr>
          <a:xfrm>
            <a:off x="9646919"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OLD</a:t>
            </a:r>
          </a:p>
        </p:txBody>
      </p:sp>
      <p:sp>
        <p:nvSpPr>
          <p:cNvPr id="50" name="Rectangle 49"/>
          <p:cNvSpPr/>
          <p:nvPr/>
        </p:nvSpPr>
        <p:spPr>
          <a:xfrm>
            <a:off x="10597896" y="4078224"/>
            <a:ext cx="18288" cy="56692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652760" y="4059936"/>
            <a:ext cx="914399" cy="384048"/>
          </a:xfrm>
          <a:prstGeom prst="rect">
            <a:avLst/>
          </a:prstGeom>
          <a:noFill/>
        </p:spPr>
        <p:txBody>
          <a:bodyPr wrap="square" anchor="t" lIns="18288" rIns="18288" tIns="0" bIns="0">
            <a:spAutoFit/>
          </a:bodyPr>
          <a:lstStyle/>
          <a:p>
            <a:pPr algn="ctr">
              <a:lnSpc>
                <a:spcPct val="100000"/>
              </a:lnSpc>
            </a:pPr>
            <a:r>
              <a:rPr sz="2000" b="1" i="0">
                <a:solidFill>
                  <a:srgbClr val="246B4D"/>
                </a:solidFill>
                <a:latin typeface="Segoe UI Light"/>
              </a:rPr>
              <a:t>1</a:t>
            </a:r>
          </a:p>
        </p:txBody>
      </p:sp>
      <p:sp>
        <p:nvSpPr>
          <p:cNvPr id="52" name="TextBox 51"/>
          <p:cNvSpPr txBox="1"/>
          <p:nvPr/>
        </p:nvSpPr>
        <p:spPr>
          <a:xfrm>
            <a:off x="10652760" y="4443984"/>
            <a:ext cx="914399" cy="201168"/>
          </a:xfrm>
          <a:prstGeom prst="rect">
            <a:avLst/>
          </a:prstGeom>
          <a:noFill/>
        </p:spPr>
        <p:txBody>
          <a:bodyPr wrap="square" anchor="t" lIns="18288" rIns="18288" tIns="0" bIns="0">
            <a:spAutoFit/>
          </a:bodyPr>
          <a:lstStyle/>
          <a:p>
            <a:pPr algn="ctr">
              <a:lnSpc>
                <a:spcPct val="100000"/>
              </a:lnSpc>
            </a:pPr>
            <a:r>
              <a:rPr sz="700" b="1" i="0">
                <a:solidFill>
                  <a:srgbClr val="64748B"/>
                </a:solidFill>
                <a:latin typeface="Segoe UI"/>
              </a:rPr>
              <a:t>ME</a:t>
            </a:r>
          </a:p>
        </p:txBody>
      </p:sp>
      <p:sp>
        <p:nvSpPr>
          <p:cNvPr id="53" name="Rounded Rectangle 52"/>
          <p:cNvSpPr/>
          <p:nvPr/>
        </p:nvSpPr>
        <p:spPr>
          <a:xfrm>
            <a:off x="9921240" y="4700016"/>
            <a:ext cx="1371600" cy="256032"/>
          </a:xfrm>
          <a:prstGeom prst="roundRect">
            <a:avLst>
              <a:gd name="adj" fmla="val 50000"/>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50" b="1">
                <a:solidFill>
                  <a:srgbClr val="FFFFFF"/>
                </a:solidFill>
                <a:latin typeface="Segoe UI"/>
              </a:rPr>
              <a:t>−87.5 %</a:t>
            </a:r>
          </a:p>
        </p:txBody>
      </p:sp>
      <p:sp>
        <p:nvSpPr>
          <p:cNvPr id="54" name="Rounded Rectangle 53"/>
          <p:cNvSpPr/>
          <p:nvPr/>
        </p:nvSpPr>
        <p:spPr>
          <a:xfrm>
            <a:off x="502920" y="5230368"/>
            <a:ext cx="11183112" cy="1188720"/>
          </a:xfrm>
          <a:prstGeom prst="roundRect">
            <a:avLst>
              <a:gd name="adj" fmla="val 8000"/>
            </a:avLst>
          </a:prstGeom>
          <a:solidFill>
            <a:srgbClr val="E9EEF6"/>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502920" y="5230368"/>
            <a:ext cx="64008" cy="11887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77240" y="5358384"/>
            <a:ext cx="10744200" cy="960120"/>
          </a:xfrm>
          <a:prstGeom prst="rect">
            <a:avLst/>
          </a:prstGeom>
          <a:noFill/>
        </p:spPr>
        <p:txBody>
          <a:bodyPr wrap="square" anchor="t" lIns="0" rIns="0" tIns="0" bIns="0">
            <a:spAutoFit/>
          </a:bodyPr>
          <a:lstStyle/>
          <a:p>
            <a:pPr algn="l">
              <a:lnSpc>
                <a:spcPct val="105000"/>
              </a:lnSpc>
              <a:spcBef>
                <a:spcPts val="0"/>
              </a:spcBef>
            </a:pPr>
            <a:r>
              <a:rPr sz="1100" b="1">
                <a:solidFill>
                  <a:srgbClr val="142A47"/>
                </a:solidFill>
                <a:latin typeface="Segoe UI"/>
              </a:rPr>
              <a:t>IMPORTANT      Moving to CAN is neither a new competency nor new silicon.</a:t>
            </a:r>
          </a:p>
          <a:p>
            <a:pPr algn="l">
              <a:lnSpc>
                <a:spcPct val="105000"/>
              </a:lnSpc>
              <a:spcBef>
                <a:spcPts val="500"/>
              </a:spcBef>
            </a:pPr>
            <a:r>
              <a:rPr sz="900" b="0">
                <a:solidFill>
                  <a:srgbClr val="334155"/>
                </a:solidFill>
                <a:latin typeface="Segoe UI"/>
              </a:rPr>
              <a:t>•  The product already ships working CAN interfaces and CAN-database handling on the separate COM controller board.</a:t>
            </a:r>
          </a:p>
          <a:p>
            <a:pPr algn="l">
              <a:lnSpc>
                <a:spcPct val="105000"/>
              </a:lnSpc>
              <a:spcBef>
                <a:spcPts val="200"/>
              </a:spcBef>
            </a:pPr>
            <a:r>
              <a:rPr sz="900" b="0">
                <a:solidFill>
                  <a:srgbClr val="334155"/>
                </a:solidFill>
                <a:latin typeface="Segoe UI"/>
              </a:rPr>
              <a:t>•  The Primary processor already contains CAN interfaces in silicon; they are simply not enabled in the current firmware.</a:t>
            </a:r>
          </a:p>
          <a:p>
            <a:pPr algn="l">
              <a:lnSpc>
                <a:spcPct val="105000"/>
              </a:lnSpc>
              <a:spcBef>
                <a:spcPts val="200"/>
              </a:spcBef>
            </a:pPr>
            <a:r>
              <a:rPr sz="900" b="0">
                <a:solidFill>
                  <a:srgbClr val="334155"/>
                </a:solidFill>
                <a:latin typeface="Segoe UI"/>
              </a:rPr>
              <a:t>•  The Secondary is the one board with no CAN capability today, so a transceiver and driver are genuinely new work there.</a:t>
            </a:r>
          </a:p>
        </p:txBody>
      </p:sp>
      <p:sp>
        <p:nvSpPr>
          <p:cNvPr id="57" name="Rectangle 56"/>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59" name="TextBox 58"/>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05 · SCALING ECONOMICS</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The commercial case — controller count for an eight-channel bench</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Engineering estimate. The board counts are structural; unit costs require confirmation by Purchasing.</a:t>
            </a:r>
          </a:p>
        </p:txBody>
      </p:sp>
      <p:sp>
        <p:nvSpPr>
          <p:cNvPr id="7" name="Rounded Rectangle 6"/>
          <p:cNvSpPr/>
          <p:nvPr/>
        </p:nvSpPr>
        <p:spPr>
          <a:xfrm>
            <a:off x="502920" y="1207008"/>
            <a:ext cx="5486400" cy="2743200"/>
          </a:xfrm>
          <a:prstGeom prst="roundRect">
            <a:avLst>
              <a:gd name="adj" fmla="val 5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02920" y="1207008"/>
            <a:ext cx="5486400" cy="329184"/>
          </a:xfrm>
          <a:prstGeom prst="roundRect">
            <a:avLst>
              <a:gd name="adj" fmla="val 16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261872"/>
            <a:ext cx="5120640" cy="237744"/>
          </a:xfrm>
          <a:prstGeom prst="rect">
            <a:avLst/>
          </a:prstGeom>
          <a:noFill/>
        </p:spPr>
        <p:txBody>
          <a:bodyPr wrap="square" anchor="t" lIns="18288" rIns="18288" tIns="0" bIns="0">
            <a:spAutoFit/>
          </a:bodyPr>
          <a:lstStyle/>
          <a:p>
            <a:pPr algn="l">
              <a:lnSpc>
                <a:spcPct val="100000"/>
              </a:lnSpc>
            </a:pPr>
            <a:r>
              <a:rPr sz="950" b="1" i="0">
                <a:solidFill>
                  <a:srgbClr val="FFFFFF"/>
                </a:solidFill>
                <a:latin typeface="Segoe UI"/>
              </a:rPr>
              <a:t>OLD BTS  —  EIGHT CHANNELS  =  EIGHT COMPLETE STACKS</a:t>
            </a:r>
          </a:p>
        </p:txBody>
      </p:sp>
      <p:sp>
        <p:nvSpPr>
          <p:cNvPr id="10" name="Rounded Rectangle 9"/>
          <p:cNvSpPr/>
          <p:nvPr/>
        </p:nvSpPr>
        <p:spPr>
          <a:xfrm>
            <a:off x="685800"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11" name="Rounded Rectangle 10"/>
          <p:cNvSpPr/>
          <p:nvPr/>
        </p:nvSpPr>
        <p:spPr>
          <a:xfrm>
            <a:off x="685800"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12" name="Rounded Rectangle 11"/>
          <p:cNvSpPr/>
          <p:nvPr/>
        </p:nvSpPr>
        <p:spPr>
          <a:xfrm>
            <a:off x="685800"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13" name="TextBox 12"/>
          <p:cNvSpPr txBox="1"/>
          <p:nvPr/>
        </p:nvSpPr>
        <p:spPr>
          <a:xfrm>
            <a:off x="685800"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CH1</a:t>
            </a:r>
          </a:p>
        </p:txBody>
      </p:sp>
      <p:sp>
        <p:nvSpPr>
          <p:cNvPr id="14" name="Rounded Rectangle 13"/>
          <p:cNvSpPr/>
          <p:nvPr/>
        </p:nvSpPr>
        <p:spPr>
          <a:xfrm>
            <a:off x="1325880"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15" name="Rounded Rectangle 14"/>
          <p:cNvSpPr/>
          <p:nvPr/>
        </p:nvSpPr>
        <p:spPr>
          <a:xfrm>
            <a:off x="1325880"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16" name="Rounded Rectangle 15"/>
          <p:cNvSpPr/>
          <p:nvPr/>
        </p:nvSpPr>
        <p:spPr>
          <a:xfrm>
            <a:off x="1325880"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17" name="TextBox 16"/>
          <p:cNvSpPr txBox="1"/>
          <p:nvPr/>
        </p:nvSpPr>
        <p:spPr>
          <a:xfrm>
            <a:off x="1325880"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CH2</a:t>
            </a:r>
          </a:p>
        </p:txBody>
      </p:sp>
      <p:sp>
        <p:nvSpPr>
          <p:cNvPr id="18" name="Rounded Rectangle 17"/>
          <p:cNvSpPr/>
          <p:nvPr/>
        </p:nvSpPr>
        <p:spPr>
          <a:xfrm>
            <a:off x="1965960"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19" name="Rounded Rectangle 18"/>
          <p:cNvSpPr/>
          <p:nvPr/>
        </p:nvSpPr>
        <p:spPr>
          <a:xfrm>
            <a:off x="1965960"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20" name="Rounded Rectangle 19"/>
          <p:cNvSpPr/>
          <p:nvPr/>
        </p:nvSpPr>
        <p:spPr>
          <a:xfrm>
            <a:off x="1965960"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21" name="TextBox 20"/>
          <p:cNvSpPr txBox="1"/>
          <p:nvPr/>
        </p:nvSpPr>
        <p:spPr>
          <a:xfrm>
            <a:off x="1965960"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CH3</a:t>
            </a:r>
          </a:p>
        </p:txBody>
      </p:sp>
      <p:sp>
        <p:nvSpPr>
          <p:cNvPr id="22" name="Rounded Rectangle 21"/>
          <p:cNvSpPr/>
          <p:nvPr/>
        </p:nvSpPr>
        <p:spPr>
          <a:xfrm>
            <a:off x="2606039"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23" name="Rounded Rectangle 22"/>
          <p:cNvSpPr/>
          <p:nvPr/>
        </p:nvSpPr>
        <p:spPr>
          <a:xfrm>
            <a:off x="2606039"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24" name="Rounded Rectangle 23"/>
          <p:cNvSpPr/>
          <p:nvPr/>
        </p:nvSpPr>
        <p:spPr>
          <a:xfrm>
            <a:off x="2606039"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25" name="TextBox 24"/>
          <p:cNvSpPr txBox="1"/>
          <p:nvPr/>
        </p:nvSpPr>
        <p:spPr>
          <a:xfrm>
            <a:off x="2606039"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CH4</a:t>
            </a:r>
          </a:p>
        </p:txBody>
      </p:sp>
      <p:sp>
        <p:nvSpPr>
          <p:cNvPr id="26" name="Rounded Rectangle 25"/>
          <p:cNvSpPr/>
          <p:nvPr/>
        </p:nvSpPr>
        <p:spPr>
          <a:xfrm>
            <a:off x="3246120"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27" name="Rounded Rectangle 26"/>
          <p:cNvSpPr/>
          <p:nvPr/>
        </p:nvSpPr>
        <p:spPr>
          <a:xfrm>
            <a:off x="3246120"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28" name="Rounded Rectangle 27"/>
          <p:cNvSpPr/>
          <p:nvPr/>
        </p:nvSpPr>
        <p:spPr>
          <a:xfrm>
            <a:off x="3246120"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29" name="TextBox 28"/>
          <p:cNvSpPr txBox="1"/>
          <p:nvPr/>
        </p:nvSpPr>
        <p:spPr>
          <a:xfrm>
            <a:off x="3246120"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CH5</a:t>
            </a:r>
          </a:p>
        </p:txBody>
      </p:sp>
      <p:sp>
        <p:nvSpPr>
          <p:cNvPr id="30" name="Rounded Rectangle 29"/>
          <p:cNvSpPr/>
          <p:nvPr/>
        </p:nvSpPr>
        <p:spPr>
          <a:xfrm>
            <a:off x="3886200"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31" name="Rounded Rectangle 30"/>
          <p:cNvSpPr/>
          <p:nvPr/>
        </p:nvSpPr>
        <p:spPr>
          <a:xfrm>
            <a:off x="3886200"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32" name="Rounded Rectangle 31"/>
          <p:cNvSpPr/>
          <p:nvPr/>
        </p:nvSpPr>
        <p:spPr>
          <a:xfrm>
            <a:off x="3886200"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33" name="TextBox 32"/>
          <p:cNvSpPr txBox="1"/>
          <p:nvPr/>
        </p:nvSpPr>
        <p:spPr>
          <a:xfrm>
            <a:off x="3886200"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CH6</a:t>
            </a:r>
          </a:p>
        </p:txBody>
      </p:sp>
      <p:sp>
        <p:nvSpPr>
          <p:cNvPr id="34" name="Rounded Rectangle 33"/>
          <p:cNvSpPr/>
          <p:nvPr/>
        </p:nvSpPr>
        <p:spPr>
          <a:xfrm>
            <a:off x="4526279"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35" name="Rounded Rectangle 34"/>
          <p:cNvSpPr/>
          <p:nvPr/>
        </p:nvSpPr>
        <p:spPr>
          <a:xfrm>
            <a:off x="4526279"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36" name="Rounded Rectangle 35"/>
          <p:cNvSpPr/>
          <p:nvPr/>
        </p:nvSpPr>
        <p:spPr>
          <a:xfrm>
            <a:off x="4526279"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37" name="TextBox 36"/>
          <p:cNvSpPr txBox="1"/>
          <p:nvPr/>
        </p:nvSpPr>
        <p:spPr>
          <a:xfrm>
            <a:off x="4526279"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CH7</a:t>
            </a:r>
          </a:p>
        </p:txBody>
      </p:sp>
      <p:sp>
        <p:nvSpPr>
          <p:cNvPr id="38" name="Rounded Rectangle 37"/>
          <p:cNvSpPr/>
          <p:nvPr/>
        </p:nvSpPr>
        <p:spPr>
          <a:xfrm>
            <a:off x="5166359" y="1691640"/>
            <a:ext cx="566928"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PRIM</a:t>
            </a:r>
          </a:p>
        </p:txBody>
      </p:sp>
      <p:sp>
        <p:nvSpPr>
          <p:cNvPr id="39" name="Rounded Rectangle 38"/>
          <p:cNvSpPr/>
          <p:nvPr/>
        </p:nvSpPr>
        <p:spPr>
          <a:xfrm>
            <a:off x="5166359" y="2240280"/>
            <a:ext cx="566928" cy="502920"/>
          </a:xfrm>
          <a:prstGeom prst="roundRect">
            <a:avLst>
              <a:gd name="adj" fmla="val 8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COM</a:t>
            </a:r>
          </a:p>
        </p:txBody>
      </p:sp>
      <p:sp>
        <p:nvSpPr>
          <p:cNvPr id="40" name="Rounded Rectangle 39"/>
          <p:cNvSpPr/>
          <p:nvPr/>
        </p:nvSpPr>
        <p:spPr>
          <a:xfrm>
            <a:off x="5166359" y="2788920"/>
            <a:ext cx="566928" cy="502920"/>
          </a:xfrm>
          <a:prstGeom prst="roundRect">
            <a:avLst>
              <a:gd name="adj" fmla="val 8000"/>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41" name="TextBox 40"/>
          <p:cNvSpPr txBox="1"/>
          <p:nvPr/>
        </p:nvSpPr>
        <p:spPr>
          <a:xfrm>
            <a:off x="5166359"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CH8</a:t>
            </a:r>
          </a:p>
        </p:txBody>
      </p:sp>
      <p:sp>
        <p:nvSpPr>
          <p:cNvPr id="42" name="TextBox 41"/>
          <p:cNvSpPr txBox="1"/>
          <p:nvPr/>
        </p:nvSpPr>
        <p:spPr>
          <a:xfrm>
            <a:off x="685800" y="3602736"/>
            <a:ext cx="5120640" cy="219456"/>
          </a:xfrm>
          <a:prstGeom prst="rect">
            <a:avLst/>
          </a:prstGeom>
          <a:noFill/>
        </p:spPr>
        <p:txBody>
          <a:bodyPr wrap="square" anchor="t" lIns="18288" rIns="18288" tIns="0" bIns="0">
            <a:spAutoFit/>
          </a:bodyPr>
          <a:lstStyle/>
          <a:p>
            <a:pPr algn="ctr">
              <a:lnSpc>
                <a:spcPct val="100000"/>
              </a:lnSpc>
            </a:pPr>
            <a:r>
              <a:rPr sz="800" b="1" i="0">
                <a:solidFill>
                  <a:srgbClr val="9B2C35"/>
                </a:solidFill>
                <a:latin typeface="Segoe UI"/>
              </a:rPr>
              <a:t>8 Ethernet ports  ·  8 network addresses  ·  24 cable runs</a:t>
            </a:r>
          </a:p>
        </p:txBody>
      </p:sp>
      <p:sp>
        <p:nvSpPr>
          <p:cNvPr id="43" name="Rounded Rectangle 42"/>
          <p:cNvSpPr/>
          <p:nvPr/>
        </p:nvSpPr>
        <p:spPr>
          <a:xfrm>
            <a:off x="6199632" y="1207008"/>
            <a:ext cx="5486400" cy="2743200"/>
          </a:xfrm>
          <a:prstGeom prst="roundRect">
            <a:avLst>
              <a:gd name="adj" fmla="val 5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6199632" y="1207008"/>
            <a:ext cx="5486400" cy="329184"/>
          </a:xfrm>
          <a:prstGeom prst="roundRect">
            <a:avLst>
              <a:gd name="adj" fmla="val 16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82512" y="1261872"/>
            <a:ext cx="5120640" cy="237744"/>
          </a:xfrm>
          <a:prstGeom prst="rect">
            <a:avLst/>
          </a:prstGeom>
          <a:noFill/>
        </p:spPr>
        <p:txBody>
          <a:bodyPr wrap="square" anchor="t" lIns="18288" rIns="18288" tIns="0" bIns="0">
            <a:spAutoFit/>
          </a:bodyPr>
          <a:lstStyle/>
          <a:p>
            <a:pPr algn="l">
              <a:lnSpc>
                <a:spcPct val="100000"/>
              </a:lnSpc>
            </a:pPr>
            <a:r>
              <a:rPr sz="950" b="1" i="0">
                <a:solidFill>
                  <a:srgbClr val="FFFFFF"/>
                </a:solidFill>
                <a:latin typeface="Segoe UI"/>
              </a:rPr>
              <a:t>NEW ME  —  EIGHT CHANNELS  =  ONE PRIMARY  +  EIGHT STAGES</a:t>
            </a:r>
          </a:p>
        </p:txBody>
      </p:sp>
      <p:sp>
        <p:nvSpPr>
          <p:cNvPr id="46" name="Rounded Rectangle 45"/>
          <p:cNvSpPr/>
          <p:nvPr/>
        </p:nvSpPr>
        <p:spPr>
          <a:xfrm>
            <a:off x="8138160" y="1691640"/>
            <a:ext cx="1609344" cy="502920"/>
          </a:xfrm>
          <a:prstGeom prst="roundRect">
            <a:avLst>
              <a:gd name="adj" fmla="val 8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ONE PRIMARY</a:t>
            </a:r>
          </a:p>
        </p:txBody>
      </p:sp>
      <p:sp>
        <p:nvSpPr>
          <p:cNvPr id="47" name="Rectangle 46"/>
          <p:cNvSpPr/>
          <p:nvPr/>
        </p:nvSpPr>
        <p:spPr>
          <a:xfrm>
            <a:off x="8942832" y="2194560"/>
            <a:ext cx="18288" cy="292608"/>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537960" y="2487168"/>
            <a:ext cx="4800600" cy="6858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829800" y="2258568"/>
            <a:ext cx="1554480" cy="201168"/>
          </a:xfrm>
          <a:prstGeom prst="rect">
            <a:avLst/>
          </a:prstGeom>
          <a:noFill/>
        </p:spPr>
        <p:txBody>
          <a:bodyPr wrap="square" anchor="t" lIns="18288" rIns="18288" tIns="0" bIns="0">
            <a:spAutoFit/>
          </a:bodyPr>
          <a:lstStyle/>
          <a:p>
            <a:pPr algn="l">
              <a:lnSpc>
                <a:spcPct val="100000"/>
              </a:lnSpc>
            </a:pPr>
            <a:r>
              <a:rPr sz="750" b="1" i="0">
                <a:solidFill>
                  <a:srgbClr val="0A6E6A"/>
                </a:solidFill>
                <a:latin typeface="Segoe UI"/>
              </a:rPr>
              <a:t>one shared bus</a:t>
            </a:r>
          </a:p>
        </p:txBody>
      </p:sp>
      <p:sp>
        <p:nvSpPr>
          <p:cNvPr id="50" name="Rectangle 49"/>
          <p:cNvSpPr/>
          <p:nvPr/>
        </p:nvSpPr>
        <p:spPr>
          <a:xfrm>
            <a:off x="666597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38251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52" name="TextBox 51"/>
          <p:cNvSpPr txBox="1"/>
          <p:nvPr/>
        </p:nvSpPr>
        <p:spPr>
          <a:xfrm>
            <a:off x="638251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CH1</a:t>
            </a:r>
          </a:p>
        </p:txBody>
      </p:sp>
      <p:sp>
        <p:nvSpPr>
          <p:cNvPr id="53" name="Rectangle 52"/>
          <p:cNvSpPr/>
          <p:nvPr/>
        </p:nvSpPr>
        <p:spPr>
          <a:xfrm>
            <a:off x="730605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702259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55" name="TextBox 54"/>
          <p:cNvSpPr txBox="1"/>
          <p:nvPr/>
        </p:nvSpPr>
        <p:spPr>
          <a:xfrm>
            <a:off x="702259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CH2</a:t>
            </a:r>
          </a:p>
        </p:txBody>
      </p:sp>
      <p:sp>
        <p:nvSpPr>
          <p:cNvPr id="56" name="Rectangle 55"/>
          <p:cNvSpPr/>
          <p:nvPr/>
        </p:nvSpPr>
        <p:spPr>
          <a:xfrm>
            <a:off x="794613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766267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58" name="TextBox 57"/>
          <p:cNvSpPr txBox="1"/>
          <p:nvPr/>
        </p:nvSpPr>
        <p:spPr>
          <a:xfrm>
            <a:off x="766267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CH3</a:t>
            </a:r>
          </a:p>
        </p:txBody>
      </p:sp>
      <p:sp>
        <p:nvSpPr>
          <p:cNvPr id="59" name="Rectangle 58"/>
          <p:cNvSpPr/>
          <p:nvPr/>
        </p:nvSpPr>
        <p:spPr>
          <a:xfrm>
            <a:off x="858621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830275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61" name="TextBox 60"/>
          <p:cNvSpPr txBox="1"/>
          <p:nvPr/>
        </p:nvSpPr>
        <p:spPr>
          <a:xfrm>
            <a:off x="830275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CH4</a:t>
            </a:r>
          </a:p>
        </p:txBody>
      </p:sp>
      <p:sp>
        <p:nvSpPr>
          <p:cNvPr id="62" name="Rectangle 61"/>
          <p:cNvSpPr/>
          <p:nvPr/>
        </p:nvSpPr>
        <p:spPr>
          <a:xfrm>
            <a:off x="922629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ounded Rectangle 62"/>
          <p:cNvSpPr/>
          <p:nvPr/>
        </p:nvSpPr>
        <p:spPr>
          <a:xfrm>
            <a:off x="894283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64" name="TextBox 63"/>
          <p:cNvSpPr txBox="1"/>
          <p:nvPr/>
        </p:nvSpPr>
        <p:spPr>
          <a:xfrm>
            <a:off x="894283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CH5</a:t>
            </a:r>
          </a:p>
        </p:txBody>
      </p:sp>
      <p:sp>
        <p:nvSpPr>
          <p:cNvPr id="65" name="Rectangle 64"/>
          <p:cNvSpPr/>
          <p:nvPr/>
        </p:nvSpPr>
        <p:spPr>
          <a:xfrm>
            <a:off x="986637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958291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67" name="TextBox 66"/>
          <p:cNvSpPr txBox="1"/>
          <p:nvPr/>
        </p:nvSpPr>
        <p:spPr>
          <a:xfrm>
            <a:off x="958291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CH6</a:t>
            </a:r>
          </a:p>
        </p:txBody>
      </p:sp>
      <p:sp>
        <p:nvSpPr>
          <p:cNvPr id="68" name="Rectangle 67"/>
          <p:cNvSpPr/>
          <p:nvPr/>
        </p:nvSpPr>
        <p:spPr>
          <a:xfrm>
            <a:off x="1050645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unded Rectangle 68"/>
          <p:cNvSpPr/>
          <p:nvPr/>
        </p:nvSpPr>
        <p:spPr>
          <a:xfrm>
            <a:off x="1022299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70" name="TextBox 69"/>
          <p:cNvSpPr txBox="1"/>
          <p:nvPr/>
        </p:nvSpPr>
        <p:spPr>
          <a:xfrm>
            <a:off x="1022299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CH7</a:t>
            </a:r>
          </a:p>
        </p:txBody>
      </p:sp>
      <p:sp>
        <p:nvSpPr>
          <p:cNvPr id="71" name="Rectangle 70"/>
          <p:cNvSpPr/>
          <p:nvPr/>
        </p:nvSpPr>
        <p:spPr>
          <a:xfrm>
            <a:off x="11146536" y="2560320"/>
            <a:ext cx="18288" cy="22860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ounded Rectangle 71"/>
          <p:cNvSpPr/>
          <p:nvPr/>
        </p:nvSpPr>
        <p:spPr>
          <a:xfrm>
            <a:off x="10863072" y="2788920"/>
            <a:ext cx="566928" cy="5029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SEC</a:t>
            </a:r>
          </a:p>
        </p:txBody>
      </p:sp>
      <p:sp>
        <p:nvSpPr>
          <p:cNvPr id="73" name="TextBox 72"/>
          <p:cNvSpPr txBox="1"/>
          <p:nvPr/>
        </p:nvSpPr>
        <p:spPr>
          <a:xfrm>
            <a:off x="10863072" y="3319272"/>
            <a:ext cx="566928" cy="182880"/>
          </a:xfrm>
          <a:prstGeom prst="rect">
            <a:avLst/>
          </a:prstGeom>
          <a:noFill/>
        </p:spPr>
        <p:txBody>
          <a:bodyPr wrap="square" anchor="t" lIns="18288" rIns="18288" tIns="0" bIns="0">
            <a:spAutoFit/>
          </a:bodyPr>
          <a:lstStyle/>
          <a:p>
            <a:pPr algn="ctr">
              <a:lnSpc>
                <a:spcPct val="100000"/>
              </a:lnSpc>
            </a:pPr>
            <a:r>
              <a:rPr sz="650" b="0" i="0">
                <a:solidFill>
                  <a:srgbClr val="64748B"/>
                </a:solidFill>
                <a:latin typeface="Segoe UI"/>
              </a:rPr>
              <a:t>CH8</a:t>
            </a:r>
          </a:p>
        </p:txBody>
      </p:sp>
      <p:sp>
        <p:nvSpPr>
          <p:cNvPr id="74" name="TextBox 73"/>
          <p:cNvSpPr txBox="1"/>
          <p:nvPr/>
        </p:nvSpPr>
        <p:spPr>
          <a:xfrm>
            <a:off x="6382512" y="3602736"/>
            <a:ext cx="5120640" cy="219456"/>
          </a:xfrm>
          <a:prstGeom prst="rect">
            <a:avLst/>
          </a:prstGeom>
          <a:noFill/>
        </p:spPr>
        <p:txBody>
          <a:bodyPr wrap="square" anchor="t" lIns="18288" rIns="18288" tIns="0" bIns="0">
            <a:spAutoFit/>
          </a:bodyPr>
          <a:lstStyle/>
          <a:p>
            <a:pPr algn="ctr">
              <a:lnSpc>
                <a:spcPct val="100000"/>
              </a:lnSpc>
            </a:pPr>
            <a:r>
              <a:rPr sz="800" b="1" i="0">
                <a:solidFill>
                  <a:srgbClr val="2E6F4F"/>
                </a:solidFill>
                <a:latin typeface="Segoe UI"/>
              </a:rPr>
              <a:t>1 Ethernet port  ·  1 network address  ·  1 daisy-chained bus</a:t>
            </a:r>
          </a:p>
        </p:txBody>
      </p:sp>
      <p:graphicFrame>
        <p:nvGraphicFramePr>
          <p:cNvPr id="75" name="Table 74"/>
          <p:cNvGraphicFramePr>
            <a:graphicFrameLocks noGrp="1"/>
          </p:cNvGraphicFramePr>
          <p:nvPr/>
        </p:nvGraphicFramePr>
        <p:xfrm>
          <a:off x="502920" y="4114800"/>
          <a:ext cx="7315200" cy="1856232"/>
        </p:xfrm>
        <a:graphic>
          <a:graphicData uri="http://schemas.openxmlformats.org/drawingml/2006/table">
            <a:tbl>
              <a:tblPr firstRow="1">
                <a:tableStyleId>{5C22544A-7EE6-4342-B048-85BDC9FD1C3A}</a:tableStyleId>
              </a:tblPr>
              <a:tblGrid>
                <a:gridCol w="3931920"/>
                <a:gridCol w="1097280"/>
                <a:gridCol w="1097280"/>
                <a:gridCol w="1188720"/>
              </a:tblGrid>
              <a:tr h="265176">
                <a:tc>
                  <a:txBody>
                    <a:bodyPr/>
                    <a:lstStyle/>
                    <a:p>
                      <a:pPr>
                        <a:lnSpc>
                          <a:spcPct val="100000"/>
                        </a:lnSpc>
                      </a:pPr>
                      <a:r>
                        <a:rPr sz="900" b="1">
                          <a:solidFill>
                            <a:srgbClr val="FFFFFF"/>
                          </a:solidFill>
                          <a:latin typeface="Segoe UI"/>
                        </a:rPr>
                        <a:t>Controller-side item, per eight-channel bench</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OLD BTS</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NEW ME</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Change</a:t>
                      </a:r>
                    </a:p>
                  </a:txBody>
                  <a:tcPr marL="50292" marR="41148" marT="20116" marB="20116" anchor="ctr">
                    <a:solidFill>
                      <a:srgbClr val="1E3A5F"/>
                    </a:solidFill>
                  </a:tcPr>
                </a:tc>
              </a:tr>
              <a:tr h="265176">
                <a:tc>
                  <a:txBody>
                    <a:bodyPr/>
                    <a:lstStyle/>
                    <a:p>
                      <a:pPr>
                        <a:lnSpc>
                          <a:spcPct val="100000"/>
                        </a:lnSpc>
                      </a:pPr>
                      <a:r>
                        <a:rPr sz="850" b="0">
                          <a:solidFill>
                            <a:srgbClr val="334155"/>
                          </a:solidFill>
                          <a:latin typeface="Segoe UI"/>
                        </a:rPr>
                        <a:t>Primary boards</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8</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1</a:t>
                      </a:r>
                    </a:p>
                  </a:txBody>
                  <a:tcPr marL="50292" marR="41148" marT="20116" marB="20116" anchor="ctr">
                    <a:solidFill>
                      <a:srgbClr val="FFFFFF"/>
                    </a:solidFill>
                  </a:tcPr>
                </a:tc>
                <a:tc>
                  <a:txBody>
                    <a:bodyPr/>
                    <a:lstStyle/>
                    <a:p>
                      <a:pPr algn="ctr">
                        <a:lnSpc>
                          <a:spcPct val="100000"/>
                        </a:lnSpc>
                      </a:pPr>
                      <a:r>
                        <a:rPr sz="850" b="1">
                          <a:solidFill>
                            <a:srgbClr val="2E6F4F"/>
                          </a:solidFill>
                          <a:latin typeface="Segoe UI"/>
                        </a:rPr>
                        <a:t>−7</a:t>
                      </a:r>
                    </a:p>
                  </a:txBody>
                  <a:tcPr marL="50292" marR="41148" marT="20116" marB="20116" anchor="ctr">
                    <a:solidFill>
                      <a:srgbClr val="FFFFFF"/>
                    </a:solidFill>
                  </a:tcPr>
                </a:tc>
              </a:tr>
              <a:tr h="265176">
                <a:tc>
                  <a:txBody>
                    <a:bodyPr/>
                    <a:lstStyle/>
                    <a:p>
                      <a:pPr>
                        <a:lnSpc>
                          <a:spcPct val="100000"/>
                        </a:lnSpc>
                      </a:pPr>
                      <a:r>
                        <a:rPr sz="850" b="0">
                          <a:solidFill>
                            <a:srgbClr val="334155"/>
                          </a:solidFill>
                          <a:latin typeface="Segoe UI"/>
                        </a:rPr>
                        <a:t>COM controller boards</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8</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0 or 1</a:t>
                      </a:r>
                    </a:p>
                  </a:txBody>
                  <a:tcPr marL="50292" marR="41148" marT="20116" marB="20116" anchor="ctr">
                    <a:solidFill>
                      <a:srgbClr val="F6F8FB"/>
                    </a:solidFill>
                  </a:tcPr>
                </a:tc>
                <a:tc>
                  <a:txBody>
                    <a:bodyPr/>
                    <a:lstStyle/>
                    <a:p>
                      <a:pPr algn="ctr">
                        <a:lnSpc>
                          <a:spcPct val="100000"/>
                        </a:lnSpc>
                      </a:pPr>
                      <a:r>
                        <a:rPr sz="850" b="1">
                          <a:solidFill>
                            <a:srgbClr val="2E6F4F"/>
                          </a:solidFill>
                          <a:latin typeface="Segoe UI"/>
                        </a:rPr>
                        <a:t>−7 or −8</a:t>
                      </a:r>
                    </a:p>
                  </a:txBody>
                  <a:tcPr marL="50292" marR="41148" marT="20116" marB="20116" anchor="ctr">
                    <a:solidFill>
                      <a:srgbClr val="F6F8FB"/>
                    </a:solidFill>
                  </a:tcPr>
                </a:tc>
              </a:tr>
              <a:tr h="265176">
                <a:tc>
                  <a:txBody>
                    <a:bodyPr/>
                    <a:lstStyle/>
                    <a:p>
                      <a:pPr>
                        <a:lnSpc>
                          <a:spcPct val="100000"/>
                        </a:lnSpc>
                      </a:pPr>
                      <a:r>
                        <a:rPr sz="850" b="0">
                          <a:solidFill>
                            <a:srgbClr val="334155"/>
                          </a:solidFill>
                          <a:latin typeface="Segoe UI"/>
                        </a:rPr>
                        <a:t>Secondary power-stage boards  (one per battery — unchanged)</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8</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8</a:t>
                      </a:r>
                    </a:p>
                  </a:txBody>
                  <a:tcPr marL="50292" marR="41148" marT="20116" marB="20116" anchor="ctr">
                    <a:solidFill>
                      <a:srgbClr val="FFFFFF"/>
                    </a:solidFill>
                  </a:tcPr>
                </a:tc>
                <a:tc>
                  <a:txBody>
                    <a:bodyPr/>
                    <a:lstStyle/>
                    <a:p>
                      <a:pPr algn="ctr">
                        <a:lnSpc>
                          <a:spcPct val="100000"/>
                        </a:lnSpc>
                      </a:pPr>
                      <a:r>
                        <a:rPr sz="850" b="1">
                          <a:solidFill>
                            <a:srgbClr val="64748B"/>
                          </a:solidFill>
                          <a:latin typeface="Segoe UI"/>
                        </a:rPr>
                        <a:t>no change</a:t>
                      </a:r>
                    </a:p>
                  </a:txBody>
                  <a:tcPr marL="50292" marR="41148" marT="20116" marB="20116" anchor="ctr">
                    <a:solidFill>
                      <a:srgbClr val="FFFFFF"/>
                    </a:solidFill>
                  </a:tcPr>
                </a:tc>
              </a:tr>
              <a:tr h="265176">
                <a:tc>
                  <a:txBody>
                    <a:bodyPr/>
                    <a:lstStyle/>
                    <a:p>
                      <a:pPr>
                        <a:lnSpc>
                          <a:spcPct val="100000"/>
                        </a:lnSpc>
                      </a:pPr>
                      <a:r>
                        <a:rPr sz="850" b="0">
                          <a:solidFill>
                            <a:srgbClr val="334155"/>
                          </a:solidFill>
                          <a:latin typeface="Segoe UI"/>
                        </a:rPr>
                        <a:t>Ethernet ports used</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8</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1</a:t>
                      </a:r>
                    </a:p>
                  </a:txBody>
                  <a:tcPr marL="50292" marR="41148" marT="20116" marB="20116" anchor="ctr">
                    <a:solidFill>
                      <a:srgbClr val="F6F8FB"/>
                    </a:solidFill>
                  </a:tcPr>
                </a:tc>
                <a:tc>
                  <a:txBody>
                    <a:bodyPr/>
                    <a:lstStyle/>
                    <a:p>
                      <a:pPr algn="ctr">
                        <a:lnSpc>
                          <a:spcPct val="100000"/>
                        </a:lnSpc>
                      </a:pPr>
                      <a:r>
                        <a:rPr sz="850" b="1">
                          <a:solidFill>
                            <a:srgbClr val="2E6F4F"/>
                          </a:solidFill>
                          <a:latin typeface="Segoe UI"/>
                        </a:rPr>
                        <a:t>−7</a:t>
                      </a:r>
                    </a:p>
                  </a:txBody>
                  <a:tcPr marL="50292" marR="41148" marT="20116" marB="20116" anchor="ctr">
                    <a:solidFill>
                      <a:srgbClr val="F6F8FB"/>
                    </a:solidFill>
                  </a:tcPr>
                </a:tc>
              </a:tr>
              <a:tr h="265176">
                <a:tc>
                  <a:txBody>
                    <a:bodyPr/>
                    <a:lstStyle/>
                    <a:p>
                      <a:pPr>
                        <a:lnSpc>
                          <a:spcPct val="100000"/>
                        </a:lnSpc>
                      </a:pPr>
                      <a:r>
                        <a:rPr sz="850" b="0">
                          <a:solidFill>
                            <a:srgbClr val="334155"/>
                          </a:solidFill>
                          <a:latin typeface="Segoe UI"/>
                        </a:rPr>
                        <a:t>Network addresses to manage</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8</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1</a:t>
                      </a:r>
                    </a:p>
                  </a:txBody>
                  <a:tcPr marL="50292" marR="41148" marT="20116" marB="20116" anchor="ctr">
                    <a:solidFill>
                      <a:srgbClr val="FFFFFF"/>
                    </a:solidFill>
                  </a:tcPr>
                </a:tc>
                <a:tc>
                  <a:txBody>
                    <a:bodyPr/>
                    <a:lstStyle/>
                    <a:p>
                      <a:pPr algn="ctr">
                        <a:lnSpc>
                          <a:spcPct val="100000"/>
                        </a:lnSpc>
                      </a:pPr>
                      <a:r>
                        <a:rPr sz="850" b="1">
                          <a:solidFill>
                            <a:srgbClr val="2E6F4F"/>
                          </a:solidFill>
                          <a:latin typeface="Segoe UI"/>
                        </a:rPr>
                        <a:t>−7</a:t>
                      </a:r>
                    </a:p>
                  </a:txBody>
                  <a:tcPr marL="50292" marR="41148" marT="20116" marB="20116" anchor="ctr">
                    <a:solidFill>
                      <a:srgbClr val="FFFFFF"/>
                    </a:solidFill>
                  </a:tcPr>
                </a:tc>
              </a:tr>
              <a:tr h="265176">
                <a:tc>
                  <a:txBody>
                    <a:bodyPr/>
                    <a:lstStyle/>
                    <a:p>
                      <a:pPr>
                        <a:lnSpc>
                          <a:spcPct val="100000"/>
                        </a:lnSpc>
                      </a:pPr>
                      <a:r>
                        <a:rPr sz="850" b="0">
                          <a:solidFill>
                            <a:srgbClr val="334155"/>
                          </a:solidFill>
                          <a:latin typeface="Segoe UI"/>
                        </a:rPr>
                        <a:t>Inter-board cable runs</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24</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1 shared bus</a:t>
                      </a:r>
                    </a:p>
                  </a:txBody>
                  <a:tcPr marL="50292" marR="41148" marT="20116" marB="20116" anchor="ctr">
                    <a:solidFill>
                      <a:srgbClr val="F6F8FB"/>
                    </a:solidFill>
                  </a:tcPr>
                </a:tc>
                <a:tc>
                  <a:txBody>
                    <a:bodyPr/>
                    <a:lstStyle/>
                    <a:p>
                      <a:pPr algn="ctr">
                        <a:lnSpc>
                          <a:spcPct val="100000"/>
                        </a:lnSpc>
                      </a:pPr>
                      <a:r>
                        <a:rPr sz="850" b="1">
                          <a:solidFill>
                            <a:srgbClr val="2E6F4F"/>
                          </a:solidFill>
                          <a:latin typeface="Segoe UI"/>
                        </a:rPr>
                        <a:t>large reduction</a:t>
                      </a:r>
                    </a:p>
                  </a:txBody>
                  <a:tcPr marL="50292" marR="41148" marT="20116" marB="20116" anchor="ctr">
                    <a:solidFill>
                      <a:srgbClr val="F6F8FB"/>
                    </a:solidFill>
                  </a:tcPr>
                </a:tc>
              </a:tr>
            </a:tbl>
          </a:graphicData>
        </a:graphic>
      </p:graphicFrame>
      <p:sp>
        <p:nvSpPr>
          <p:cNvPr id="76" name="Rounded Rectangle 75"/>
          <p:cNvSpPr/>
          <p:nvPr/>
        </p:nvSpPr>
        <p:spPr>
          <a:xfrm>
            <a:off x="8028431" y="4114800"/>
            <a:ext cx="3657600" cy="2011680"/>
          </a:xfrm>
          <a:prstGeom prst="roundRect">
            <a:avLst>
              <a:gd name="adj" fmla="val 6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229600" y="4279392"/>
            <a:ext cx="3255264" cy="1737360"/>
          </a:xfrm>
          <a:prstGeom prst="rect">
            <a:avLst/>
          </a:prstGeom>
          <a:noFill/>
        </p:spPr>
        <p:txBody>
          <a:bodyPr wrap="square" anchor="t" lIns="0" rIns="0" tIns="0" bIns="0">
            <a:spAutoFit/>
          </a:bodyPr>
          <a:lstStyle/>
          <a:p>
            <a:pPr algn="l">
              <a:lnSpc>
                <a:spcPct val="105000"/>
              </a:lnSpc>
              <a:spcBef>
                <a:spcPts val="0"/>
              </a:spcBef>
            </a:pPr>
            <a:r>
              <a:rPr sz="950" b="1">
                <a:solidFill>
                  <a:srgbClr val="7FC9C6"/>
                </a:solidFill>
                <a:latin typeface="Segoe UI"/>
              </a:rPr>
              <a:t>WHERE THE SAVING COMES FROM</a:t>
            </a:r>
          </a:p>
          <a:p>
            <a:pPr algn="l">
              <a:lnSpc>
                <a:spcPct val="105000"/>
              </a:lnSpc>
              <a:spcBef>
                <a:spcPts val="600"/>
              </a:spcBef>
            </a:pPr>
            <a:r>
              <a:rPr sz="900" b="0">
                <a:solidFill>
                  <a:srgbClr val="D5E0EE"/>
                </a:solidFill>
                <a:latin typeface="Segoe UI"/>
              </a:rPr>
              <a:t>The power stage count does not change, because one is inherently required per battery.</a:t>
            </a:r>
          </a:p>
          <a:p>
            <a:pPr algn="l">
              <a:lnSpc>
                <a:spcPct val="105000"/>
              </a:lnSpc>
              <a:spcBef>
                <a:spcPts val="500"/>
              </a:spcBef>
            </a:pPr>
            <a:r>
              <a:rPr sz="900" b="1">
                <a:solidFill>
                  <a:srgbClr val="FFFFFF"/>
                </a:solidFill>
                <a:latin typeface="Segoe UI"/>
              </a:rPr>
              <a:t>The entire saving lies in the controller and network layer.</a:t>
            </a:r>
          </a:p>
          <a:p>
            <a:pPr algn="l">
              <a:lnSpc>
                <a:spcPct val="105000"/>
              </a:lnSpc>
              <a:spcBef>
                <a:spcPts val="500"/>
              </a:spcBef>
            </a:pPr>
            <a:r>
              <a:rPr sz="900" b="0">
                <a:solidFill>
                  <a:srgbClr val="D5E0EE"/>
                </a:solidFill>
                <a:latin typeface="Segoe UI"/>
              </a:rPr>
              <a:t>That is precisely where the current design is over-provisioned: today every individual battery is given its own controller board, its own network stack and its own address on the customer's network.</a:t>
            </a:r>
          </a:p>
        </p:txBody>
      </p:sp>
      <p:sp>
        <p:nvSpPr>
          <p:cNvPr id="78" name="Rectangle 77"/>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80" name="TextBox 79"/>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06 · THE 1 MS LIVE DATA REQUIREMENT</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What the requirement asks of the bus — and why a standard bus cannot deliver it</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This is the most important technical slide in the deck. Every Secondary must report current and voltage every millisecond, and that data must be stored.</a:t>
            </a:r>
          </a:p>
        </p:txBody>
      </p:sp>
      <p:sp>
        <p:nvSpPr>
          <p:cNvPr id="7" name="Rounded Rectangle 6"/>
          <p:cNvSpPr/>
          <p:nvPr/>
        </p:nvSpPr>
        <p:spPr>
          <a:xfrm>
            <a:off x="502920" y="1234440"/>
            <a:ext cx="3566160" cy="214884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234440"/>
            <a:ext cx="3566160" cy="457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1371600"/>
            <a:ext cx="3154680" cy="219456"/>
          </a:xfrm>
          <a:prstGeom prst="rect">
            <a:avLst/>
          </a:prstGeom>
          <a:noFill/>
        </p:spPr>
        <p:txBody>
          <a:bodyPr wrap="square" anchor="t" lIns="18288" rIns="18288" tIns="0" bIns="0">
            <a:spAutoFit/>
          </a:bodyPr>
          <a:lstStyle/>
          <a:p>
            <a:pPr algn="l">
              <a:lnSpc>
                <a:spcPct val="100000"/>
              </a:lnSpc>
            </a:pPr>
            <a:r>
              <a:rPr sz="950" b="1" i="0">
                <a:solidFill>
                  <a:srgbClr val="142A47"/>
                </a:solidFill>
                <a:latin typeface="Segoe UI"/>
              </a:rPr>
              <a:t>THE TRAFFIC PROFILE</a:t>
            </a:r>
          </a:p>
        </p:txBody>
      </p:sp>
      <p:sp>
        <p:nvSpPr>
          <p:cNvPr id="10" name="TextBox 9"/>
          <p:cNvSpPr txBox="1"/>
          <p:nvPr/>
        </p:nvSpPr>
        <p:spPr>
          <a:xfrm>
            <a:off x="713232" y="1627632"/>
            <a:ext cx="2148840" cy="237744"/>
          </a:xfrm>
          <a:prstGeom prst="rect">
            <a:avLst/>
          </a:prstGeom>
          <a:noFill/>
        </p:spPr>
        <p:txBody>
          <a:bodyPr wrap="square" anchor="t" lIns="18288" rIns="18288" tIns="0" bIns="0">
            <a:spAutoFit/>
          </a:bodyPr>
          <a:lstStyle/>
          <a:p>
            <a:pPr algn="l">
              <a:lnSpc>
                <a:spcPct val="110000"/>
              </a:lnSpc>
            </a:pPr>
            <a:r>
              <a:rPr sz="850" b="0" i="0">
                <a:solidFill>
                  <a:srgbClr val="334155"/>
                </a:solidFill>
                <a:latin typeface="Segoe UI"/>
              </a:rPr>
              <a:t>Number of Secondaries</a:t>
            </a:r>
          </a:p>
        </p:txBody>
      </p:sp>
      <p:sp>
        <p:nvSpPr>
          <p:cNvPr id="11" name="TextBox 10"/>
          <p:cNvSpPr txBox="1"/>
          <p:nvPr/>
        </p:nvSpPr>
        <p:spPr>
          <a:xfrm>
            <a:off x="2834640" y="1627632"/>
            <a:ext cx="1051560" cy="237744"/>
          </a:xfrm>
          <a:prstGeom prst="rect">
            <a:avLst/>
          </a:prstGeom>
          <a:noFill/>
        </p:spPr>
        <p:txBody>
          <a:bodyPr wrap="square" anchor="t" lIns="18288" rIns="18288" tIns="0" bIns="0">
            <a:spAutoFit/>
          </a:bodyPr>
          <a:lstStyle/>
          <a:p>
            <a:pPr algn="r">
              <a:lnSpc>
                <a:spcPct val="100000"/>
              </a:lnSpc>
            </a:pPr>
            <a:r>
              <a:rPr sz="900" b="1" i="0">
                <a:solidFill>
                  <a:srgbClr val="1E3A5F"/>
                </a:solidFill>
                <a:latin typeface="Segoe UI"/>
              </a:rPr>
              <a:t>8</a:t>
            </a:r>
          </a:p>
        </p:txBody>
      </p:sp>
      <p:sp>
        <p:nvSpPr>
          <p:cNvPr id="12" name="TextBox 11"/>
          <p:cNvSpPr txBox="1"/>
          <p:nvPr/>
        </p:nvSpPr>
        <p:spPr>
          <a:xfrm>
            <a:off x="713232" y="1856232"/>
            <a:ext cx="2148840" cy="237744"/>
          </a:xfrm>
          <a:prstGeom prst="rect">
            <a:avLst/>
          </a:prstGeom>
          <a:noFill/>
        </p:spPr>
        <p:txBody>
          <a:bodyPr wrap="square" anchor="t" lIns="18288" rIns="18288" tIns="0" bIns="0">
            <a:spAutoFit/>
          </a:bodyPr>
          <a:lstStyle/>
          <a:p>
            <a:pPr algn="l">
              <a:lnSpc>
                <a:spcPct val="110000"/>
              </a:lnSpc>
            </a:pPr>
            <a:r>
              <a:rPr sz="850" b="0" i="0">
                <a:solidFill>
                  <a:srgbClr val="334155"/>
                </a:solidFill>
                <a:latin typeface="Segoe UI"/>
              </a:rPr>
              <a:t>How often each one reports</a:t>
            </a:r>
          </a:p>
        </p:txBody>
      </p:sp>
      <p:sp>
        <p:nvSpPr>
          <p:cNvPr id="13" name="TextBox 12"/>
          <p:cNvSpPr txBox="1"/>
          <p:nvPr/>
        </p:nvSpPr>
        <p:spPr>
          <a:xfrm>
            <a:off x="2834640" y="1856232"/>
            <a:ext cx="1051560" cy="237744"/>
          </a:xfrm>
          <a:prstGeom prst="rect">
            <a:avLst/>
          </a:prstGeom>
          <a:noFill/>
        </p:spPr>
        <p:txBody>
          <a:bodyPr wrap="square" anchor="t" lIns="18288" rIns="18288" tIns="0" bIns="0">
            <a:spAutoFit/>
          </a:bodyPr>
          <a:lstStyle/>
          <a:p>
            <a:pPr algn="r">
              <a:lnSpc>
                <a:spcPct val="100000"/>
              </a:lnSpc>
            </a:pPr>
            <a:r>
              <a:rPr sz="900" b="1" i="0">
                <a:solidFill>
                  <a:srgbClr val="1E3A5F"/>
                </a:solidFill>
                <a:latin typeface="Segoe UI"/>
              </a:rPr>
              <a:t>every 1 ms</a:t>
            </a:r>
          </a:p>
        </p:txBody>
      </p:sp>
      <p:sp>
        <p:nvSpPr>
          <p:cNvPr id="14" name="TextBox 13"/>
          <p:cNvSpPr txBox="1"/>
          <p:nvPr/>
        </p:nvSpPr>
        <p:spPr>
          <a:xfrm>
            <a:off x="713232" y="2084832"/>
            <a:ext cx="2148840" cy="237744"/>
          </a:xfrm>
          <a:prstGeom prst="rect">
            <a:avLst/>
          </a:prstGeom>
          <a:noFill/>
        </p:spPr>
        <p:txBody>
          <a:bodyPr wrap="square" anchor="t" lIns="18288" rIns="18288" tIns="0" bIns="0">
            <a:spAutoFit/>
          </a:bodyPr>
          <a:lstStyle/>
          <a:p>
            <a:pPr algn="l">
              <a:lnSpc>
                <a:spcPct val="110000"/>
              </a:lnSpc>
            </a:pPr>
            <a:r>
              <a:rPr sz="850" b="0" i="0">
                <a:solidFill>
                  <a:srgbClr val="334155"/>
                </a:solidFill>
                <a:latin typeface="Segoe UI"/>
              </a:rPr>
              <a:t>Size of each reading</a:t>
            </a:r>
          </a:p>
        </p:txBody>
      </p:sp>
      <p:sp>
        <p:nvSpPr>
          <p:cNvPr id="15" name="TextBox 14"/>
          <p:cNvSpPr txBox="1"/>
          <p:nvPr/>
        </p:nvSpPr>
        <p:spPr>
          <a:xfrm>
            <a:off x="2834640" y="2084832"/>
            <a:ext cx="1051560" cy="237744"/>
          </a:xfrm>
          <a:prstGeom prst="rect">
            <a:avLst/>
          </a:prstGeom>
          <a:noFill/>
        </p:spPr>
        <p:txBody>
          <a:bodyPr wrap="square" anchor="t" lIns="18288" rIns="18288" tIns="0" bIns="0">
            <a:spAutoFit/>
          </a:bodyPr>
          <a:lstStyle/>
          <a:p>
            <a:pPr algn="r">
              <a:lnSpc>
                <a:spcPct val="100000"/>
              </a:lnSpc>
            </a:pPr>
            <a:r>
              <a:rPr sz="900" b="1" i="0">
                <a:solidFill>
                  <a:srgbClr val="1E3A5F"/>
                </a:solidFill>
                <a:latin typeface="Segoe UI"/>
              </a:rPr>
              <a:t>8 bytes</a:t>
            </a:r>
          </a:p>
        </p:txBody>
      </p:sp>
      <p:sp>
        <p:nvSpPr>
          <p:cNvPr id="16" name="TextBox 15"/>
          <p:cNvSpPr txBox="1"/>
          <p:nvPr/>
        </p:nvSpPr>
        <p:spPr>
          <a:xfrm>
            <a:off x="713232" y="2313432"/>
            <a:ext cx="2148840" cy="237744"/>
          </a:xfrm>
          <a:prstGeom prst="rect">
            <a:avLst/>
          </a:prstGeom>
          <a:noFill/>
        </p:spPr>
        <p:txBody>
          <a:bodyPr wrap="square" anchor="t" lIns="18288" rIns="18288" tIns="0" bIns="0">
            <a:spAutoFit/>
          </a:bodyPr>
          <a:lstStyle/>
          <a:p>
            <a:pPr algn="l">
              <a:lnSpc>
                <a:spcPct val="110000"/>
              </a:lnSpc>
            </a:pPr>
            <a:r>
              <a:rPr sz="850" b="0" i="0">
                <a:solidFill>
                  <a:srgbClr val="334155"/>
                </a:solidFill>
                <a:latin typeface="Segoe UI"/>
              </a:rPr>
              <a:t>Total messages per second</a:t>
            </a:r>
          </a:p>
        </p:txBody>
      </p:sp>
      <p:sp>
        <p:nvSpPr>
          <p:cNvPr id="17" name="TextBox 16"/>
          <p:cNvSpPr txBox="1"/>
          <p:nvPr/>
        </p:nvSpPr>
        <p:spPr>
          <a:xfrm>
            <a:off x="2834640" y="2313432"/>
            <a:ext cx="1051560" cy="237744"/>
          </a:xfrm>
          <a:prstGeom prst="rect">
            <a:avLst/>
          </a:prstGeom>
          <a:noFill/>
        </p:spPr>
        <p:txBody>
          <a:bodyPr wrap="square" anchor="t" lIns="18288" rIns="18288" tIns="0" bIns="0">
            <a:spAutoFit/>
          </a:bodyPr>
          <a:lstStyle/>
          <a:p>
            <a:pPr algn="r">
              <a:lnSpc>
                <a:spcPct val="100000"/>
              </a:lnSpc>
            </a:pPr>
            <a:r>
              <a:rPr sz="900" b="1" i="0">
                <a:solidFill>
                  <a:srgbClr val="1E3A5F"/>
                </a:solidFill>
                <a:latin typeface="Segoe UI"/>
              </a:rPr>
              <a:t>8,000</a:t>
            </a:r>
          </a:p>
        </p:txBody>
      </p:sp>
      <p:sp>
        <p:nvSpPr>
          <p:cNvPr id="18" name="TextBox 17"/>
          <p:cNvSpPr txBox="1"/>
          <p:nvPr/>
        </p:nvSpPr>
        <p:spPr>
          <a:xfrm>
            <a:off x="713232" y="2542032"/>
            <a:ext cx="2148840" cy="237744"/>
          </a:xfrm>
          <a:prstGeom prst="rect">
            <a:avLst/>
          </a:prstGeom>
          <a:noFill/>
        </p:spPr>
        <p:txBody>
          <a:bodyPr wrap="square" anchor="t" lIns="18288" rIns="18288" tIns="0" bIns="0">
            <a:spAutoFit/>
          </a:bodyPr>
          <a:lstStyle/>
          <a:p>
            <a:pPr algn="l">
              <a:lnSpc>
                <a:spcPct val="110000"/>
              </a:lnSpc>
            </a:pPr>
            <a:r>
              <a:rPr sz="850" b="0" i="0">
                <a:solidFill>
                  <a:srgbClr val="334155"/>
                </a:solidFill>
                <a:latin typeface="Segoe UI"/>
              </a:rPr>
              <a:t>One message, with overhead</a:t>
            </a:r>
          </a:p>
        </p:txBody>
      </p:sp>
      <p:sp>
        <p:nvSpPr>
          <p:cNvPr id="19" name="TextBox 18"/>
          <p:cNvSpPr txBox="1"/>
          <p:nvPr/>
        </p:nvSpPr>
        <p:spPr>
          <a:xfrm>
            <a:off x="2834640" y="2542032"/>
            <a:ext cx="1051560" cy="237744"/>
          </a:xfrm>
          <a:prstGeom prst="rect">
            <a:avLst/>
          </a:prstGeom>
          <a:noFill/>
        </p:spPr>
        <p:txBody>
          <a:bodyPr wrap="square" anchor="t" lIns="18288" rIns="18288" tIns="0" bIns="0">
            <a:spAutoFit/>
          </a:bodyPr>
          <a:lstStyle/>
          <a:p>
            <a:pPr algn="r">
              <a:lnSpc>
                <a:spcPct val="100000"/>
              </a:lnSpc>
            </a:pPr>
            <a:r>
              <a:rPr sz="900" b="1" i="0">
                <a:solidFill>
                  <a:srgbClr val="1E3A5F"/>
                </a:solidFill>
                <a:latin typeface="Segoe UI"/>
              </a:rPr>
              <a:t>~125 bits</a:t>
            </a:r>
          </a:p>
        </p:txBody>
      </p:sp>
      <p:sp>
        <p:nvSpPr>
          <p:cNvPr id="20" name="Rectangle 19"/>
          <p:cNvSpPr/>
          <p:nvPr/>
        </p:nvSpPr>
        <p:spPr>
          <a:xfrm>
            <a:off x="713232" y="2770632"/>
            <a:ext cx="3154680" cy="18288"/>
          </a:xfrm>
          <a:prstGeom prst="rect">
            <a:avLst/>
          </a:prstGeom>
          <a:solidFill>
            <a:srgbClr val="D3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3232" y="2852928"/>
            <a:ext cx="1783080" cy="402336"/>
          </a:xfrm>
          <a:prstGeom prst="rect">
            <a:avLst/>
          </a:prstGeom>
          <a:noFill/>
        </p:spPr>
        <p:txBody>
          <a:bodyPr wrap="square" anchor="t" lIns="18288" rIns="18288" tIns="0" bIns="0">
            <a:spAutoFit/>
          </a:bodyPr>
          <a:lstStyle/>
          <a:p>
            <a:pPr algn="l">
              <a:lnSpc>
                <a:spcPct val="110000"/>
              </a:lnSpc>
            </a:pPr>
            <a:r>
              <a:rPr sz="850" b="1" i="0">
                <a:solidFill>
                  <a:srgbClr val="334155"/>
                </a:solidFill>
                <a:latin typeface="Segoe UI"/>
              </a:rPr>
              <a:t>The data rate the</a:t>
            </a:r>
          </a:p>
          <a:p>
            <a:pPr algn="l">
              <a:lnSpc>
                <a:spcPct val="110000"/>
              </a:lnSpc>
            </a:pPr>
            <a:r>
              <a:rPr sz="850" b="1" i="0">
                <a:solidFill>
                  <a:srgbClr val="334155"/>
                </a:solidFill>
                <a:latin typeface="Segoe UI"/>
              </a:rPr>
              <a:t>requirement demands</a:t>
            </a:r>
          </a:p>
        </p:txBody>
      </p:sp>
      <p:sp>
        <p:nvSpPr>
          <p:cNvPr id="22" name="TextBox 21"/>
          <p:cNvSpPr txBox="1"/>
          <p:nvPr/>
        </p:nvSpPr>
        <p:spPr>
          <a:xfrm>
            <a:off x="2377440" y="2862072"/>
            <a:ext cx="1508760" cy="365760"/>
          </a:xfrm>
          <a:prstGeom prst="rect">
            <a:avLst/>
          </a:prstGeom>
          <a:noFill/>
        </p:spPr>
        <p:txBody>
          <a:bodyPr wrap="square" anchor="t" lIns="18288" rIns="18288" tIns="0" bIns="0">
            <a:spAutoFit/>
          </a:bodyPr>
          <a:lstStyle/>
          <a:p>
            <a:pPr algn="r">
              <a:lnSpc>
                <a:spcPct val="100000"/>
              </a:lnSpc>
            </a:pPr>
            <a:r>
              <a:rPr sz="1600" b="1" i="0">
                <a:solidFill>
                  <a:srgbClr val="9B2C35"/>
                </a:solidFill>
                <a:latin typeface="Segoe UI Light"/>
              </a:rPr>
              <a:t>1 Mbit/s</a:t>
            </a:r>
          </a:p>
        </p:txBody>
      </p:sp>
      <p:sp>
        <p:nvSpPr>
          <p:cNvPr id="23" name="Rounded Rectangle 22"/>
          <p:cNvSpPr/>
          <p:nvPr/>
        </p:nvSpPr>
        <p:spPr>
          <a:xfrm>
            <a:off x="4251960" y="1234440"/>
            <a:ext cx="4297680" cy="214884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251960" y="1234440"/>
            <a:ext cx="4297680" cy="45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62272" y="1371600"/>
            <a:ext cx="3886200" cy="219456"/>
          </a:xfrm>
          <a:prstGeom prst="rect">
            <a:avLst/>
          </a:prstGeom>
          <a:noFill/>
        </p:spPr>
        <p:txBody>
          <a:bodyPr wrap="square" anchor="t" lIns="18288" rIns="18288" tIns="0" bIns="0">
            <a:spAutoFit/>
          </a:bodyPr>
          <a:lstStyle/>
          <a:p>
            <a:pPr algn="l">
              <a:lnSpc>
                <a:spcPct val="100000"/>
              </a:lnSpc>
            </a:pPr>
            <a:r>
              <a:rPr sz="950" b="1" i="0">
                <a:solidFill>
                  <a:srgbClr val="0A6E6A"/>
                </a:solidFill>
                <a:latin typeface="Segoe UI"/>
              </a:rPr>
              <a:t>WHAT STANDARD CAN CAN CARRY</a:t>
            </a:r>
          </a:p>
        </p:txBody>
      </p:sp>
      <p:graphicFrame>
        <p:nvGraphicFramePr>
          <p:cNvPr id="26" name="Table 25"/>
          <p:cNvGraphicFramePr>
            <a:graphicFrameLocks noGrp="1"/>
          </p:cNvGraphicFramePr>
          <p:nvPr/>
        </p:nvGraphicFramePr>
        <p:xfrm>
          <a:off x="4434840" y="1645920"/>
          <a:ext cx="3931920" cy="877824"/>
        </p:xfrm>
        <a:graphic>
          <a:graphicData uri="http://schemas.openxmlformats.org/drawingml/2006/table">
            <a:tbl>
              <a:tblPr firstRow="1">
                <a:tableStyleId>{5C22544A-7EE6-4342-B048-85BDC9FD1C3A}</a:tableStyleId>
              </a:tblPr>
              <a:tblGrid>
                <a:gridCol w="1298448"/>
                <a:gridCol w="1051560"/>
                <a:gridCol w="777240"/>
                <a:gridCol w="804672"/>
              </a:tblGrid>
              <a:tr h="219456">
                <a:tc>
                  <a:txBody>
                    <a:bodyPr/>
                    <a:lstStyle/>
                    <a:p>
                      <a:pPr>
                        <a:lnSpc>
                          <a:spcPct val="100000"/>
                        </a:lnSpc>
                      </a:pPr>
                      <a:r>
                        <a:rPr sz="800" b="1">
                          <a:solidFill>
                            <a:srgbClr val="FFFFFF"/>
                          </a:solidFill>
                          <a:latin typeface="Segoe UI"/>
                        </a:rPr>
                        <a:t>Bus speed</a:t>
                      </a:r>
                    </a:p>
                  </a:txBody>
                  <a:tcPr marL="50292" marR="41148" marT="20116" marB="20116" anchor="ctr">
                    <a:solidFill>
                      <a:srgbClr val="1E3A5F"/>
                    </a:solidFill>
                  </a:tcPr>
                </a:tc>
                <a:tc>
                  <a:txBody>
                    <a:bodyPr/>
                    <a:lstStyle/>
                    <a:p>
                      <a:pPr>
                        <a:lnSpc>
                          <a:spcPct val="100000"/>
                        </a:lnSpc>
                      </a:pPr>
                      <a:r>
                        <a:rPr sz="800" b="1">
                          <a:solidFill>
                            <a:srgbClr val="FFFFFF"/>
                          </a:solidFill>
                          <a:latin typeface="Segoe UI"/>
                        </a:rPr>
                        <a:t>Capacity</a:t>
                      </a:r>
                    </a:p>
                  </a:txBody>
                  <a:tcPr marL="50292" marR="41148" marT="20116" marB="20116" anchor="ctr">
                    <a:solidFill>
                      <a:srgbClr val="1E3A5F"/>
                    </a:solidFill>
                  </a:tcPr>
                </a:tc>
                <a:tc>
                  <a:txBody>
                    <a:bodyPr/>
                    <a:lstStyle/>
                    <a:p>
                      <a:pPr>
                        <a:lnSpc>
                          <a:spcPct val="100000"/>
                        </a:lnSpc>
                      </a:pPr>
                      <a:r>
                        <a:rPr sz="800" b="1">
                          <a:solidFill>
                            <a:srgbClr val="FFFFFF"/>
                          </a:solidFill>
                          <a:latin typeface="Segoe UI"/>
                        </a:rPr>
                        <a:t>Load</a:t>
                      </a:r>
                    </a:p>
                  </a:txBody>
                  <a:tcPr marL="50292" marR="41148" marT="20116" marB="20116" anchor="ctr">
                    <a:solidFill>
                      <a:srgbClr val="1E3A5F"/>
                    </a:solidFill>
                  </a:tcPr>
                </a:tc>
                <a:tc>
                  <a:txBody>
                    <a:bodyPr/>
                    <a:lstStyle/>
                    <a:p>
                      <a:pPr>
                        <a:lnSpc>
                          <a:spcPct val="100000"/>
                        </a:lnSpc>
                      </a:pPr>
                      <a:r>
                        <a:rPr sz="800" b="1">
                          <a:solidFill>
                            <a:srgbClr val="FFFFFF"/>
                          </a:solidFill>
                          <a:latin typeface="Segoe UI"/>
                        </a:rPr>
                        <a:t>Status</a:t>
                      </a:r>
                    </a:p>
                  </a:txBody>
                  <a:tcPr marL="50292" marR="41148" marT="20116" marB="20116" anchor="ctr">
                    <a:solidFill>
                      <a:srgbClr val="1E3A5F"/>
                    </a:solidFill>
                  </a:tcPr>
                </a:tc>
              </a:tr>
              <a:tr h="219456">
                <a:tc>
                  <a:txBody>
                    <a:bodyPr/>
                    <a:lstStyle/>
                    <a:p>
                      <a:pPr>
                        <a:lnSpc>
                          <a:spcPct val="100000"/>
                        </a:lnSpc>
                      </a:pPr>
                      <a:r>
                        <a:rPr sz="750" b="0">
                          <a:solidFill>
                            <a:srgbClr val="334155"/>
                          </a:solidFill>
                          <a:latin typeface="Segoe UI"/>
                        </a:rPr>
                        <a:t>250 kbit/s</a:t>
                      </a:r>
                    </a:p>
                  </a:txBody>
                  <a:tcPr marL="50292" marR="41148" marT="20116" marB="20116" anchor="ctr">
                    <a:solidFill>
                      <a:srgbClr val="FBE9EA"/>
                    </a:solidFill>
                  </a:tcPr>
                </a:tc>
                <a:tc>
                  <a:txBody>
                    <a:bodyPr/>
                    <a:lstStyle/>
                    <a:p>
                      <a:pPr algn="ctr">
                        <a:lnSpc>
                          <a:spcPct val="100000"/>
                        </a:lnSpc>
                      </a:pPr>
                      <a:r>
                        <a:rPr sz="750" b="0">
                          <a:solidFill>
                            <a:srgbClr val="334155"/>
                          </a:solidFill>
                          <a:latin typeface="Segoe UI"/>
                        </a:rPr>
                        <a:t>250,000 bps</a:t>
                      </a:r>
                    </a:p>
                  </a:txBody>
                  <a:tcPr marL="50292" marR="41148" marT="20116" marB="20116" anchor="ctr">
                    <a:solidFill>
                      <a:srgbClr val="FBE9EA"/>
                    </a:solidFill>
                  </a:tcPr>
                </a:tc>
                <a:tc>
                  <a:txBody>
                    <a:bodyPr/>
                    <a:lstStyle/>
                    <a:p>
                      <a:pPr algn="ctr">
                        <a:lnSpc>
                          <a:spcPct val="100000"/>
                        </a:lnSpc>
                      </a:pPr>
                      <a:r>
                        <a:rPr sz="750" b="1">
                          <a:solidFill>
                            <a:srgbClr val="9B2C35"/>
                          </a:solidFill>
                          <a:latin typeface="Segoe UI"/>
                        </a:rPr>
                        <a:t>400 %</a:t>
                      </a:r>
                    </a:p>
                  </a:txBody>
                  <a:tcPr marL="50292" marR="41148" marT="20116" marB="20116" anchor="ctr">
                    <a:solidFill>
                      <a:srgbClr val="FBE9EA"/>
                    </a:solidFill>
                  </a:tcPr>
                </a:tc>
                <a:tc>
                  <a:txBody>
                    <a:bodyPr/>
                    <a:lstStyle/>
                    <a:p>
                      <a:pPr algn="ctr">
                        <a:lnSpc>
                          <a:spcPct val="100000"/>
                        </a:lnSpc>
                      </a:pPr>
                      <a:r>
                        <a:rPr sz="750" b="1">
                          <a:solidFill>
                            <a:srgbClr val="9B2C35"/>
                          </a:solidFill>
                          <a:latin typeface="Segoe UI"/>
                        </a:rPr>
                        <a:t>Fails</a:t>
                      </a:r>
                    </a:p>
                  </a:txBody>
                  <a:tcPr marL="50292" marR="41148" marT="20116" marB="20116" anchor="ctr">
                    <a:solidFill>
                      <a:srgbClr val="FBE9EA"/>
                    </a:solidFill>
                  </a:tcPr>
                </a:tc>
              </a:tr>
              <a:tr h="219456">
                <a:tc>
                  <a:txBody>
                    <a:bodyPr/>
                    <a:lstStyle/>
                    <a:p>
                      <a:pPr>
                        <a:lnSpc>
                          <a:spcPct val="100000"/>
                        </a:lnSpc>
                      </a:pPr>
                      <a:r>
                        <a:rPr sz="750" b="0">
                          <a:solidFill>
                            <a:srgbClr val="334155"/>
                          </a:solidFill>
                          <a:latin typeface="Segoe UI"/>
                        </a:rPr>
                        <a:t>500 kbit/s</a:t>
                      </a:r>
                    </a:p>
                  </a:txBody>
                  <a:tcPr marL="50292" marR="41148" marT="20116" marB="20116" anchor="ctr">
                    <a:solidFill>
                      <a:srgbClr val="FBE9EA"/>
                    </a:solidFill>
                  </a:tcPr>
                </a:tc>
                <a:tc>
                  <a:txBody>
                    <a:bodyPr/>
                    <a:lstStyle/>
                    <a:p>
                      <a:pPr algn="ctr">
                        <a:lnSpc>
                          <a:spcPct val="100000"/>
                        </a:lnSpc>
                      </a:pPr>
                      <a:r>
                        <a:rPr sz="750" b="0">
                          <a:solidFill>
                            <a:srgbClr val="334155"/>
                          </a:solidFill>
                          <a:latin typeface="Segoe UI"/>
                        </a:rPr>
                        <a:t>500,000 bps</a:t>
                      </a:r>
                    </a:p>
                  </a:txBody>
                  <a:tcPr marL="50292" marR="41148" marT="20116" marB="20116" anchor="ctr">
                    <a:solidFill>
                      <a:srgbClr val="FBE9EA"/>
                    </a:solidFill>
                  </a:tcPr>
                </a:tc>
                <a:tc>
                  <a:txBody>
                    <a:bodyPr/>
                    <a:lstStyle/>
                    <a:p>
                      <a:pPr algn="ctr">
                        <a:lnSpc>
                          <a:spcPct val="100000"/>
                        </a:lnSpc>
                      </a:pPr>
                      <a:r>
                        <a:rPr sz="750" b="1">
                          <a:solidFill>
                            <a:srgbClr val="9B2C35"/>
                          </a:solidFill>
                          <a:latin typeface="Segoe UI"/>
                        </a:rPr>
                        <a:t>200 %</a:t>
                      </a:r>
                    </a:p>
                  </a:txBody>
                  <a:tcPr marL="50292" marR="41148" marT="20116" marB="20116" anchor="ctr">
                    <a:solidFill>
                      <a:srgbClr val="FBE9EA"/>
                    </a:solidFill>
                  </a:tcPr>
                </a:tc>
                <a:tc>
                  <a:txBody>
                    <a:bodyPr/>
                    <a:lstStyle/>
                    <a:p>
                      <a:pPr algn="ctr">
                        <a:lnSpc>
                          <a:spcPct val="100000"/>
                        </a:lnSpc>
                      </a:pPr>
                      <a:r>
                        <a:rPr sz="750" b="1">
                          <a:solidFill>
                            <a:srgbClr val="9B2C35"/>
                          </a:solidFill>
                          <a:latin typeface="Segoe UI"/>
                        </a:rPr>
                        <a:t>Fails</a:t>
                      </a:r>
                    </a:p>
                  </a:txBody>
                  <a:tcPr marL="50292" marR="41148" marT="20116" marB="20116" anchor="ctr">
                    <a:solidFill>
                      <a:srgbClr val="FBE9EA"/>
                    </a:solidFill>
                  </a:tcPr>
                </a:tc>
              </a:tr>
              <a:tr h="219456">
                <a:tc>
                  <a:txBody>
                    <a:bodyPr/>
                    <a:lstStyle/>
                    <a:p>
                      <a:pPr>
                        <a:lnSpc>
                          <a:spcPct val="100000"/>
                        </a:lnSpc>
                      </a:pPr>
                      <a:r>
                        <a:rPr sz="750" b="0">
                          <a:solidFill>
                            <a:srgbClr val="334155"/>
                          </a:solidFill>
                          <a:latin typeface="Segoe UI"/>
                        </a:rPr>
                        <a:t>1 Mbit/s   (its maximum)</a:t>
                      </a:r>
                    </a:p>
                  </a:txBody>
                  <a:tcPr marL="50292" marR="41148" marT="20116" marB="20116" anchor="ctr">
                    <a:solidFill>
                      <a:srgbClr val="FBE9EA"/>
                    </a:solidFill>
                  </a:tcPr>
                </a:tc>
                <a:tc>
                  <a:txBody>
                    <a:bodyPr/>
                    <a:lstStyle/>
                    <a:p>
                      <a:pPr algn="ctr">
                        <a:lnSpc>
                          <a:spcPct val="100000"/>
                        </a:lnSpc>
                      </a:pPr>
                      <a:r>
                        <a:rPr sz="750" b="0">
                          <a:solidFill>
                            <a:srgbClr val="334155"/>
                          </a:solidFill>
                          <a:latin typeface="Segoe UI"/>
                        </a:rPr>
                        <a:t>1,000,000 bps</a:t>
                      </a:r>
                    </a:p>
                  </a:txBody>
                  <a:tcPr marL="50292" marR="41148" marT="20116" marB="20116" anchor="ctr">
                    <a:solidFill>
                      <a:srgbClr val="FBE9EA"/>
                    </a:solidFill>
                  </a:tcPr>
                </a:tc>
                <a:tc>
                  <a:txBody>
                    <a:bodyPr/>
                    <a:lstStyle/>
                    <a:p>
                      <a:pPr algn="ctr">
                        <a:lnSpc>
                          <a:spcPct val="100000"/>
                        </a:lnSpc>
                      </a:pPr>
                      <a:r>
                        <a:rPr sz="750" b="1">
                          <a:solidFill>
                            <a:srgbClr val="9B2C35"/>
                          </a:solidFill>
                          <a:latin typeface="Segoe UI"/>
                        </a:rPr>
                        <a:t>100–108 %</a:t>
                      </a:r>
                    </a:p>
                  </a:txBody>
                  <a:tcPr marL="50292" marR="41148" marT="20116" marB="20116" anchor="ctr">
                    <a:solidFill>
                      <a:srgbClr val="FBE9EA"/>
                    </a:solidFill>
                  </a:tcPr>
                </a:tc>
                <a:tc>
                  <a:txBody>
                    <a:bodyPr/>
                    <a:lstStyle/>
                    <a:p>
                      <a:pPr algn="ctr">
                        <a:lnSpc>
                          <a:spcPct val="100000"/>
                        </a:lnSpc>
                      </a:pPr>
                      <a:r>
                        <a:rPr sz="750" b="1">
                          <a:solidFill>
                            <a:srgbClr val="9B2C35"/>
                          </a:solidFill>
                          <a:latin typeface="Segoe UI"/>
                        </a:rPr>
                        <a:t>Fails</a:t>
                      </a:r>
                    </a:p>
                  </a:txBody>
                  <a:tcPr marL="50292" marR="41148" marT="20116" marB="20116" anchor="ctr">
                    <a:solidFill>
                      <a:srgbClr val="FBE9EA"/>
                    </a:solidFill>
                  </a:tcPr>
                </a:tc>
              </a:tr>
            </a:tbl>
          </a:graphicData>
        </a:graphic>
      </p:graphicFrame>
      <p:sp>
        <p:nvSpPr>
          <p:cNvPr id="27" name="TextBox 26"/>
          <p:cNvSpPr txBox="1"/>
          <p:nvPr/>
        </p:nvSpPr>
        <p:spPr>
          <a:xfrm>
            <a:off x="4462272" y="2697480"/>
            <a:ext cx="3886200" cy="548640"/>
          </a:xfrm>
          <a:prstGeom prst="rect">
            <a:avLst/>
          </a:prstGeom>
          <a:noFill/>
        </p:spPr>
        <p:txBody>
          <a:bodyPr wrap="square" anchor="t" lIns="18288" rIns="18288" tIns="0" bIns="0">
            <a:spAutoFit/>
          </a:bodyPr>
          <a:lstStyle/>
          <a:p>
            <a:pPr algn="l">
              <a:lnSpc>
                <a:spcPct val="120000"/>
              </a:lnSpc>
            </a:pPr>
            <a:r>
              <a:rPr sz="800" b="0" i="1">
                <a:solidFill>
                  <a:srgbClr val="64748B"/>
                </a:solidFill>
                <a:latin typeface="Segoe UI"/>
              </a:rPr>
              <a:t>For stability, utilisation should stay below 70 %. Above 100 % the bus physically cannot move the bits fast enough to keep up with the data being produced.</a:t>
            </a:r>
          </a:p>
        </p:txBody>
      </p:sp>
      <p:sp>
        <p:nvSpPr>
          <p:cNvPr id="28" name="Rounded Rectangle 27"/>
          <p:cNvSpPr/>
          <p:nvPr/>
        </p:nvSpPr>
        <p:spPr>
          <a:xfrm>
            <a:off x="8732520" y="1234440"/>
            <a:ext cx="2953512" cy="2148840"/>
          </a:xfrm>
          <a:prstGeom prst="roundRect">
            <a:avLst>
              <a:gd name="adj" fmla="val 6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42832" y="1417320"/>
            <a:ext cx="2560320" cy="219456"/>
          </a:xfrm>
          <a:prstGeom prst="rect">
            <a:avLst/>
          </a:prstGeom>
          <a:noFill/>
        </p:spPr>
        <p:txBody>
          <a:bodyPr wrap="square" anchor="t" lIns="18288" rIns="18288" tIns="0" bIns="0">
            <a:spAutoFit/>
          </a:bodyPr>
          <a:lstStyle/>
          <a:p>
            <a:pPr algn="l">
              <a:lnSpc>
                <a:spcPct val="100000"/>
              </a:lnSpc>
            </a:pPr>
            <a:r>
              <a:rPr sz="950" b="1" i="0">
                <a:solidFill>
                  <a:srgbClr val="F6D2D6"/>
                </a:solidFill>
                <a:latin typeface="Segoe UI"/>
              </a:rPr>
              <a:t>THE VERDICT</a:t>
            </a:r>
          </a:p>
        </p:txBody>
      </p:sp>
      <p:sp>
        <p:nvSpPr>
          <p:cNvPr id="30" name="TextBox 29"/>
          <p:cNvSpPr txBox="1"/>
          <p:nvPr/>
        </p:nvSpPr>
        <p:spPr>
          <a:xfrm>
            <a:off x="8942832" y="1700784"/>
            <a:ext cx="2560320" cy="1005840"/>
          </a:xfrm>
          <a:prstGeom prst="rect">
            <a:avLst/>
          </a:prstGeom>
          <a:noFill/>
        </p:spPr>
        <p:txBody>
          <a:bodyPr wrap="square" anchor="t" lIns="18288" rIns="18288" tIns="0" bIns="0">
            <a:spAutoFit/>
          </a:bodyPr>
          <a:lstStyle/>
          <a:p>
            <a:pPr algn="l">
              <a:lnSpc>
                <a:spcPct val="115000"/>
              </a:lnSpc>
            </a:pPr>
            <a:r>
              <a:rPr sz="1400" b="1" i="0">
                <a:solidFill>
                  <a:srgbClr val="FFFFFF"/>
                </a:solidFill>
                <a:latin typeface="Segoe UI"/>
              </a:rPr>
              <a:t>Standard CAN cannot meet this requirement at any speed.</a:t>
            </a:r>
          </a:p>
        </p:txBody>
      </p:sp>
      <p:sp>
        <p:nvSpPr>
          <p:cNvPr id="31" name="Rectangle 30"/>
          <p:cNvSpPr/>
          <p:nvPr/>
        </p:nvSpPr>
        <p:spPr>
          <a:xfrm>
            <a:off x="8942832" y="2670048"/>
            <a:ext cx="2560320" cy="18288"/>
          </a:xfrm>
          <a:prstGeom prst="rect">
            <a:avLst/>
          </a:prstGeom>
          <a:solidFill>
            <a:srgbClr val="C05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42832" y="2761488"/>
            <a:ext cx="2560320" cy="548640"/>
          </a:xfrm>
          <a:prstGeom prst="rect">
            <a:avLst/>
          </a:prstGeom>
          <a:noFill/>
        </p:spPr>
        <p:txBody>
          <a:bodyPr wrap="square" anchor="t" lIns="18288" rIns="18288" tIns="0" bIns="0">
            <a:spAutoFit/>
          </a:bodyPr>
          <a:lstStyle/>
          <a:p>
            <a:pPr algn="l">
              <a:lnSpc>
                <a:spcPct val="120000"/>
              </a:lnSpc>
            </a:pPr>
            <a:r>
              <a:rPr sz="850" b="0" i="0">
                <a:solidFill>
                  <a:srgbClr val="F6D2D6"/>
                </a:solidFill>
                <a:latin typeface="Segoe UI"/>
              </a:rPr>
              <a:t>The requirement demands exactly the full capacity of the fastest standard bus, leaving nothing at all for anything else.</a:t>
            </a:r>
          </a:p>
        </p:txBody>
      </p:sp>
      <p:sp>
        <p:nvSpPr>
          <p:cNvPr id="33" name="Rounded Rectangle 32"/>
          <p:cNvSpPr/>
          <p:nvPr/>
        </p:nvSpPr>
        <p:spPr>
          <a:xfrm>
            <a:off x="502920" y="3529584"/>
            <a:ext cx="11183112" cy="2139696"/>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02920" y="3529584"/>
            <a:ext cx="11183112"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13232" y="3657600"/>
            <a:ext cx="5486400" cy="219456"/>
          </a:xfrm>
          <a:prstGeom prst="rect">
            <a:avLst/>
          </a:prstGeom>
          <a:noFill/>
        </p:spPr>
        <p:txBody>
          <a:bodyPr wrap="square" anchor="t" lIns="18288" rIns="18288" tIns="0" bIns="0">
            <a:spAutoFit/>
          </a:bodyPr>
          <a:lstStyle/>
          <a:p>
            <a:pPr algn="l">
              <a:lnSpc>
                <a:spcPct val="100000"/>
              </a:lnSpc>
            </a:pPr>
            <a:r>
              <a:rPr sz="950" b="1" i="0">
                <a:solidFill>
                  <a:srgbClr val="B47A14"/>
                </a:solidFill>
                <a:latin typeface="Segoe UI"/>
              </a:rPr>
              <a:t>A SIMPLER WAY TO PICTURE IT</a:t>
            </a:r>
          </a:p>
        </p:txBody>
      </p:sp>
      <p:sp>
        <p:nvSpPr>
          <p:cNvPr id="36" name="TextBox 35"/>
          <p:cNvSpPr txBox="1"/>
          <p:nvPr/>
        </p:nvSpPr>
        <p:spPr>
          <a:xfrm>
            <a:off x="713232" y="3895344"/>
            <a:ext cx="4114800" cy="685800"/>
          </a:xfrm>
          <a:prstGeom prst="rect">
            <a:avLst/>
          </a:prstGeom>
          <a:noFill/>
        </p:spPr>
        <p:txBody>
          <a:bodyPr wrap="square" anchor="t" lIns="18288" rIns="18288" tIns="0" bIns="0">
            <a:spAutoFit/>
          </a:bodyPr>
          <a:lstStyle/>
          <a:p>
            <a:pPr algn="l">
              <a:lnSpc>
                <a:spcPct val="125000"/>
              </a:lnSpc>
            </a:pPr>
            <a:r>
              <a:rPr sz="850" b="0" i="0">
                <a:solidFill>
                  <a:srgbClr val="334155"/>
                </a:solidFill>
                <a:latin typeface="Segoe UI"/>
              </a:rPr>
              <a:t>Think of the bus as a single-lane road with one toll booth. Every message must pass through one at a time. At 500 kbit/s each one takes 0.25 ms.</a:t>
            </a:r>
          </a:p>
          <a:p>
            <a:pPr algn="l">
              <a:lnSpc>
                <a:spcPct val="125000"/>
              </a:lnSpc>
            </a:pPr>
            <a:r>
              <a:rPr sz="850" b="0" i="0">
                <a:solidFill>
                  <a:srgbClr val="334155"/>
                </a:solidFill>
                <a:latin typeface="Segoe UI"/>
              </a:rPr>
              <a:t/>
            </a:r>
          </a:p>
          <a:p>
            <a:pPr algn="l">
              <a:lnSpc>
                <a:spcPct val="125000"/>
              </a:lnSpc>
            </a:pPr>
            <a:r>
              <a:rPr sz="850" b="0" i="0">
                <a:solidFill>
                  <a:srgbClr val="334155"/>
                </a:solidFill>
                <a:latin typeface="Segoe UI"/>
              </a:rPr>
              <a:t>In each 1 ms window the booth can process exactly four messages — but eight Secondaries all want to send.</a:t>
            </a:r>
          </a:p>
        </p:txBody>
      </p:sp>
      <p:sp>
        <p:nvSpPr>
          <p:cNvPr id="37" name="TextBox 36"/>
          <p:cNvSpPr txBox="1"/>
          <p:nvPr/>
        </p:nvSpPr>
        <p:spPr>
          <a:xfrm>
            <a:off x="5029200" y="3840480"/>
            <a:ext cx="402336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EIGHT SECONDARIES ALL WANT TO SEND IN THE SAME 1 ms WINDOW</a:t>
            </a:r>
          </a:p>
        </p:txBody>
      </p:sp>
      <p:sp>
        <p:nvSpPr>
          <p:cNvPr id="38" name="Rounded Rectangle 37"/>
          <p:cNvSpPr/>
          <p:nvPr/>
        </p:nvSpPr>
        <p:spPr>
          <a:xfrm>
            <a:off x="5029200" y="4041648"/>
            <a:ext cx="493776" cy="2743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1</a:t>
            </a:r>
          </a:p>
        </p:txBody>
      </p:sp>
      <p:sp>
        <p:nvSpPr>
          <p:cNvPr id="39" name="Rounded Rectangle 38"/>
          <p:cNvSpPr/>
          <p:nvPr/>
        </p:nvSpPr>
        <p:spPr>
          <a:xfrm>
            <a:off x="5596128" y="4041648"/>
            <a:ext cx="493776" cy="2743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2</a:t>
            </a:r>
          </a:p>
        </p:txBody>
      </p:sp>
      <p:sp>
        <p:nvSpPr>
          <p:cNvPr id="40" name="Rounded Rectangle 39"/>
          <p:cNvSpPr/>
          <p:nvPr/>
        </p:nvSpPr>
        <p:spPr>
          <a:xfrm>
            <a:off x="6163056" y="4041648"/>
            <a:ext cx="493776" cy="2743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3</a:t>
            </a:r>
          </a:p>
        </p:txBody>
      </p:sp>
      <p:sp>
        <p:nvSpPr>
          <p:cNvPr id="41" name="Rounded Rectangle 40"/>
          <p:cNvSpPr/>
          <p:nvPr/>
        </p:nvSpPr>
        <p:spPr>
          <a:xfrm>
            <a:off x="6729983" y="4041648"/>
            <a:ext cx="493776" cy="274320"/>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4</a:t>
            </a:r>
          </a:p>
        </p:txBody>
      </p:sp>
      <p:sp>
        <p:nvSpPr>
          <p:cNvPr id="42" name="Rounded Rectangle 41"/>
          <p:cNvSpPr/>
          <p:nvPr/>
        </p:nvSpPr>
        <p:spPr>
          <a:xfrm>
            <a:off x="7296912" y="4041648"/>
            <a:ext cx="493776" cy="274320"/>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5</a:t>
            </a:r>
          </a:p>
        </p:txBody>
      </p:sp>
      <p:sp>
        <p:nvSpPr>
          <p:cNvPr id="43" name="Rounded Rectangle 42"/>
          <p:cNvSpPr/>
          <p:nvPr/>
        </p:nvSpPr>
        <p:spPr>
          <a:xfrm>
            <a:off x="7863840" y="4041648"/>
            <a:ext cx="493776" cy="274320"/>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6</a:t>
            </a:r>
          </a:p>
        </p:txBody>
      </p:sp>
      <p:sp>
        <p:nvSpPr>
          <p:cNvPr id="44" name="Rounded Rectangle 43"/>
          <p:cNvSpPr/>
          <p:nvPr/>
        </p:nvSpPr>
        <p:spPr>
          <a:xfrm>
            <a:off x="8430767" y="4041648"/>
            <a:ext cx="493776" cy="274320"/>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7</a:t>
            </a:r>
          </a:p>
        </p:txBody>
      </p:sp>
      <p:sp>
        <p:nvSpPr>
          <p:cNvPr id="45" name="Rounded Rectangle 44"/>
          <p:cNvSpPr/>
          <p:nvPr/>
        </p:nvSpPr>
        <p:spPr>
          <a:xfrm>
            <a:off x="8997696" y="4041648"/>
            <a:ext cx="493776" cy="274320"/>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8</a:t>
            </a:r>
          </a:p>
        </p:txBody>
      </p:sp>
      <p:sp>
        <p:nvSpPr>
          <p:cNvPr id="46" name="TextBox 45"/>
          <p:cNvSpPr txBox="1"/>
          <p:nvPr/>
        </p:nvSpPr>
        <p:spPr>
          <a:xfrm>
            <a:off x="5029200" y="4443984"/>
            <a:ext cx="402336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THE 1 ms WINDOW — ROOM FOR ONLY FOUR</a:t>
            </a:r>
          </a:p>
        </p:txBody>
      </p:sp>
      <p:sp>
        <p:nvSpPr>
          <p:cNvPr id="47" name="Rounded Rectangle 46"/>
          <p:cNvSpPr/>
          <p:nvPr/>
        </p:nvSpPr>
        <p:spPr>
          <a:xfrm>
            <a:off x="5029200" y="4645152"/>
            <a:ext cx="3621024" cy="310896"/>
          </a:xfrm>
          <a:prstGeom prst="roundRect">
            <a:avLst>
              <a:gd name="adj" fmla="val 10000"/>
            </a:avLst>
          </a:prstGeom>
          <a:solidFill>
            <a:srgbClr val="E9EEF6"/>
          </a:solidFill>
          <a:ln w="9525">
            <a:solidFill>
              <a:srgbClr val="B4BF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5084064" y="4690872"/>
            <a:ext cx="822960" cy="219456"/>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msg 1</a:t>
            </a:r>
          </a:p>
        </p:txBody>
      </p:sp>
      <p:sp>
        <p:nvSpPr>
          <p:cNvPr id="49" name="Rounded Rectangle 48"/>
          <p:cNvSpPr/>
          <p:nvPr/>
        </p:nvSpPr>
        <p:spPr>
          <a:xfrm>
            <a:off x="5961888" y="4690872"/>
            <a:ext cx="822960" cy="219456"/>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msg 2</a:t>
            </a:r>
          </a:p>
        </p:txBody>
      </p:sp>
      <p:sp>
        <p:nvSpPr>
          <p:cNvPr id="50" name="Rounded Rectangle 49"/>
          <p:cNvSpPr/>
          <p:nvPr/>
        </p:nvSpPr>
        <p:spPr>
          <a:xfrm>
            <a:off x="6839712" y="4690872"/>
            <a:ext cx="822960" cy="219456"/>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msg 3</a:t>
            </a:r>
          </a:p>
        </p:txBody>
      </p:sp>
      <p:sp>
        <p:nvSpPr>
          <p:cNvPr id="51" name="Rounded Rectangle 50"/>
          <p:cNvSpPr/>
          <p:nvPr/>
        </p:nvSpPr>
        <p:spPr>
          <a:xfrm>
            <a:off x="7717536" y="4690872"/>
            <a:ext cx="822960" cy="219456"/>
          </a:xfrm>
          <a:prstGeom prst="roundRect">
            <a:avLst>
              <a:gd name="adj" fmla="val 8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msg 4</a:t>
            </a:r>
          </a:p>
        </p:txBody>
      </p:sp>
      <p:sp>
        <p:nvSpPr>
          <p:cNvPr id="52" name="TextBox 51"/>
          <p:cNvSpPr txBox="1"/>
          <p:nvPr/>
        </p:nvSpPr>
        <p:spPr>
          <a:xfrm>
            <a:off x="5029200" y="4992624"/>
            <a:ext cx="3621024" cy="182880"/>
          </a:xfrm>
          <a:prstGeom prst="rect">
            <a:avLst/>
          </a:prstGeom>
          <a:noFill/>
        </p:spPr>
        <p:txBody>
          <a:bodyPr wrap="square" anchor="t" lIns="18288" rIns="18288" tIns="0" bIns="0">
            <a:spAutoFit/>
          </a:bodyPr>
          <a:lstStyle/>
          <a:p>
            <a:pPr algn="ctr">
              <a:lnSpc>
                <a:spcPct val="100000"/>
              </a:lnSpc>
            </a:pPr>
            <a:r>
              <a:rPr sz="700" b="0" i="0">
                <a:solidFill>
                  <a:srgbClr val="64748B"/>
                </a:solidFill>
                <a:latin typeface="Segoe UI"/>
              </a:rPr>
              <a:t>0.25 ms each  ·  1 ms total</a:t>
            </a:r>
          </a:p>
        </p:txBody>
      </p:sp>
      <p:sp>
        <p:nvSpPr>
          <p:cNvPr id="53" name="Rounded Rectangle 52"/>
          <p:cNvSpPr/>
          <p:nvPr/>
        </p:nvSpPr>
        <p:spPr>
          <a:xfrm>
            <a:off x="8869680" y="4443984"/>
            <a:ext cx="2743200" cy="786384"/>
          </a:xfrm>
          <a:prstGeom prst="roundRect">
            <a:avLst>
              <a:gd name="adj" fmla="val 9000"/>
            </a:avLst>
          </a:prstGeom>
          <a:solidFill>
            <a:srgbClr val="FBE9EA"/>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006840" y="4517136"/>
            <a:ext cx="2468880" cy="182880"/>
          </a:xfrm>
          <a:prstGeom prst="rect">
            <a:avLst/>
          </a:prstGeom>
          <a:noFill/>
        </p:spPr>
        <p:txBody>
          <a:bodyPr wrap="square" anchor="t" lIns="18288" rIns="18288" tIns="0" bIns="0">
            <a:spAutoFit/>
          </a:bodyPr>
          <a:lstStyle/>
          <a:p>
            <a:pPr algn="l">
              <a:lnSpc>
                <a:spcPct val="100000"/>
              </a:lnSpc>
            </a:pPr>
            <a:r>
              <a:rPr sz="750" b="1" i="0">
                <a:solidFill>
                  <a:srgbClr val="9B2C35"/>
                </a:solidFill>
                <a:latin typeface="Segoe UI"/>
              </a:rPr>
              <a:t>LEFT WAITING</a:t>
            </a:r>
          </a:p>
        </p:txBody>
      </p:sp>
      <p:sp>
        <p:nvSpPr>
          <p:cNvPr id="55" name="Rounded Rectangle 54"/>
          <p:cNvSpPr/>
          <p:nvPr/>
        </p:nvSpPr>
        <p:spPr>
          <a:xfrm>
            <a:off x="9006840" y="4700016"/>
            <a:ext cx="310896" cy="256032"/>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5</a:t>
            </a:r>
          </a:p>
        </p:txBody>
      </p:sp>
      <p:sp>
        <p:nvSpPr>
          <p:cNvPr id="56" name="Rounded Rectangle 55"/>
          <p:cNvSpPr/>
          <p:nvPr/>
        </p:nvSpPr>
        <p:spPr>
          <a:xfrm>
            <a:off x="9372600" y="4700016"/>
            <a:ext cx="310896" cy="256032"/>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6</a:t>
            </a:r>
          </a:p>
        </p:txBody>
      </p:sp>
      <p:sp>
        <p:nvSpPr>
          <p:cNvPr id="57" name="Rounded Rectangle 56"/>
          <p:cNvSpPr/>
          <p:nvPr/>
        </p:nvSpPr>
        <p:spPr>
          <a:xfrm>
            <a:off x="9738360" y="4700016"/>
            <a:ext cx="310896" cy="256032"/>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7</a:t>
            </a:r>
          </a:p>
        </p:txBody>
      </p:sp>
      <p:sp>
        <p:nvSpPr>
          <p:cNvPr id="58" name="Rounded Rectangle 57"/>
          <p:cNvSpPr/>
          <p:nvPr/>
        </p:nvSpPr>
        <p:spPr>
          <a:xfrm>
            <a:off x="10104120" y="4700016"/>
            <a:ext cx="310896" cy="256032"/>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800" b="1">
                <a:solidFill>
                  <a:srgbClr val="FFFFFF"/>
                </a:solidFill>
                <a:latin typeface="Segoe UI"/>
              </a:rPr>
              <a:t>8</a:t>
            </a:r>
          </a:p>
        </p:txBody>
      </p:sp>
      <p:sp>
        <p:nvSpPr>
          <p:cNvPr id="59" name="TextBox 58"/>
          <p:cNvSpPr txBox="1"/>
          <p:nvPr/>
        </p:nvSpPr>
        <p:spPr>
          <a:xfrm>
            <a:off x="9006840" y="4992624"/>
            <a:ext cx="2468880" cy="182880"/>
          </a:xfrm>
          <a:prstGeom prst="rect">
            <a:avLst/>
          </a:prstGeom>
          <a:noFill/>
        </p:spPr>
        <p:txBody>
          <a:bodyPr wrap="square" anchor="t" lIns="18288" rIns="18288" tIns="0" bIns="0">
            <a:spAutoFit/>
          </a:bodyPr>
          <a:lstStyle/>
          <a:p>
            <a:pPr algn="l">
              <a:lnSpc>
                <a:spcPct val="100000"/>
              </a:lnSpc>
            </a:pPr>
            <a:r>
              <a:rPr sz="700" b="1" i="0">
                <a:solidFill>
                  <a:srgbClr val="9B2C35"/>
                </a:solidFill>
                <a:latin typeface="Segoe UI"/>
              </a:rPr>
              <a:t>four every millisecond</a:t>
            </a:r>
          </a:p>
        </p:txBody>
      </p:sp>
      <p:sp>
        <p:nvSpPr>
          <p:cNvPr id="60" name="TextBox 59"/>
          <p:cNvSpPr txBox="1"/>
          <p:nvPr/>
        </p:nvSpPr>
        <p:spPr>
          <a:xfrm>
            <a:off x="5029200" y="5230368"/>
            <a:ext cx="6583680" cy="384048"/>
          </a:xfrm>
          <a:prstGeom prst="rect">
            <a:avLst/>
          </a:prstGeom>
          <a:noFill/>
        </p:spPr>
        <p:txBody>
          <a:bodyPr wrap="square" anchor="t" lIns="18288" rIns="18288" tIns="0" bIns="0">
            <a:spAutoFit/>
          </a:bodyPr>
          <a:lstStyle/>
          <a:p>
            <a:pPr algn="l">
              <a:lnSpc>
                <a:spcPct val="120000"/>
              </a:lnSpc>
            </a:pPr>
            <a:r>
              <a:rPr sz="850" b="1" i="0">
                <a:solidFill>
                  <a:srgbClr val="9B2C35"/>
                </a:solidFill>
                <a:latin typeface="Segoe UI"/>
              </a:rPr>
              <a:t>The queue grows by about four messages every millisecond and never recovers. Delay rises without limit until the buffers fill and readings are lost. The bus does not simply run slowly — it fails.</a:t>
            </a:r>
          </a:p>
        </p:txBody>
      </p:sp>
      <p:sp>
        <p:nvSpPr>
          <p:cNvPr id="61" name="Rounded Rectangle 60"/>
          <p:cNvSpPr/>
          <p:nvPr/>
        </p:nvSpPr>
        <p:spPr>
          <a:xfrm>
            <a:off x="502920" y="5779008"/>
            <a:ext cx="11183112" cy="640080"/>
          </a:xfrm>
          <a:prstGeom prst="roundRect">
            <a:avLst>
              <a:gd name="adj" fmla="val 12000"/>
            </a:avLst>
          </a:prstGeom>
          <a:solidFill>
            <a:srgbClr val="E9EEF6"/>
          </a:solidFill>
          <a:ln w="9525">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502920" y="5779008"/>
            <a:ext cx="64008" cy="6400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49808" y="5879592"/>
            <a:ext cx="10725912" cy="457199"/>
          </a:xfrm>
          <a:prstGeom prst="rect">
            <a:avLst/>
          </a:prstGeom>
          <a:noFill/>
        </p:spPr>
        <p:txBody>
          <a:bodyPr wrap="square" anchor="t" lIns="0" rIns="0" tIns="0" bIns="0">
            <a:spAutoFit/>
          </a:bodyPr>
          <a:lstStyle/>
          <a:p>
            <a:pPr algn="l">
              <a:lnSpc>
                <a:spcPct val="105000"/>
              </a:lnSpc>
              <a:spcBef>
                <a:spcPts val="0"/>
              </a:spcBef>
            </a:pPr>
            <a:r>
              <a:rPr sz="1000" b="1">
                <a:solidFill>
                  <a:srgbClr val="1E3A5F"/>
                </a:solidFill>
                <a:latin typeface="Segoe UI"/>
              </a:rPr>
              <a:t>SO THE OBVIOUS NEXT QUESTION IS:  would a faster bus fix this?</a:t>
            </a:r>
          </a:p>
          <a:p>
            <a:pPr algn="l">
              <a:lnSpc>
                <a:spcPct val="105000"/>
              </a:lnSpc>
              <a:spcBef>
                <a:spcPts val="300"/>
              </a:spcBef>
            </a:pPr>
            <a:r>
              <a:rPr sz="850" b="0">
                <a:solidFill>
                  <a:srgbClr val="334155"/>
                </a:solidFill>
                <a:latin typeface="Segoe UI"/>
              </a:rPr>
              <a:t>It is worth answering carefully, because the answer determines which components we specify at hardware design time. The next slide measures all three realistic options against exactly this requirement.</a:t>
            </a:r>
          </a:p>
        </p:txBody>
      </p:sp>
      <p:sp>
        <p:nvSpPr>
          <p:cNvPr id="64" name="Rectangle 63"/>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66" name="TextBox 65"/>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06 · WOULD A FASTER BUS SOLVE IT?</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No — but CAN FD will. Every realistic option, measured against the same requirement</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Bus load required to deliver 8,000 messages per second. Anything above 100 % cannot be delivered at all, and for stability the target is below 70 %.</a:t>
            </a:r>
          </a:p>
        </p:txBody>
      </p:sp>
      <p:graphicFrame>
        <p:nvGraphicFramePr>
          <p:cNvPr id="7" name="Chart 6"/>
          <p:cNvGraphicFramePr>
            <a:graphicFrameLocks noGrp="1"/>
          </p:cNvGraphicFramePr>
          <p:nvPr/>
        </p:nvGraphicFramePr>
        <p:xfrm>
          <a:off x="502920" y="1280160"/>
          <a:ext cx="5760720" cy="3840480"/>
        </p:xfrm>
        <a:graphic>
          <a:graphicData uri="http://schemas.openxmlformats.org/drawingml/2006/chart">
            <c:chart xmlns:c="http://schemas.openxmlformats.org/drawingml/2006/chart" r:id="rId2"/>
          </a:graphicData>
        </a:graphic>
      </p:graphicFrame>
      <p:sp>
        <p:nvSpPr>
          <p:cNvPr id="8" name="Rectangle 7"/>
          <p:cNvSpPr/>
          <p:nvPr/>
        </p:nvSpPr>
        <p:spPr>
          <a:xfrm>
            <a:off x="1188720" y="3968496"/>
            <a:ext cx="4846320" cy="20116"/>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4462272" y="3694176"/>
            <a:ext cx="1536192" cy="237744"/>
          </a:xfrm>
          <a:prstGeom prst="roundRect">
            <a:avLst>
              <a:gd name="adj" fmla="val 2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750" b="1">
                <a:solidFill>
                  <a:srgbClr val="9B2C35"/>
                </a:solidFill>
                <a:latin typeface="Segoe UI"/>
              </a:rPr>
              <a:t>100 %  —  bus saturated</a:t>
            </a:r>
          </a:p>
        </p:txBody>
      </p:sp>
      <p:graphicFrame>
        <p:nvGraphicFramePr>
          <p:cNvPr id="10" name="Table 9"/>
          <p:cNvGraphicFramePr>
            <a:graphicFrameLocks noGrp="1"/>
          </p:cNvGraphicFramePr>
          <p:nvPr/>
        </p:nvGraphicFramePr>
        <p:xfrm>
          <a:off x="6309360" y="1316736"/>
          <a:ext cx="5376671" cy="1737360"/>
        </p:xfrm>
        <a:graphic>
          <a:graphicData uri="http://schemas.openxmlformats.org/drawingml/2006/table">
            <a:tbl>
              <a:tblPr firstRow="1">
                <a:tableStyleId>{5C22544A-7EE6-4342-B048-85BDC9FD1C3A}</a:tableStyleId>
              </a:tblPr>
              <a:tblGrid>
                <a:gridCol w="1783080"/>
                <a:gridCol w="868679"/>
                <a:gridCol w="731520"/>
                <a:gridCol w="1993392"/>
              </a:tblGrid>
              <a:tr h="347472">
                <a:tc>
                  <a:txBody>
                    <a:bodyPr/>
                    <a:lstStyle/>
                    <a:p>
                      <a:pPr>
                        <a:lnSpc>
                          <a:spcPct val="100000"/>
                        </a:lnSpc>
                      </a:pPr>
                      <a:r>
                        <a:rPr sz="900" b="1">
                          <a:solidFill>
                            <a:srgbClr val="FFFFFF"/>
                          </a:solidFill>
                          <a:latin typeface="Segoe UI"/>
                        </a:rPr>
                        <a:t>Bus option</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Load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Status</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Why</a:t>
                      </a:r>
                    </a:p>
                  </a:txBody>
                  <a:tcPr marL="50292" marR="41148" marT="20116" marB="20116" anchor="ctr">
                    <a:solidFill>
                      <a:srgbClr val="1E3A5F"/>
                    </a:solidFill>
                  </a:tcPr>
                </a:tc>
              </a:tr>
              <a:tr h="347472">
                <a:tc>
                  <a:txBody>
                    <a:bodyPr/>
                    <a:lstStyle/>
                    <a:p>
                      <a:pPr>
                        <a:lnSpc>
                          <a:spcPct val="100000"/>
                        </a:lnSpc>
                      </a:pPr>
                      <a:r>
                        <a:rPr sz="800" b="0">
                          <a:solidFill>
                            <a:srgbClr val="334155"/>
                          </a:solidFill>
                          <a:latin typeface="Segoe UI"/>
                        </a:rPr>
                        <a:t>Standard CAN, 250 kbit/s</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400 %</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Fails</a:t>
                      </a:r>
                    </a:p>
                  </a:txBody>
                  <a:tcPr marL="50292" marR="41148" marT="20116" marB="20116" anchor="ctr">
                    <a:solidFill>
                      <a:srgbClr val="FBE9EA"/>
                    </a:solidFill>
                  </a:tcPr>
                </a:tc>
                <a:tc>
                  <a:txBody>
                    <a:bodyPr/>
                    <a:lstStyle/>
                    <a:p>
                      <a:pPr>
                        <a:lnSpc>
                          <a:spcPct val="100000"/>
                        </a:lnSpc>
                      </a:pPr>
                      <a:r>
                        <a:rPr sz="800" b="0">
                          <a:solidFill>
                            <a:srgbClr val="334155"/>
                          </a:solidFill>
                          <a:latin typeface="Segoe UI"/>
                        </a:rPr>
                        <a:t>Four times over capacity</a:t>
                      </a:r>
                    </a:p>
                  </a:txBody>
                  <a:tcPr marL="50292" marR="41148" marT="20116" marB="20116" anchor="ctr">
                    <a:solidFill>
                      <a:srgbClr val="FBE9EA"/>
                    </a:solidFill>
                  </a:tcPr>
                </a:tc>
              </a:tr>
              <a:tr h="347472">
                <a:tc>
                  <a:txBody>
                    <a:bodyPr/>
                    <a:lstStyle/>
                    <a:p>
                      <a:pPr>
                        <a:lnSpc>
                          <a:spcPct val="100000"/>
                        </a:lnSpc>
                      </a:pPr>
                      <a:r>
                        <a:rPr sz="800" b="0">
                          <a:solidFill>
                            <a:srgbClr val="334155"/>
                          </a:solidFill>
                          <a:latin typeface="Segoe UI"/>
                        </a:rPr>
                        <a:t>Standard CAN, 500 kbit/s</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200 %</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Fails</a:t>
                      </a:r>
                    </a:p>
                  </a:txBody>
                  <a:tcPr marL="50292" marR="41148" marT="20116" marB="20116" anchor="ctr">
                    <a:solidFill>
                      <a:srgbClr val="FBE9EA"/>
                    </a:solidFill>
                  </a:tcPr>
                </a:tc>
                <a:tc>
                  <a:txBody>
                    <a:bodyPr/>
                    <a:lstStyle/>
                    <a:p>
                      <a:pPr>
                        <a:lnSpc>
                          <a:spcPct val="100000"/>
                        </a:lnSpc>
                      </a:pPr>
                      <a:r>
                        <a:rPr sz="800" b="0">
                          <a:solidFill>
                            <a:srgbClr val="334155"/>
                          </a:solidFill>
                          <a:latin typeface="Segoe UI"/>
                        </a:rPr>
                        <a:t>Twice over capacity</a:t>
                      </a:r>
                    </a:p>
                  </a:txBody>
                  <a:tcPr marL="50292" marR="41148" marT="20116" marB="20116" anchor="ctr">
                    <a:solidFill>
                      <a:srgbClr val="FBE9EA"/>
                    </a:solidFill>
                  </a:tcPr>
                </a:tc>
              </a:tr>
              <a:tr h="347472">
                <a:tc>
                  <a:txBody>
                    <a:bodyPr/>
                    <a:lstStyle/>
                    <a:p>
                      <a:pPr>
                        <a:lnSpc>
                          <a:spcPct val="100000"/>
                        </a:lnSpc>
                      </a:pPr>
                      <a:r>
                        <a:rPr sz="800" b="0">
                          <a:solidFill>
                            <a:srgbClr val="334155"/>
                          </a:solidFill>
                          <a:latin typeface="Segoe UI"/>
                        </a:rPr>
                        <a:t>Standard CAN, 1 Mbit/s</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100–108 %</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Fails</a:t>
                      </a:r>
                    </a:p>
                  </a:txBody>
                  <a:tcPr marL="50292" marR="41148" marT="20116" marB="20116" anchor="ctr">
                    <a:solidFill>
                      <a:srgbClr val="FBE9EA"/>
                    </a:solidFill>
                  </a:tcPr>
                </a:tc>
                <a:tc>
                  <a:txBody>
                    <a:bodyPr/>
                    <a:lstStyle/>
                    <a:p>
                      <a:pPr>
                        <a:lnSpc>
                          <a:spcPct val="100000"/>
                        </a:lnSpc>
                      </a:pPr>
                      <a:r>
                        <a:rPr sz="800" b="0">
                          <a:solidFill>
                            <a:srgbClr val="334155"/>
                          </a:solidFill>
                          <a:latin typeface="Segoe UI"/>
                        </a:rPr>
                        <a:t>The requirement consumes the whole bus, leaving zero margin for overhead or clock drift</a:t>
                      </a:r>
                    </a:p>
                  </a:txBody>
                  <a:tcPr marL="50292" marR="41148" marT="20116" marB="20116" anchor="ctr">
                    <a:solidFill>
                      <a:srgbClr val="FBE9EA"/>
                    </a:solidFill>
                  </a:tcPr>
                </a:tc>
              </a:tr>
              <a:tr h="347472">
                <a:tc>
                  <a:txBody>
                    <a:bodyPr/>
                    <a:lstStyle/>
                    <a:p>
                      <a:pPr>
                        <a:lnSpc>
                          <a:spcPct val="100000"/>
                        </a:lnSpc>
                      </a:pPr>
                      <a:r>
                        <a:rPr sz="800" b="0">
                          <a:solidFill>
                            <a:srgbClr val="334155"/>
                          </a:solidFill>
                          <a:latin typeface="Segoe UI"/>
                        </a:rPr>
                        <a:t>CAN FD, grouped readings</a:t>
                      </a:r>
                    </a:p>
                  </a:txBody>
                  <a:tcPr marL="50292" marR="41148" marT="20116" marB="20116" anchor="ctr">
                    <a:solidFill>
                      <a:srgbClr val="E6F2EB"/>
                    </a:solidFill>
                  </a:tcPr>
                </a:tc>
                <a:tc>
                  <a:txBody>
                    <a:bodyPr/>
                    <a:lstStyle/>
                    <a:p>
                      <a:pPr algn="ctr">
                        <a:lnSpc>
                          <a:spcPct val="100000"/>
                        </a:lnSpc>
                      </a:pPr>
                      <a:r>
                        <a:rPr sz="800" b="1">
                          <a:solidFill>
                            <a:srgbClr val="2E6F4F"/>
                          </a:solidFill>
                          <a:latin typeface="Segoe UI"/>
                        </a:rPr>
                        <a:t>about 30 %</a:t>
                      </a:r>
                    </a:p>
                  </a:txBody>
                  <a:tcPr marL="50292" marR="41148" marT="20116" marB="20116" anchor="ctr">
                    <a:solidFill>
                      <a:srgbClr val="E6F2EB"/>
                    </a:solidFill>
                  </a:tcPr>
                </a:tc>
                <a:tc>
                  <a:txBody>
                    <a:bodyPr/>
                    <a:lstStyle/>
                    <a:p>
                      <a:pPr algn="ctr">
                        <a:lnSpc>
                          <a:spcPct val="100000"/>
                        </a:lnSpc>
                      </a:pPr>
                      <a:r>
                        <a:rPr sz="800" b="1">
                          <a:solidFill>
                            <a:srgbClr val="2E6F4F"/>
                          </a:solidFill>
                          <a:latin typeface="Segoe UI"/>
                        </a:rPr>
                        <a:t>Works</a:t>
                      </a:r>
                    </a:p>
                  </a:txBody>
                  <a:tcPr marL="50292" marR="41148" marT="20116" marB="20116" anchor="ctr">
                    <a:solidFill>
                      <a:srgbClr val="E6F2EB"/>
                    </a:solidFill>
                  </a:tcPr>
                </a:tc>
                <a:tc>
                  <a:txBody>
                    <a:bodyPr/>
                    <a:lstStyle/>
                    <a:p>
                      <a:pPr>
                        <a:lnSpc>
                          <a:spcPct val="100000"/>
                        </a:lnSpc>
                      </a:pPr>
                      <a:r>
                        <a:rPr sz="800" b="0">
                          <a:solidFill>
                            <a:srgbClr val="334155"/>
                          </a:solidFill>
                          <a:latin typeface="Segoe UI"/>
                        </a:rPr>
                        <a:t>Delivers every 1 ms reading with roughly 70 % of the bus still free</a:t>
                      </a:r>
                    </a:p>
                  </a:txBody>
                  <a:tcPr marL="50292" marR="41148" marT="20116" marB="20116" anchor="ctr">
                    <a:solidFill>
                      <a:srgbClr val="E6F2EB"/>
                    </a:solidFill>
                  </a:tcPr>
                </a:tc>
              </a:tr>
            </a:tbl>
          </a:graphicData>
        </a:graphic>
      </p:graphicFrame>
      <p:sp>
        <p:nvSpPr>
          <p:cNvPr id="11" name="Rounded Rectangle 10"/>
          <p:cNvSpPr/>
          <p:nvPr/>
        </p:nvSpPr>
        <p:spPr>
          <a:xfrm>
            <a:off x="6309360" y="3200400"/>
            <a:ext cx="5376672" cy="1371600"/>
          </a:xfrm>
          <a:prstGeom prst="roundRect">
            <a:avLst>
              <a:gd name="adj" fmla="val 6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37960" y="3346704"/>
            <a:ext cx="4937760" cy="1143000"/>
          </a:xfrm>
          <a:prstGeom prst="rect">
            <a:avLst/>
          </a:prstGeom>
          <a:noFill/>
        </p:spPr>
        <p:txBody>
          <a:bodyPr wrap="square" anchor="t" lIns="0" rIns="0" tIns="0" bIns="0">
            <a:spAutoFit/>
          </a:bodyPr>
          <a:lstStyle/>
          <a:p>
            <a:pPr algn="l">
              <a:lnSpc>
                <a:spcPct val="105000"/>
              </a:lnSpc>
              <a:spcBef>
                <a:spcPts val="0"/>
              </a:spcBef>
            </a:pPr>
            <a:r>
              <a:rPr sz="1000" b="1">
                <a:solidFill>
                  <a:srgbClr val="F6D2D6"/>
                </a:solidFill>
                <a:latin typeface="Segoe UI"/>
              </a:rPr>
              <a:t>THE CONCLUSION</a:t>
            </a:r>
          </a:p>
          <a:p>
            <a:pPr algn="l">
              <a:lnSpc>
                <a:spcPct val="105000"/>
              </a:lnSpc>
              <a:spcBef>
                <a:spcPts val="500"/>
              </a:spcBef>
            </a:pPr>
            <a:r>
              <a:rPr sz="1300" b="1">
                <a:solidFill>
                  <a:srgbClr val="FFFFFF"/>
                </a:solidFill>
                <a:latin typeface="Segoe UI"/>
              </a:rPr>
              <a:t>Standard CAN cannot meet a 1 ms reporting requirement for eight Secondaries at any speed.</a:t>
            </a:r>
          </a:p>
          <a:p>
            <a:pPr algn="l">
              <a:lnSpc>
                <a:spcPct val="105000"/>
              </a:lnSpc>
              <a:spcBef>
                <a:spcPts val="600"/>
              </a:spcBef>
            </a:pPr>
            <a:r>
              <a:rPr sz="900" b="0">
                <a:solidFill>
                  <a:srgbClr val="F6D2D6"/>
                </a:solidFill>
                <a:latin typeface="Segoe UI"/>
              </a:rPr>
              <a:t>This is not a matter of tuning or optimisation. The requirement simply exceeds what the technology can do.</a:t>
            </a:r>
          </a:p>
        </p:txBody>
      </p:sp>
      <p:sp>
        <p:nvSpPr>
          <p:cNvPr id="13" name="Rounded Rectangle 12"/>
          <p:cNvSpPr/>
          <p:nvPr/>
        </p:nvSpPr>
        <p:spPr>
          <a:xfrm>
            <a:off x="6309360" y="4718304"/>
            <a:ext cx="5376672" cy="841248"/>
          </a:xfrm>
          <a:prstGeom prst="roundRect">
            <a:avLst>
              <a:gd name="adj" fmla="val 12000"/>
            </a:avLst>
          </a:prstGeom>
          <a:solidFill>
            <a:srgbClr val="FDF3DF"/>
          </a:solidFill>
          <a:ln w="9525">
            <a:solidFill>
              <a:srgbClr val="B47A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09360" y="4718304"/>
            <a:ext cx="64008" cy="841248"/>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56248" y="4818888"/>
            <a:ext cx="4919472" cy="658368"/>
          </a:xfrm>
          <a:prstGeom prst="rect">
            <a:avLst/>
          </a:prstGeom>
          <a:noFill/>
        </p:spPr>
        <p:txBody>
          <a:bodyPr wrap="square" anchor="t" lIns="0" rIns="0" tIns="0" bIns="0">
            <a:spAutoFit/>
          </a:bodyPr>
          <a:lstStyle/>
          <a:p>
            <a:pPr algn="l">
              <a:lnSpc>
                <a:spcPct val="105000"/>
              </a:lnSpc>
              <a:spcBef>
                <a:spcPts val="0"/>
              </a:spcBef>
            </a:pPr>
            <a:r>
              <a:rPr sz="1000" b="1">
                <a:solidFill>
                  <a:srgbClr val="B47A14"/>
                </a:solidFill>
                <a:latin typeface="Segoe UI"/>
              </a:rPr>
              <a:t>CONDITION C      Specify CAN FD, and settle this before hardware design begins.</a:t>
            </a:r>
          </a:p>
          <a:p>
            <a:pPr algn="l">
              <a:lnSpc>
                <a:spcPct val="105000"/>
              </a:lnSpc>
              <a:spcBef>
                <a:spcPts val="300"/>
              </a:spcBef>
            </a:pPr>
            <a:r>
              <a:rPr sz="850" b="0">
                <a:solidFill>
                  <a:srgbClr val="334155"/>
                </a:solidFill>
                <a:latin typeface="Segoe UI"/>
              </a:rPr>
              <a:t>This is the one decision on the critical path, because it selects the controller and transceiver and cannot be reversed cheaply afterwards. If Product Management confirms that 2 ms resolution is genuinely sufficient, standard 1 Mbit/s CAN becomes viable at about 50 % load — but that must be a deliberate decision, not a default.</a:t>
            </a:r>
          </a:p>
        </p:txBody>
      </p:sp>
      <p:sp>
        <p:nvSpPr>
          <p:cNvPr id="16" name="Rounded Rectangle 15"/>
          <p:cNvSpPr/>
          <p:nvPr/>
        </p:nvSpPr>
        <p:spPr>
          <a:xfrm>
            <a:off x="502920" y="5230368"/>
            <a:ext cx="5541264" cy="621792"/>
          </a:xfrm>
          <a:prstGeom prst="roundRect">
            <a:avLst>
              <a:gd name="adj" fmla="val 12000"/>
            </a:avLst>
          </a:prstGeom>
          <a:solidFill>
            <a:srgbClr val="E9EEF6"/>
          </a:solidFill>
          <a:ln w="9525">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2920" y="5230368"/>
            <a:ext cx="64008" cy="621792"/>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5330952"/>
            <a:ext cx="5084064" cy="438912"/>
          </a:xfrm>
          <a:prstGeom prst="rect">
            <a:avLst/>
          </a:prstGeom>
          <a:noFill/>
        </p:spPr>
        <p:txBody>
          <a:bodyPr wrap="square" anchor="t" lIns="0" rIns="0" tIns="0" bIns="0">
            <a:spAutoFit/>
          </a:bodyPr>
          <a:lstStyle/>
          <a:p>
            <a:pPr algn="l">
              <a:lnSpc>
                <a:spcPct val="105000"/>
              </a:lnSpc>
              <a:spcBef>
                <a:spcPts val="0"/>
              </a:spcBef>
            </a:pPr>
            <a:r>
              <a:rPr sz="1000" b="1">
                <a:solidFill>
                  <a:srgbClr val="1E3A5F"/>
                </a:solidFill>
                <a:latin typeface="Segoe UI"/>
              </a:rPr>
              <a:t>AND THERE IS A SECOND, SUBTLER FAILURE — one that bites even in the most optimistic case.</a:t>
            </a:r>
          </a:p>
          <a:p>
            <a:pPr algn="l">
              <a:lnSpc>
                <a:spcPct val="105000"/>
              </a:lnSpc>
              <a:spcBef>
                <a:spcPts val="300"/>
              </a:spcBef>
            </a:pPr>
            <a:r>
              <a:rPr sz="850" b="0">
                <a:solidFill>
                  <a:srgbClr val="334155"/>
                </a:solidFill>
                <a:latin typeface="Segoe UI"/>
              </a:rPr>
              <a:t>Saturation is not the only problem. The next slide explains what happens when all eight Secondaries happen to transmit in the same millisecond.</a:t>
            </a:r>
          </a:p>
        </p:txBody>
      </p:sp>
      <p:sp>
        <p:nvSpPr>
          <p:cNvPr id="19" name="Rectangle 18"/>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21" name="TextBox 20"/>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06 · THE SECOND FAILURE MODE</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Burst congestion — why one channel would silently record less data than the rest</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This failure is more subtle than saturation, and it is the one most easily missed during testing.</a:t>
            </a:r>
          </a:p>
        </p:txBody>
      </p:sp>
      <p:sp>
        <p:nvSpPr>
          <p:cNvPr id="7" name="Rounded Rectangle 6"/>
          <p:cNvSpPr/>
          <p:nvPr/>
        </p:nvSpPr>
        <p:spPr>
          <a:xfrm>
            <a:off x="502920" y="1234440"/>
            <a:ext cx="4937760" cy="182880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234440"/>
            <a:ext cx="4937760" cy="457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1371600"/>
            <a:ext cx="4526280" cy="1627632"/>
          </a:xfrm>
          <a:prstGeom prst="rect">
            <a:avLst/>
          </a:prstGeom>
          <a:noFill/>
        </p:spPr>
        <p:txBody>
          <a:bodyPr wrap="square" anchor="t" lIns="0" rIns="0" tIns="0" bIns="0">
            <a:spAutoFit/>
          </a:bodyPr>
          <a:lstStyle/>
          <a:p>
            <a:pPr algn="l">
              <a:lnSpc>
                <a:spcPct val="105000"/>
              </a:lnSpc>
              <a:spcBef>
                <a:spcPts val="0"/>
              </a:spcBef>
            </a:pPr>
            <a:r>
              <a:rPr sz="950" b="1">
                <a:solidFill>
                  <a:srgbClr val="142A47"/>
                </a:solidFill>
                <a:latin typeface="Segoe UI"/>
              </a:rPr>
              <a:t>WHAT HAPPENS</a:t>
            </a:r>
          </a:p>
          <a:p>
            <a:pPr algn="l">
              <a:lnSpc>
                <a:spcPct val="105000"/>
              </a:lnSpc>
              <a:spcBef>
                <a:spcPts val="600"/>
              </a:spcBef>
            </a:pPr>
            <a:r>
              <a:rPr sz="900" b="0">
                <a:solidFill>
                  <a:srgbClr val="334155"/>
                </a:solidFill>
                <a:latin typeface="Segoe UI"/>
              </a:rPr>
              <a:t>All eight Secondaries run their own 1 ms timers. Sooner or later those timers expire in the same millisecond, and all eight try to transmit at once.</a:t>
            </a:r>
          </a:p>
          <a:p>
            <a:pPr algn="l">
              <a:lnSpc>
                <a:spcPct val="105000"/>
              </a:lnSpc>
              <a:spcBef>
                <a:spcPts val="500"/>
              </a:spcBef>
            </a:pPr>
            <a:r>
              <a:rPr sz="900" b="0">
                <a:solidFill>
                  <a:srgbClr val="334155"/>
                </a:solidFill>
                <a:latin typeface="Segoe UI"/>
              </a:rPr>
              <a:t>On a 1 Mbit/s bus, clearing eight messages one after another takes:</a:t>
            </a:r>
          </a:p>
          <a:p>
            <a:pPr algn="l">
              <a:lnSpc>
                <a:spcPct val="105000"/>
              </a:lnSpc>
              <a:spcBef>
                <a:spcPts val="500"/>
              </a:spcBef>
            </a:pPr>
            <a:r>
              <a:rPr sz="1000" b="1">
                <a:solidFill>
                  <a:srgbClr val="142A47"/>
                </a:solidFill>
                <a:latin typeface="Segoe UI"/>
              </a:rPr>
              <a:t>8 messages × 125 bits = 1,000 bits</a:t>
            </a:r>
          </a:p>
          <a:p>
            <a:pPr algn="l">
              <a:lnSpc>
                <a:spcPct val="105000"/>
              </a:lnSpc>
              <a:spcBef>
                <a:spcPts val="300"/>
              </a:spcBef>
            </a:pPr>
            <a:r>
              <a:rPr sz="1000" b="1">
                <a:solidFill>
                  <a:srgbClr val="9B2C35"/>
                </a:solidFill>
                <a:latin typeface="Segoe UI"/>
              </a:rPr>
              <a:t>at 1 Mbit/s that takes exactly 1,000 microseconds = 1.0 ms</a:t>
            </a:r>
          </a:p>
        </p:txBody>
      </p:sp>
      <p:sp>
        <p:nvSpPr>
          <p:cNvPr id="10" name="Rounded Rectangle 9"/>
          <p:cNvSpPr/>
          <p:nvPr/>
        </p:nvSpPr>
        <p:spPr>
          <a:xfrm>
            <a:off x="5623560" y="1234440"/>
            <a:ext cx="6062472" cy="182880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23560" y="1234440"/>
            <a:ext cx="6062472" cy="4572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833872" y="1371600"/>
            <a:ext cx="5669280" cy="201168"/>
          </a:xfrm>
          <a:prstGeom prst="rect">
            <a:avLst/>
          </a:prstGeom>
          <a:noFill/>
        </p:spPr>
        <p:txBody>
          <a:bodyPr wrap="square" anchor="t" lIns="18288" rIns="18288" tIns="0" bIns="0">
            <a:spAutoFit/>
          </a:bodyPr>
          <a:lstStyle/>
          <a:p>
            <a:pPr algn="l">
              <a:lnSpc>
                <a:spcPct val="100000"/>
              </a:lnSpc>
            </a:pPr>
            <a:r>
              <a:rPr sz="950" b="1" i="0">
                <a:solidFill>
                  <a:srgbClr val="9B2C35"/>
                </a:solidFill>
                <a:latin typeface="Segoe UI"/>
              </a:rPr>
              <a:t>THE BURST CONSUMES THE ENTIRE CYCLE WINDOW</a:t>
            </a:r>
          </a:p>
        </p:txBody>
      </p:sp>
      <p:sp>
        <p:nvSpPr>
          <p:cNvPr id="13" name="TextBox 12"/>
          <p:cNvSpPr txBox="1"/>
          <p:nvPr/>
        </p:nvSpPr>
        <p:spPr>
          <a:xfrm>
            <a:off x="5833872" y="1664208"/>
            <a:ext cx="91440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1 ms window</a:t>
            </a:r>
          </a:p>
        </p:txBody>
      </p:sp>
      <p:sp>
        <p:nvSpPr>
          <p:cNvPr id="14" name="Rounded Rectangle 13"/>
          <p:cNvSpPr/>
          <p:nvPr/>
        </p:nvSpPr>
        <p:spPr>
          <a:xfrm>
            <a:off x="6812280" y="1645920"/>
            <a:ext cx="4663440" cy="274320"/>
          </a:xfrm>
          <a:prstGeom prst="roundRect">
            <a:avLst>
              <a:gd name="adj" fmla="val 10000"/>
            </a:avLst>
          </a:prstGeom>
          <a:solidFill>
            <a:srgbClr val="E9EEF6"/>
          </a:solidFill>
          <a:ln w="9525">
            <a:solidFill>
              <a:srgbClr val="B4BF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858000"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1</a:t>
            </a:r>
          </a:p>
        </p:txBody>
      </p:sp>
      <p:sp>
        <p:nvSpPr>
          <p:cNvPr id="16" name="Rounded Rectangle 15"/>
          <p:cNvSpPr/>
          <p:nvPr/>
        </p:nvSpPr>
        <p:spPr>
          <a:xfrm>
            <a:off x="7435900"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2</a:t>
            </a:r>
          </a:p>
        </p:txBody>
      </p:sp>
      <p:sp>
        <p:nvSpPr>
          <p:cNvPr id="17" name="Rounded Rectangle 16"/>
          <p:cNvSpPr/>
          <p:nvPr/>
        </p:nvSpPr>
        <p:spPr>
          <a:xfrm>
            <a:off x="8013801"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3</a:t>
            </a:r>
          </a:p>
        </p:txBody>
      </p:sp>
      <p:sp>
        <p:nvSpPr>
          <p:cNvPr id="18" name="Rounded Rectangle 17"/>
          <p:cNvSpPr/>
          <p:nvPr/>
        </p:nvSpPr>
        <p:spPr>
          <a:xfrm>
            <a:off x="8591702"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4</a:t>
            </a:r>
          </a:p>
        </p:txBody>
      </p:sp>
      <p:sp>
        <p:nvSpPr>
          <p:cNvPr id="19" name="Rounded Rectangle 18"/>
          <p:cNvSpPr/>
          <p:nvPr/>
        </p:nvSpPr>
        <p:spPr>
          <a:xfrm>
            <a:off x="9169603"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5</a:t>
            </a:r>
          </a:p>
        </p:txBody>
      </p:sp>
      <p:sp>
        <p:nvSpPr>
          <p:cNvPr id="20" name="Rounded Rectangle 19"/>
          <p:cNvSpPr/>
          <p:nvPr/>
        </p:nvSpPr>
        <p:spPr>
          <a:xfrm>
            <a:off x="9747504"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6</a:t>
            </a:r>
          </a:p>
        </p:txBody>
      </p:sp>
      <p:sp>
        <p:nvSpPr>
          <p:cNvPr id="21" name="Rounded Rectangle 20"/>
          <p:cNvSpPr/>
          <p:nvPr/>
        </p:nvSpPr>
        <p:spPr>
          <a:xfrm>
            <a:off x="10325404"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7</a:t>
            </a:r>
          </a:p>
        </p:txBody>
      </p:sp>
      <p:sp>
        <p:nvSpPr>
          <p:cNvPr id="22" name="Rounded Rectangle 21"/>
          <p:cNvSpPr/>
          <p:nvPr/>
        </p:nvSpPr>
        <p:spPr>
          <a:xfrm>
            <a:off x="10903305" y="1682496"/>
            <a:ext cx="539496" cy="201168"/>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700" b="1">
                <a:solidFill>
                  <a:srgbClr val="FFFFFF"/>
                </a:solidFill>
                <a:latin typeface="Segoe UI"/>
              </a:rPr>
              <a:t>8</a:t>
            </a:r>
          </a:p>
        </p:txBody>
      </p:sp>
      <p:sp>
        <p:nvSpPr>
          <p:cNvPr id="23" name="TextBox 22"/>
          <p:cNvSpPr txBox="1"/>
          <p:nvPr/>
        </p:nvSpPr>
        <p:spPr>
          <a:xfrm>
            <a:off x="6812280" y="1956816"/>
            <a:ext cx="4663440" cy="182880"/>
          </a:xfrm>
          <a:prstGeom prst="rect">
            <a:avLst/>
          </a:prstGeom>
          <a:noFill/>
        </p:spPr>
        <p:txBody>
          <a:bodyPr wrap="square" anchor="t" lIns="18288" rIns="18288" tIns="0" bIns="0">
            <a:spAutoFit/>
          </a:bodyPr>
          <a:lstStyle/>
          <a:p>
            <a:pPr algn="ctr">
              <a:lnSpc>
                <a:spcPct val="100000"/>
              </a:lnSpc>
            </a:pPr>
            <a:r>
              <a:rPr sz="700" b="1" i="0">
                <a:solidFill>
                  <a:srgbClr val="9B2C35"/>
                </a:solidFill>
                <a:latin typeface="Segoe UI"/>
              </a:rPr>
              <a:t>eight messages, back to back — 1,000 µs of the 1,000 µs available</a:t>
            </a:r>
          </a:p>
        </p:txBody>
      </p:sp>
      <p:sp>
        <p:nvSpPr>
          <p:cNvPr id="24" name="TextBox 23"/>
          <p:cNvSpPr txBox="1"/>
          <p:nvPr/>
        </p:nvSpPr>
        <p:spPr>
          <a:xfrm>
            <a:off x="5833872" y="2231136"/>
            <a:ext cx="914400" cy="182880"/>
          </a:xfrm>
          <a:prstGeom prst="rect">
            <a:avLst/>
          </a:prstGeom>
          <a:noFill/>
        </p:spPr>
        <p:txBody>
          <a:bodyPr wrap="square" anchor="t" lIns="18288" rIns="18288" tIns="0" bIns="0">
            <a:spAutoFit/>
          </a:bodyPr>
          <a:lstStyle/>
          <a:p>
            <a:pPr algn="l">
              <a:lnSpc>
                <a:spcPct val="100000"/>
              </a:lnSpc>
            </a:pPr>
            <a:r>
              <a:rPr sz="750" b="1" i="0">
                <a:solidFill>
                  <a:srgbClr val="64748B"/>
                </a:solidFill>
                <a:latin typeface="Segoe UI"/>
              </a:rPr>
              <a:t>next window</a:t>
            </a:r>
          </a:p>
        </p:txBody>
      </p:sp>
      <p:sp>
        <p:nvSpPr>
          <p:cNvPr id="25" name="Rounded Rectangle 24"/>
          <p:cNvSpPr/>
          <p:nvPr/>
        </p:nvSpPr>
        <p:spPr>
          <a:xfrm>
            <a:off x="6812280" y="2212848"/>
            <a:ext cx="4663440" cy="274320"/>
          </a:xfrm>
          <a:prstGeom prst="roundRect">
            <a:avLst>
              <a:gd name="adj" fmla="val 10000"/>
            </a:avLst>
          </a:prstGeom>
          <a:solidFill>
            <a:srgbClr val="F6E4E7"/>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2258568"/>
            <a:ext cx="4572000" cy="201168"/>
          </a:xfrm>
          <a:prstGeom prst="rect">
            <a:avLst/>
          </a:prstGeom>
          <a:noFill/>
        </p:spPr>
        <p:txBody>
          <a:bodyPr wrap="square" anchor="t" lIns="18288" rIns="18288" tIns="0" bIns="0">
            <a:spAutoFit/>
          </a:bodyPr>
          <a:lstStyle/>
          <a:p>
            <a:pPr algn="ctr">
              <a:lnSpc>
                <a:spcPct val="100000"/>
              </a:lnSpc>
            </a:pPr>
            <a:r>
              <a:rPr sz="750" b="1" i="0">
                <a:solidFill>
                  <a:srgbClr val="9B2C35"/>
                </a:solidFill>
                <a:latin typeface="Segoe UI"/>
              </a:rPr>
              <a:t>the next eight readings are already being produced — node 8 has not sent yet</a:t>
            </a:r>
          </a:p>
        </p:txBody>
      </p:sp>
      <p:sp>
        <p:nvSpPr>
          <p:cNvPr id="27" name="TextBox 26"/>
          <p:cNvSpPr txBox="1"/>
          <p:nvPr/>
        </p:nvSpPr>
        <p:spPr>
          <a:xfrm>
            <a:off x="5833872" y="2560320"/>
            <a:ext cx="5669280" cy="38404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There is no idle time left before the next round of readings arrives. Because CAN resolves collisions strictly by priority, the same lowest-priority Secondary loses every single time.</a:t>
            </a:r>
          </a:p>
        </p:txBody>
      </p:sp>
      <p:sp>
        <p:nvSpPr>
          <p:cNvPr id="28" name="Rounded Rectangle 27"/>
          <p:cNvSpPr/>
          <p:nvPr/>
        </p:nvSpPr>
        <p:spPr>
          <a:xfrm>
            <a:off x="502920" y="3200400"/>
            <a:ext cx="11183112" cy="841248"/>
          </a:xfrm>
          <a:prstGeom prst="roundRect">
            <a:avLst>
              <a:gd name="adj" fmla="val 11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3310128"/>
            <a:ext cx="10698480" cy="685800"/>
          </a:xfrm>
          <a:prstGeom prst="rect">
            <a:avLst/>
          </a:prstGeom>
          <a:noFill/>
        </p:spPr>
        <p:txBody>
          <a:bodyPr wrap="square" anchor="t" lIns="0" rIns="0" tIns="0" bIns="0">
            <a:spAutoFit/>
          </a:bodyPr>
          <a:lstStyle/>
          <a:p>
            <a:pPr algn="l">
              <a:lnSpc>
                <a:spcPct val="105000"/>
              </a:lnSpc>
              <a:spcBef>
                <a:spcPts val="0"/>
              </a:spcBef>
            </a:pPr>
            <a:r>
              <a:rPr sz="1000" b="1">
                <a:solidFill>
                  <a:srgbClr val="F6D2D6"/>
                </a:solidFill>
                <a:latin typeface="Segoe UI"/>
              </a:rPr>
              <a:t>WHY THIS MATTERS FOR US SPECIFICALLY</a:t>
            </a:r>
          </a:p>
          <a:p>
            <a:pPr algn="l">
              <a:lnSpc>
                <a:spcPct val="105000"/>
              </a:lnSpc>
              <a:spcBef>
                <a:spcPts val="400"/>
              </a:spcBef>
            </a:pPr>
            <a:r>
              <a:rPr sz="900" b="0">
                <a:solidFill>
                  <a:srgbClr val="FFFFFF"/>
                </a:solidFill>
                <a:latin typeface="Segoe UI"/>
              </a:rPr>
              <a:t>The lowest-priority node is not an abstraction — it is a real test channel with a real customer battery on it. It would be perpetually late, miss its transmit window every cycle, and silently report less data than the other seven. That is far more damaging than an even slowdown across all eight, because it is unfair and it is easy to miss during testing.</a:t>
            </a:r>
          </a:p>
        </p:txBody>
      </p:sp>
      <p:sp>
        <p:nvSpPr>
          <p:cNvPr id="30" name="TextBox 29"/>
          <p:cNvSpPr txBox="1"/>
          <p:nvPr/>
        </p:nvSpPr>
        <p:spPr>
          <a:xfrm>
            <a:off x="502920" y="4206240"/>
            <a:ext cx="7315200" cy="237744"/>
          </a:xfrm>
          <a:prstGeom prst="rect">
            <a:avLst/>
          </a:prstGeom>
          <a:noFill/>
        </p:spPr>
        <p:txBody>
          <a:bodyPr wrap="square" anchor="t" lIns="18288" rIns="18288" tIns="0" bIns="0">
            <a:spAutoFit/>
          </a:bodyPr>
          <a:lstStyle/>
          <a:p>
            <a:pPr algn="l">
              <a:lnSpc>
                <a:spcPct val="100000"/>
              </a:lnSpc>
            </a:pPr>
            <a:r>
              <a:rPr sz="1050" b="1" i="0">
                <a:solidFill>
                  <a:srgbClr val="142A47"/>
                </a:solidFill>
                <a:latin typeface="Segoe UI"/>
              </a:rPr>
              <a:t>TWO MITIGATIONS — WE RECOMMEND APPLYING BOTH</a:t>
            </a:r>
          </a:p>
        </p:txBody>
      </p:sp>
      <p:sp>
        <p:nvSpPr>
          <p:cNvPr id="31" name="Rounded Rectangle 30"/>
          <p:cNvSpPr/>
          <p:nvPr/>
        </p:nvSpPr>
        <p:spPr>
          <a:xfrm>
            <a:off x="502920" y="4498848"/>
            <a:ext cx="5522976" cy="129844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2920" y="4498848"/>
            <a:ext cx="5522976" cy="4572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685800" y="4626864"/>
            <a:ext cx="256032" cy="256032"/>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1</a:t>
            </a:r>
          </a:p>
        </p:txBody>
      </p:sp>
      <p:sp>
        <p:nvSpPr>
          <p:cNvPr id="34" name="TextBox 33"/>
          <p:cNvSpPr txBox="1"/>
          <p:nvPr/>
        </p:nvSpPr>
        <p:spPr>
          <a:xfrm>
            <a:off x="1033271" y="4645152"/>
            <a:ext cx="4114800" cy="237744"/>
          </a:xfrm>
          <a:prstGeom prst="rect">
            <a:avLst/>
          </a:prstGeom>
          <a:noFill/>
        </p:spPr>
        <p:txBody>
          <a:bodyPr wrap="square" anchor="t" lIns="18288" rIns="18288" tIns="0" bIns="0">
            <a:spAutoFit/>
          </a:bodyPr>
          <a:lstStyle/>
          <a:p>
            <a:pPr algn="l">
              <a:lnSpc>
                <a:spcPct val="100000"/>
              </a:lnSpc>
            </a:pPr>
            <a:r>
              <a:rPr sz="1000" b="1" i="0">
                <a:solidFill>
                  <a:srgbClr val="246B4D"/>
                </a:solidFill>
                <a:latin typeface="Segoe UI"/>
              </a:rPr>
              <a:t>Group the readings</a:t>
            </a:r>
          </a:p>
        </p:txBody>
      </p:sp>
      <p:sp>
        <p:nvSpPr>
          <p:cNvPr id="35" name="TextBox 34"/>
          <p:cNvSpPr txBox="1"/>
          <p:nvPr/>
        </p:nvSpPr>
        <p:spPr>
          <a:xfrm>
            <a:off x="685800" y="4956048"/>
            <a:ext cx="5157216" cy="777240"/>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With eight readings in one message, each Secondary transmits once every 8 ms rather than eight times. The burst becomes eight messages spread across an 8 ms window instead of a 1 ms window, so the bus is idle most of the time and no node is starved.</a:t>
            </a:r>
          </a:p>
        </p:txBody>
      </p:sp>
      <p:sp>
        <p:nvSpPr>
          <p:cNvPr id="36" name="Rounded Rectangle 35"/>
          <p:cNvSpPr/>
          <p:nvPr/>
        </p:nvSpPr>
        <p:spPr>
          <a:xfrm>
            <a:off x="6163056" y="4498848"/>
            <a:ext cx="5522976" cy="129844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163056" y="4498848"/>
            <a:ext cx="5522976" cy="45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345936" y="4626864"/>
            <a:ext cx="256032" cy="256032"/>
          </a:xfrm>
          <a:prstGeom prst="roundRect">
            <a:avLst>
              <a:gd name="adj" fmla="val 50000"/>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2</a:t>
            </a:r>
          </a:p>
        </p:txBody>
      </p:sp>
      <p:sp>
        <p:nvSpPr>
          <p:cNvPr id="39" name="TextBox 38"/>
          <p:cNvSpPr txBox="1"/>
          <p:nvPr/>
        </p:nvSpPr>
        <p:spPr>
          <a:xfrm>
            <a:off x="6693408" y="4645152"/>
            <a:ext cx="4114800" cy="237744"/>
          </a:xfrm>
          <a:prstGeom prst="rect">
            <a:avLst/>
          </a:prstGeom>
          <a:noFill/>
        </p:spPr>
        <p:txBody>
          <a:bodyPr wrap="square" anchor="t" lIns="18288" rIns="18288" tIns="0" bIns="0">
            <a:spAutoFit/>
          </a:bodyPr>
          <a:lstStyle/>
          <a:p>
            <a:pPr algn="l">
              <a:lnSpc>
                <a:spcPct val="100000"/>
              </a:lnSpc>
            </a:pPr>
            <a:r>
              <a:rPr sz="1000" b="1" i="0">
                <a:solidFill>
                  <a:srgbClr val="0A6E6A"/>
                </a:solidFill>
                <a:latin typeface="Segoe UI"/>
              </a:rPr>
              <a:t>Stagger the transmit timers</a:t>
            </a:r>
          </a:p>
        </p:txBody>
      </p:sp>
      <p:sp>
        <p:nvSpPr>
          <p:cNvPr id="40" name="TextBox 39"/>
          <p:cNvSpPr txBox="1"/>
          <p:nvPr/>
        </p:nvSpPr>
        <p:spPr>
          <a:xfrm>
            <a:off x="6345936" y="4956048"/>
            <a:ext cx="5157216" cy="777240"/>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Give each Secondary a small fixed offset so their timers do not all expire together. This spreads the traffic evenly by design rather than relying on chance. It is inexpensive to build in now and awkward to retrofit later.</a:t>
            </a:r>
          </a:p>
        </p:txBody>
      </p:sp>
      <p:sp>
        <p:nvSpPr>
          <p:cNvPr id="41" name="Rounded Rectangle 40"/>
          <p:cNvSpPr/>
          <p:nvPr/>
        </p:nvSpPr>
        <p:spPr>
          <a:xfrm>
            <a:off x="502920" y="5907024"/>
            <a:ext cx="11183112" cy="512064"/>
          </a:xfrm>
          <a:prstGeom prst="roundRect">
            <a:avLst>
              <a:gd name="adj" fmla="val 12000"/>
            </a:avLst>
          </a:prstGeom>
          <a:solidFill>
            <a:srgbClr val="E6F2EB"/>
          </a:solidFill>
          <a:ln w="9525">
            <a:solidFill>
              <a:srgbClr val="2E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502920" y="5907024"/>
            <a:ext cx="64008" cy="512064"/>
          </a:xfrm>
          <a:prstGeom prst="rect">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9808" y="6007608"/>
            <a:ext cx="10725912" cy="329184"/>
          </a:xfrm>
          <a:prstGeom prst="rect">
            <a:avLst/>
          </a:prstGeom>
          <a:noFill/>
        </p:spPr>
        <p:txBody>
          <a:bodyPr wrap="square" anchor="t" lIns="0" rIns="0" tIns="0" bIns="0">
            <a:spAutoFit/>
          </a:bodyPr>
          <a:lstStyle/>
          <a:p>
            <a:pPr algn="l">
              <a:lnSpc>
                <a:spcPct val="105000"/>
              </a:lnSpc>
              <a:spcBef>
                <a:spcPts val="0"/>
              </a:spcBef>
            </a:pPr>
            <a:r>
              <a:rPr sz="950" b="1">
                <a:solidFill>
                  <a:srgbClr val="2E6F4F"/>
                </a:solidFill>
                <a:latin typeface="Segoe UI"/>
              </a:rPr>
              <a:t>Both mitigations are firmware decisions, not hardware ones — but they must be designed in from the start.</a:t>
            </a:r>
          </a:p>
        </p:txBody>
      </p:sp>
      <p:sp>
        <p:nvSpPr>
          <p:cNvPr id="44" name="Rectangle 43"/>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46" name="TextBox 45"/>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06 · HOW CAN FD SOLVES IT</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Group the readings — send eight in one message instead of one at a time</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The Secondary still measures every millisecond. Nothing is lost. Only the way the readings travel changes.</a:t>
            </a:r>
          </a:p>
        </p:txBody>
      </p:sp>
      <p:sp>
        <p:nvSpPr>
          <p:cNvPr id="7" name="Rounded Rectangle 6"/>
          <p:cNvSpPr/>
          <p:nvPr/>
        </p:nvSpPr>
        <p:spPr>
          <a:xfrm>
            <a:off x="502920" y="1234440"/>
            <a:ext cx="3246120" cy="137160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234440"/>
            <a:ext cx="3246120" cy="45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1371600"/>
            <a:ext cx="2834640" cy="1170432"/>
          </a:xfrm>
          <a:prstGeom prst="rect">
            <a:avLst/>
          </a:prstGeom>
          <a:noFill/>
        </p:spPr>
        <p:txBody>
          <a:bodyPr wrap="square" anchor="t" lIns="0" rIns="0" tIns="0" bIns="0">
            <a:spAutoFit/>
          </a:bodyPr>
          <a:lstStyle/>
          <a:p>
            <a:pPr algn="l">
              <a:lnSpc>
                <a:spcPct val="105000"/>
              </a:lnSpc>
              <a:spcBef>
                <a:spcPts val="0"/>
              </a:spcBef>
            </a:pPr>
            <a:r>
              <a:rPr sz="950" b="1">
                <a:solidFill>
                  <a:srgbClr val="0A6E6A"/>
                </a:solidFill>
                <a:latin typeface="Segoe UI"/>
              </a:rPr>
              <a:t>CAN FD GIVES US TWO THINGS</a:t>
            </a:r>
          </a:p>
          <a:p>
            <a:pPr algn="l">
              <a:lnSpc>
                <a:spcPct val="105000"/>
              </a:lnSpc>
              <a:spcBef>
                <a:spcPts val="600"/>
              </a:spcBef>
            </a:pPr>
            <a:r>
              <a:rPr sz="900" b="0">
                <a:solidFill>
                  <a:srgbClr val="334155"/>
                </a:solidFill>
                <a:latin typeface="Segoe UI"/>
              </a:rPr>
              <a:t>1 ·  It carries up to 64 bytes in one message, instead of 8.</a:t>
            </a:r>
          </a:p>
          <a:p>
            <a:pPr algn="l">
              <a:lnSpc>
                <a:spcPct val="105000"/>
              </a:lnSpc>
              <a:spcBef>
                <a:spcPts val="400"/>
              </a:spcBef>
            </a:pPr>
            <a:r>
              <a:rPr sz="900" b="0">
                <a:solidFill>
                  <a:srgbClr val="334155"/>
                </a:solidFill>
                <a:latin typeface="Segoe UI"/>
              </a:rPr>
              <a:t>2 ·  It sends the data portion of the message several times faster.</a:t>
            </a:r>
          </a:p>
        </p:txBody>
      </p:sp>
      <p:sp>
        <p:nvSpPr>
          <p:cNvPr id="10" name="TextBox 9"/>
          <p:cNvSpPr txBox="1"/>
          <p:nvPr/>
        </p:nvSpPr>
        <p:spPr>
          <a:xfrm>
            <a:off x="3931920" y="1261872"/>
            <a:ext cx="7772400" cy="201168"/>
          </a:xfrm>
          <a:prstGeom prst="rect">
            <a:avLst/>
          </a:prstGeom>
          <a:noFill/>
        </p:spPr>
        <p:txBody>
          <a:bodyPr wrap="square" anchor="t" lIns="18288" rIns="18288" tIns="0" bIns="0">
            <a:spAutoFit/>
          </a:bodyPr>
          <a:lstStyle/>
          <a:p>
            <a:pPr algn="l">
              <a:lnSpc>
                <a:spcPct val="100000"/>
              </a:lnSpc>
            </a:pPr>
            <a:r>
              <a:rPr sz="850" b="1" i="0">
                <a:solidFill>
                  <a:srgbClr val="9B2C35"/>
                </a:solidFill>
                <a:latin typeface="Segoe UI"/>
              </a:rPr>
              <a:t>STANDARD CAN — ONE READING PER MESSAGE</a:t>
            </a:r>
          </a:p>
        </p:txBody>
      </p:sp>
      <p:sp>
        <p:nvSpPr>
          <p:cNvPr id="11" name="Rounded Rectangle 10"/>
          <p:cNvSpPr/>
          <p:nvPr/>
        </p:nvSpPr>
        <p:spPr>
          <a:xfrm>
            <a:off x="3931920"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2" name="Rounded Rectangle 11"/>
          <p:cNvSpPr/>
          <p:nvPr/>
        </p:nvSpPr>
        <p:spPr>
          <a:xfrm>
            <a:off x="4535424"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3" name="Rounded Rectangle 12"/>
          <p:cNvSpPr/>
          <p:nvPr/>
        </p:nvSpPr>
        <p:spPr>
          <a:xfrm>
            <a:off x="5138928"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4" name="Rounded Rectangle 13"/>
          <p:cNvSpPr/>
          <p:nvPr/>
        </p:nvSpPr>
        <p:spPr>
          <a:xfrm>
            <a:off x="5742431"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5" name="Rounded Rectangle 14"/>
          <p:cNvSpPr/>
          <p:nvPr/>
        </p:nvSpPr>
        <p:spPr>
          <a:xfrm>
            <a:off x="6345936"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6" name="Rounded Rectangle 15"/>
          <p:cNvSpPr/>
          <p:nvPr/>
        </p:nvSpPr>
        <p:spPr>
          <a:xfrm>
            <a:off x="6949440"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7" name="Rounded Rectangle 16"/>
          <p:cNvSpPr/>
          <p:nvPr/>
        </p:nvSpPr>
        <p:spPr>
          <a:xfrm>
            <a:off x="7552944"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8" name="Rounded Rectangle 17"/>
          <p:cNvSpPr/>
          <p:nvPr/>
        </p:nvSpPr>
        <p:spPr>
          <a:xfrm>
            <a:off x="8156448" y="1499616"/>
            <a:ext cx="530352" cy="402336"/>
          </a:xfrm>
          <a:prstGeom prst="roundRect">
            <a:avLst>
              <a:gd name="adj" fmla="val 8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pPr>
            <a:r>
              <a:rPr sz="900" b="1">
                <a:solidFill>
                  <a:srgbClr val="FFFFFF"/>
                </a:solidFill>
                <a:latin typeface="Segoe UI"/>
              </a:rPr>
              <a:t>1</a:t>
            </a:r>
          </a:p>
          <a:p>
            <a:pPr algn="ctr">
              <a:lnSpc>
                <a:spcPct val="102000"/>
              </a:lnSpc>
            </a:pPr>
            <a:r>
              <a:rPr sz="600">
                <a:solidFill>
                  <a:srgbClr val="F3C8CC"/>
                </a:solidFill>
                <a:latin typeface="Segoe UI"/>
              </a:rPr>
              <a:t>reading</a:t>
            </a:r>
          </a:p>
        </p:txBody>
      </p:sp>
      <p:sp>
        <p:nvSpPr>
          <p:cNvPr id="19" name="TextBox 18"/>
          <p:cNvSpPr txBox="1"/>
          <p:nvPr/>
        </p:nvSpPr>
        <p:spPr>
          <a:xfrm>
            <a:off x="8869680" y="1572768"/>
            <a:ext cx="2816352" cy="274320"/>
          </a:xfrm>
          <a:prstGeom prst="rect">
            <a:avLst/>
          </a:prstGeom>
          <a:noFill/>
        </p:spPr>
        <p:txBody>
          <a:bodyPr wrap="square" anchor="t" lIns="18288" rIns="18288" tIns="0" bIns="0">
            <a:spAutoFit/>
          </a:bodyPr>
          <a:lstStyle/>
          <a:p>
            <a:pPr algn="l">
              <a:lnSpc>
                <a:spcPct val="100000"/>
              </a:lnSpc>
            </a:pPr>
            <a:r>
              <a:rPr sz="900" b="1" i="0">
                <a:solidFill>
                  <a:srgbClr val="9B2C35"/>
                </a:solidFill>
                <a:latin typeface="Segoe UI"/>
              </a:rPr>
              <a:t>8 messages   ·   8,000 per second on the bus</a:t>
            </a:r>
          </a:p>
        </p:txBody>
      </p:sp>
      <p:sp>
        <p:nvSpPr>
          <p:cNvPr id="20" name="TextBox 19"/>
          <p:cNvSpPr txBox="1"/>
          <p:nvPr/>
        </p:nvSpPr>
        <p:spPr>
          <a:xfrm>
            <a:off x="3931920" y="2048256"/>
            <a:ext cx="7772400" cy="201168"/>
          </a:xfrm>
          <a:prstGeom prst="rect">
            <a:avLst/>
          </a:prstGeom>
          <a:noFill/>
        </p:spPr>
        <p:txBody>
          <a:bodyPr wrap="square" anchor="t" lIns="18288" rIns="18288" tIns="0" bIns="0">
            <a:spAutoFit/>
          </a:bodyPr>
          <a:lstStyle/>
          <a:p>
            <a:pPr algn="l">
              <a:lnSpc>
                <a:spcPct val="100000"/>
              </a:lnSpc>
            </a:pPr>
            <a:r>
              <a:rPr sz="850" b="1" i="0">
                <a:solidFill>
                  <a:srgbClr val="2E6F4F"/>
                </a:solidFill>
                <a:latin typeface="Segoe UI"/>
              </a:rPr>
              <a:t>CAN FD — EIGHT READINGS IN ONE MESSAGE</a:t>
            </a:r>
          </a:p>
        </p:txBody>
      </p:sp>
      <p:sp>
        <p:nvSpPr>
          <p:cNvPr id="21" name="Rounded Rectangle 20"/>
          <p:cNvSpPr/>
          <p:nvPr/>
        </p:nvSpPr>
        <p:spPr>
          <a:xfrm>
            <a:off x="3931920" y="2286000"/>
            <a:ext cx="4754880" cy="402336"/>
          </a:xfrm>
          <a:prstGeom prst="roundRect">
            <a:avLst>
              <a:gd name="adj" fmla="val 12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041648"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041648"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1</a:t>
            </a:r>
          </a:p>
        </p:txBody>
      </p:sp>
      <p:sp>
        <p:nvSpPr>
          <p:cNvPr id="24" name="Rounded Rectangle 23"/>
          <p:cNvSpPr/>
          <p:nvPr/>
        </p:nvSpPr>
        <p:spPr>
          <a:xfrm>
            <a:off x="4617720"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617720"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2</a:t>
            </a:r>
          </a:p>
        </p:txBody>
      </p:sp>
      <p:sp>
        <p:nvSpPr>
          <p:cNvPr id="26" name="Rounded Rectangle 25"/>
          <p:cNvSpPr/>
          <p:nvPr/>
        </p:nvSpPr>
        <p:spPr>
          <a:xfrm>
            <a:off x="5193792"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193792"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3</a:t>
            </a:r>
          </a:p>
        </p:txBody>
      </p:sp>
      <p:sp>
        <p:nvSpPr>
          <p:cNvPr id="28" name="Rounded Rectangle 27"/>
          <p:cNvSpPr/>
          <p:nvPr/>
        </p:nvSpPr>
        <p:spPr>
          <a:xfrm>
            <a:off x="5769864"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769864"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4</a:t>
            </a:r>
          </a:p>
        </p:txBody>
      </p:sp>
      <p:sp>
        <p:nvSpPr>
          <p:cNvPr id="30" name="Rounded Rectangle 29"/>
          <p:cNvSpPr/>
          <p:nvPr/>
        </p:nvSpPr>
        <p:spPr>
          <a:xfrm>
            <a:off x="6345936"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45936"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5</a:t>
            </a:r>
          </a:p>
        </p:txBody>
      </p:sp>
      <p:sp>
        <p:nvSpPr>
          <p:cNvPr id="32" name="Rounded Rectangle 31"/>
          <p:cNvSpPr/>
          <p:nvPr/>
        </p:nvSpPr>
        <p:spPr>
          <a:xfrm>
            <a:off x="6922008"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22008"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6</a:t>
            </a:r>
          </a:p>
        </p:txBody>
      </p:sp>
      <p:sp>
        <p:nvSpPr>
          <p:cNvPr id="34" name="Rounded Rectangle 33"/>
          <p:cNvSpPr/>
          <p:nvPr/>
        </p:nvSpPr>
        <p:spPr>
          <a:xfrm>
            <a:off x="7498079"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498079"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7</a:t>
            </a:r>
          </a:p>
        </p:txBody>
      </p:sp>
      <p:sp>
        <p:nvSpPr>
          <p:cNvPr id="36" name="Rounded Rectangle 35"/>
          <p:cNvSpPr/>
          <p:nvPr/>
        </p:nvSpPr>
        <p:spPr>
          <a:xfrm>
            <a:off x="8074152" y="2359152"/>
            <a:ext cx="512064" cy="256032"/>
          </a:xfrm>
          <a:prstGeom prst="roundRect">
            <a:avLst>
              <a:gd name="adj" fmla="val 20000"/>
            </a:avLst>
          </a:prstGeom>
          <a:solidFill>
            <a:srgbClr val="4E8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074152" y="2404872"/>
            <a:ext cx="512064" cy="182880"/>
          </a:xfrm>
          <a:prstGeom prst="rect">
            <a:avLst/>
          </a:prstGeom>
          <a:noFill/>
        </p:spPr>
        <p:txBody>
          <a:bodyPr wrap="square" anchor="t" lIns="18288" rIns="18288" tIns="0" bIns="0">
            <a:spAutoFit/>
          </a:bodyPr>
          <a:lstStyle/>
          <a:p>
            <a:pPr algn="ctr">
              <a:lnSpc>
                <a:spcPct val="100000"/>
              </a:lnSpc>
            </a:pPr>
            <a:r>
              <a:rPr sz="750" b="1" i="0">
                <a:solidFill>
                  <a:srgbClr val="FFFFFF"/>
                </a:solidFill>
                <a:latin typeface="Segoe UI"/>
              </a:rPr>
              <a:t>8</a:t>
            </a:r>
          </a:p>
        </p:txBody>
      </p:sp>
      <p:sp>
        <p:nvSpPr>
          <p:cNvPr id="38" name="TextBox 37"/>
          <p:cNvSpPr txBox="1"/>
          <p:nvPr/>
        </p:nvSpPr>
        <p:spPr>
          <a:xfrm>
            <a:off x="8869680" y="2359152"/>
            <a:ext cx="2816352" cy="274320"/>
          </a:xfrm>
          <a:prstGeom prst="rect">
            <a:avLst/>
          </a:prstGeom>
          <a:noFill/>
        </p:spPr>
        <p:txBody>
          <a:bodyPr wrap="square" anchor="t" lIns="18288" rIns="18288" tIns="0" bIns="0">
            <a:spAutoFit/>
          </a:bodyPr>
          <a:lstStyle/>
          <a:p>
            <a:pPr algn="l">
              <a:lnSpc>
                <a:spcPct val="100000"/>
              </a:lnSpc>
            </a:pPr>
            <a:r>
              <a:rPr sz="900" b="1" i="0">
                <a:solidFill>
                  <a:srgbClr val="2E6F4F"/>
                </a:solidFill>
                <a:latin typeface="Segoe UI"/>
              </a:rPr>
              <a:t>1 message   ·   1,000 per second on the bus</a:t>
            </a:r>
          </a:p>
        </p:txBody>
      </p:sp>
      <p:sp>
        <p:nvSpPr>
          <p:cNvPr id="39" name="TextBox 38"/>
          <p:cNvSpPr txBox="1"/>
          <p:nvPr/>
        </p:nvSpPr>
        <p:spPr>
          <a:xfrm>
            <a:off x="502920" y="2798064"/>
            <a:ext cx="11183112" cy="274320"/>
          </a:xfrm>
          <a:prstGeom prst="rect">
            <a:avLst/>
          </a:prstGeom>
          <a:noFill/>
        </p:spPr>
        <p:txBody>
          <a:bodyPr wrap="square" anchor="t" lIns="18288" rIns="18288" tIns="0" bIns="0">
            <a:spAutoFit/>
          </a:bodyPr>
          <a:lstStyle/>
          <a:p>
            <a:pPr algn="ctr">
              <a:lnSpc>
                <a:spcPct val="100000"/>
              </a:lnSpc>
            </a:pPr>
            <a:r>
              <a:rPr sz="950" b="1" i="0">
                <a:solidFill>
                  <a:srgbClr val="142A47"/>
                </a:solidFill>
                <a:latin typeface="Segoe UI"/>
              </a:rPr>
              <a:t>The Secondary measures every millisecond as before, holds the readings for a moment, then sends eight of them together. The database still receives one reading for every millisecond.</a:t>
            </a:r>
          </a:p>
        </p:txBody>
      </p:sp>
      <p:sp>
        <p:nvSpPr>
          <p:cNvPr id="40" name="TextBox 39"/>
          <p:cNvSpPr txBox="1"/>
          <p:nvPr/>
        </p:nvSpPr>
        <p:spPr>
          <a:xfrm>
            <a:off x="502920" y="3145536"/>
            <a:ext cx="7315200" cy="219456"/>
          </a:xfrm>
          <a:prstGeom prst="rect">
            <a:avLst/>
          </a:prstGeom>
          <a:noFill/>
        </p:spPr>
        <p:txBody>
          <a:bodyPr wrap="square" anchor="t" lIns="18288" rIns="18288" tIns="0" bIns="0">
            <a:spAutoFit/>
          </a:bodyPr>
          <a:lstStyle/>
          <a:p>
            <a:pPr algn="l">
              <a:lnSpc>
                <a:spcPct val="100000"/>
              </a:lnSpc>
            </a:pPr>
            <a:r>
              <a:rPr sz="850" b="1" i="0">
                <a:solidFill>
                  <a:srgbClr val="142A47"/>
                </a:solidFill>
                <a:latin typeface="Segoe UI"/>
              </a:rPr>
              <a:t>WHY GROUPING MATTERS — PART OF EVERY MESSAGE MUST STILL TRAVEL AT THE SLOWER RATE, AND THAT COST IS PAID PER MESSAGE</a:t>
            </a:r>
          </a:p>
        </p:txBody>
      </p:sp>
      <p:graphicFrame>
        <p:nvGraphicFramePr>
          <p:cNvPr id="41" name="Table 40"/>
          <p:cNvGraphicFramePr>
            <a:graphicFrameLocks noGrp="1"/>
          </p:cNvGraphicFramePr>
          <p:nvPr/>
        </p:nvGraphicFramePr>
        <p:xfrm>
          <a:off x="502920" y="3401568"/>
          <a:ext cx="7086599" cy="1591056"/>
        </p:xfrm>
        <a:graphic>
          <a:graphicData uri="http://schemas.openxmlformats.org/drawingml/2006/table">
            <a:tbl>
              <a:tblPr firstRow="1">
                <a:tableStyleId>{5C22544A-7EE6-4342-B048-85BDC9FD1C3A}</a:tableStyleId>
              </a:tblPr>
              <a:tblGrid>
                <a:gridCol w="2606040"/>
                <a:gridCol w="914400"/>
                <a:gridCol w="914400"/>
                <a:gridCol w="1051559"/>
                <a:gridCol w="1600200"/>
              </a:tblGrid>
              <a:tr h="265176">
                <a:tc>
                  <a:txBody>
                    <a:bodyPr/>
                    <a:lstStyle/>
                    <a:p>
                      <a:pPr>
                        <a:lnSpc>
                          <a:spcPct val="100000"/>
                        </a:lnSpc>
                      </a:pPr>
                      <a:r>
                        <a:rPr sz="900" b="1">
                          <a:solidFill>
                            <a:srgbClr val="FFFFFF"/>
                          </a:solidFill>
                          <a:latin typeface="Segoe UI"/>
                        </a:rPr>
                        <a:t>Approach</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Data-phase</a:t>
                      </a:r>
                    </a:p>
                    <a:p>
                      <a:pPr>
                        <a:lnSpc>
                          <a:spcPct val="100000"/>
                        </a:lnSpc>
                      </a:pPr>
                      <a:r>
                        <a:rPr sz="900" b="1">
                          <a:solidFill>
                            <a:srgbClr val="FFFFFF"/>
                          </a:solidFill>
                          <a:latin typeface="Segoe UI"/>
                        </a:rPr>
                        <a:t>speed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Messages</a:t>
                      </a:r>
                    </a:p>
                    <a:p>
                      <a:pPr>
                        <a:lnSpc>
                          <a:spcPct val="100000"/>
                        </a:lnSpc>
                      </a:pPr>
                      <a:r>
                        <a:rPr sz="900" b="1">
                          <a:solidFill>
                            <a:srgbClr val="FFFFFF"/>
                          </a:solidFill>
                          <a:latin typeface="Segoe UI"/>
                        </a:rPr>
                        <a:t>per second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Bus</a:t>
                      </a:r>
                    </a:p>
                    <a:p>
                      <a:pPr>
                        <a:lnSpc>
                          <a:spcPct val="100000"/>
                        </a:lnSpc>
                      </a:pPr>
                      <a:r>
                        <a:rPr sz="900" b="1">
                          <a:solidFill>
                            <a:srgbClr val="FFFFFF"/>
                          </a:solidFill>
                          <a:latin typeface="Segoe UI"/>
                        </a:rPr>
                        <a:t>load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Verdict</a:t>
                      </a:r>
                    </a:p>
                  </a:txBody>
                  <a:tcPr marL="50292" marR="41148" marT="20116" marB="20116" anchor="ctr">
                    <a:solidFill>
                      <a:srgbClr val="1E3A5F"/>
                    </a:solidFill>
                  </a:tcPr>
                </a:tc>
              </a:tr>
              <a:tr h="265176">
                <a:tc>
                  <a:txBody>
                    <a:bodyPr/>
                    <a:lstStyle/>
                    <a:p>
                      <a:pPr>
                        <a:lnSpc>
                          <a:spcPct val="100000"/>
                        </a:lnSpc>
                      </a:pPr>
                      <a:r>
                        <a:rPr sz="800" b="0">
                          <a:solidFill>
                            <a:srgbClr val="334155"/>
                          </a:solidFill>
                          <a:latin typeface="Segoe UI"/>
                        </a:rPr>
                        <a:t>Standard CAN</a:t>
                      </a:r>
                    </a:p>
                  </a:txBody>
                  <a:tcPr marL="50292" marR="41148" marT="20116" marB="20116" anchor="ctr">
                    <a:solidFill>
                      <a:srgbClr val="FBE9EA"/>
                    </a:solidFill>
                  </a:tcPr>
                </a:tc>
                <a:tc>
                  <a:txBody>
                    <a:bodyPr/>
                    <a:lstStyle/>
                    <a:p>
                      <a:pPr algn="ctr">
                        <a:lnSpc>
                          <a:spcPct val="100000"/>
                        </a:lnSpc>
                      </a:pPr>
                      <a:r>
                        <a:rPr sz="800" b="0">
                          <a:solidFill>
                            <a:srgbClr val="334155"/>
                          </a:solidFill>
                          <a:latin typeface="Segoe UI"/>
                        </a:rPr>
                        <a:t>—</a:t>
                      </a:r>
                    </a:p>
                  </a:txBody>
                  <a:tcPr marL="50292" marR="41148" marT="20116" marB="20116" anchor="ctr">
                    <a:solidFill>
                      <a:srgbClr val="FBE9EA"/>
                    </a:solidFill>
                  </a:tcPr>
                </a:tc>
                <a:tc>
                  <a:txBody>
                    <a:bodyPr/>
                    <a:lstStyle/>
                    <a:p>
                      <a:pPr algn="ctr">
                        <a:lnSpc>
                          <a:spcPct val="100000"/>
                        </a:lnSpc>
                      </a:pPr>
                      <a:r>
                        <a:rPr sz="800" b="0">
                          <a:solidFill>
                            <a:srgbClr val="334155"/>
                          </a:solidFill>
                          <a:latin typeface="Segoe UI"/>
                        </a:rPr>
                        <a:t>8,000</a:t>
                      </a:r>
                    </a:p>
                  </a:txBody>
                  <a:tcPr marL="50292" marR="41148" marT="20116" marB="20116" anchor="ctr">
                    <a:solidFill>
                      <a:srgbClr val="FBE9EA"/>
                    </a:solidFill>
                  </a:tcPr>
                </a:tc>
                <a:tc>
                  <a:txBody>
                    <a:bodyPr/>
                    <a:lstStyle/>
                    <a:p>
                      <a:pPr algn="ctr">
                        <a:lnSpc>
                          <a:spcPct val="100000"/>
                        </a:lnSpc>
                      </a:pPr>
                      <a:r>
                        <a:rPr sz="800" b="1">
                          <a:solidFill>
                            <a:srgbClr val="9B2C35"/>
                          </a:solidFill>
                          <a:latin typeface="Segoe UI"/>
                        </a:rPr>
                        <a:t>200 % at 500 kbit/s</a:t>
                      </a:r>
                    </a:p>
                  </a:txBody>
                  <a:tcPr marL="50292" marR="41148" marT="20116" marB="20116" anchor="ctr">
                    <a:solidFill>
                      <a:srgbClr val="FBE9EA"/>
                    </a:solidFill>
                  </a:tcPr>
                </a:tc>
                <a:tc>
                  <a:txBody>
                    <a:bodyPr/>
                    <a:lstStyle/>
                    <a:p>
                      <a:pPr>
                        <a:lnSpc>
                          <a:spcPct val="100000"/>
                        </a:lnSpc>
                      </a:pPr>
                      <a:r>
                        <a:rPr sz="800" b="1">
                          <a:solidFill>
                            <a:srgbClr val="9B2C35"/>
                          </a:solidFill>
                          <a:latin typeface="Segoe UI"/>
                        </a:rPr>
                        <a:t>Fails</a:t>
                      </a:r>
                    </a:p>
                  </a:txBody>
                  <a:tcPr marL="50292" marR="41148" marT="20116" marB="20116" anchor="ctr">
                    <a:solidFill>
                      <a:srgbClr val="FBE9EA"/>
                    </a:solidFill>
                  </a:tcPr>
                </a:tc>
              </a:tr>
              <a:tr h="265176">
                <a:tc>
                  <a:txBody>
                    <a:bodyPr/>
                    <a:lstStyle/>
                    <a:p>
                      <a:pPr>
                        <a:lnSpc>
                          <a:spcPct val="100000"/>
                        </a:lnSpc>
                      </a:pPr>
                      <a:r>
                        <a:rPr sz="800" b="0">
                          <a:solidFill>
                            <a:srgbClr val="334155"/>
                          </a:solidFill>
                          <a:latin typeface="Segoe UI"/>
                        </a:rPr>
                        <a:t>CAN FD, one reading per message</a:t>
                      </a:r>
                    </a:p>
                  </a:txBody>
                  <a:tcPr marL="50292" marR="41148" marT="20116" marB="20116" anchor="ctr">
                    <a:solidFill>
                      <a:srgbClr val="FDF3DF"/>
                    </a:solidFill>
                  </a:tcPr>
                </a:tc>
                <a:tc>
                  <a:txBody>
                    <a:bodyPr/>
                    <a:lstStyle/>
                    <a:p>
                      <a:pPr algn="ctr">
                        <a:lnSpc>
                          <a:spcPct val="100000"/>
                        </a:lnSpc>
                      </a:pPr>
                      <a:r>
                        <a:rPr sz="800" b="0">
                          <a:solidFill>
                            <a:srgbClr val="334155"/>
                          </a:solidFill>
                          <a:latin typeface="Segoe UI"/>
                        </a:rPr>
                        <a:t>2 Mbit/s</a:t>
                      </a:r>
                    </a:p>
                  </a:txBody>
                  <a:tcPr marL="50292" marR="41148" marT="20116" marB="20116" anchor="ctr">
                    <a:solidFill>
                      <a:srgbClr val="FDF3DF"/>
                    </a:solidFill>
                  </a:tcPr>
                </a:tc>
                <a:tc>
                  <a:txBody>
                    <a:bodyPr/>
                    <a:lstStyle/>
                    <a:p>
                      <a:pPr algn="ctr">
                        <a:lnSpc>
                          <a:spcPct val="100000"/>
                        </a:lnSpc>
                      </a:pPr>
                      <a:r>
                        <a:rPr sz="800" b="0">
                          <a:solidFill>
                            <a:srgbClr val="334155"/>
                          </a:solidFill>
                          <a:latin typeface="Segoe UI"/>
                        </a:rPr>
                        <a:t>8,000</a:t>
                      </a:r>
                    </a:p>
                  </a:txBody>
                  <a:tcPr marL="50292" marR="41148" marT="20116" marB="20116" anchor="ctr">
                    <a:solidFill>
                      <a:srgbClr val="FDF3DF"/>
                    </a:solidFill>
                  </a:tcPr>
                </a:tc>
                <a:tc>
                  <a:txBody>
                    <a:bodyPr/>
                    <a:lstStyle/>
                    <a:p>
                      <a:pPr algn="ctr">
                        <a:lnSpc>
                          <a:spcPct val="100000"/>
                        </a:lnSpc>
                      </a:pPr>
                      <a:r>
                        <a:rPr sz="800" b="1">
                          <a:solidFill>
                            <a:srgbClr val="B47A14"/>
                          </a:solidFill>
                          <a:latin typeface="Segoe UI"/>
                        </a:rPr>
                        <a:t>about 60 %</a:t>
                      </a:r>
                    </a:p>
                  </a:txBody>
                  <a:tcPr marL="50292" marR="41148" marT="20116" marB="20116" anchor="ctr">
                    <a:solidFill>
                      <a:srgbClr val="FDF3DF"/>
                    </a:solidFill>
                  </a:tcPr>
                </a:tc>
                <a:tc>
                  <a:txBody>
                    <a:bodyPr/>
                    <a:lstStyle/>
                    <a:p>
                      <a:pPr>
                        <a:lnSpc>
                          <a:spcPct val="100000"/>
                        </a:lnSpc>
                      </a:pPr>
                      <a:r>
                        <a:rPr sz="800" b="1">
                          <a:solidFill>
                            <a:srgbClr val="B47A14"/>
                          </a:solidFill>
                          <a:latin typeface="Segoe UI"/>
                        </a:rPr>
                        <a:t>Works, but close to the 70 % limit</a:t>
                      </a:r>
                    </a:p>
                  </a:txBody>
                  <a:tcPr marL="50292" marR="41148" marT="20116" marB="20116" anchor="ctr">
                    <a:solidFill>
                      <a:srgbClr val="FDF3DF"/>
                    </a:solidFill>
                  </a:tcPr>
                </a:tc>
              </a:tr>
              <a:tr h="265176">
                <a:tc>
                  <a:txBody>
                    <a:bodyPr/>
                    <a:lstStyle/>
                    <a:p>
                      <a:pPr>
                        <a:lnSpc>
                          <a:spcPct val="100000"/>
                        </a:lnSpc>
                      </a:pPr>
                      <a:r>
                        <a:rPr sz="800" b="0">
                          <a:solidFill>
                            <a:srgbClr val="334155"/>
                          </a:solidFill>
                          <a:latin typeface="Segoe UI"/>
                        </a:rPr>
                        <a:t>CAN FD, one reading per message</a:t>
                      </a:r>
                    </a:p>
                  </a:txBody>
                  <a:tcPr marL="50292" marR="41148" marT="20116" marB="20116" anchor="ctr">
                    <a:solidFill>
                      <a:srgbClr val="E6F2EB"/>
                    </a:solidFill>
                  </a:tcPr>
                </a:tc>
                <a:tc>
                  <a:txBody>
                    <a:bodyPr/>
                    <a:lstStyle/>
                    <a:p>
                      <a:pPr algn="ctr">
                        <a:lnSpc>
                          <a:spcPct val="100000"/>
                        </a:lnSpc>
                      </a:pPr>
                      <a:r>
                        <a:rPr sz="800" b="0">
                          <a:solidFill>
                            <a:srgbClr val="334155"/>
                          </a:solidFill>
                          <a:latin typeface="Segoe UI"/>
                        </a:rPr>
                        <a:t>5 Mbit/s</a:t>
                      </a:r>
                    </a:p>
                  </a:txBody>
                  <a:tcPr marL="50292" marR="41148" marT="20116" marB="20116" anchor="ctr">
                    <a:solidFill>
                      <a:srgbClr val="E6F2EB"/>
                    </a:solidFill>
                  </a:tcPr>
                </a:tc>
                <a:tc>
                  <a:txBody>
                    <a:bodyPr/>
                    <a:lstStyle/>
                    <a:p>
                      <a:pPr algn="ctr">
                        <a:lnSpc>
                          <a:spcPct val="100000"/>
                        </a:lnSpc>
                      </a:pPr>
                      <a:r>
                        <a:rPr sz="800" b="0">
                          <a:solidFill>
                            <a:srgbClr val="334155"/>
                          </a:solidFill>
                          <a:latin typeface="Segoe UI"/>
                        </a:rPr>
                        <a:t>8,000</a:t>
                      </a:r>
                    </a:p>
                  </a:txBody>
                  <a:tcPr marL="50292" marR="41148" marT="20116" marB="20116" anchor="ctr">
                    <a:solidFill>
                      <a:srgbClr val="E6F2EB"/>
                    </a:solidFill>
                  </a:tcPr>
                </a:tc>
                <a:tc>
                  <a:txBody>
                    <a:bodyPr/>
                    <a:lstStyle/>
                    <a:p>
                      <a:pPr algn="ctr">
                        <a:lnSpc>
                          <a:spcPct val="100000"/>
                        </a:lnSpc>
                      </a:pPr>
                      <a:r>
                        <a:rPr sz="800" b="1">
                          <a:solidFill>
                            <a:srgbClr val="2E6F4F"/>
                          </a:solidFill>
                          <a:latin typeface="Segoe UI"/>
                        </a:rPr>
                        <a:t>about 38 %</a:t>
                      </a:r>
                    </a:p>
                  </a:txBody>
                  <a:tcPr marL="50292" marR="41148" marT="20116" marB="20116" anchor="ctr">
                    <a:solidFill>
                      <a:srgbClr val="E6F2EB"/>
                    </a:solidFill>
                  </a:tcPr>
                </a:tc>
                <a:tc>
                  <a:txBody>
                    <a:bodyPr/>
                    <a:lstStyle/>
                    <a:p>
                      <a:pPr>
                        <a:lnSpc>
                          <a:spcPct val="100000"/>
                        </a:lnSpc>
                      </a:pPr>
                      <a:r>
                        <a:rPr sz="800" b="1">
                          <a:solidFill>
                            <a:srgbClr val="2E6F4F"/>
                          </a:solidFill>
                          <a:latin typeface="Segoe UI"/>
                        </a:rPr>
                        <a:t>Works</a:t>
                      </a:r>
                    </a:p>
                  </a:txBody>
                  <a:tcPr marL="50292" marR="41148" marT="20116" marB="20116" anchor="ctr">
                    <a:solidFill>
                      <a:srgbClr val="E6F2EB"/>
                    </a:solidFill>
                  </a:tcPr>
                </a:tc>
              </a:tr>
              <a:tr h="265176">
                <a:tc>
                  <a:txBody>
                    <a:bodyPr/>
                    <a:lstStyle/>
                    <a:p>
                      <a:pPr>
                        <a:lnSpc>
                          <a:spcPct val="100000"/>
                        </a:lnSpc>
                      </a:pPr>
                      <a:r>
                        <a:rPr sz="800" b="1">
                          <a:solidFill>
                            <a:srgbClr val="334155"/>
                          </a:solidFill>
                          <a:latin typeface="Segoe UI"/>
                        </a:rPr>
                        <a:t>CAN FD, EIGHT readings per message</a:t>
                      </a:r>
                    </a:p>
                  </a:txBody>
                  <a:tcPr marL="50292" marR="41148" marT="20116" marB="20116" anchor="ctr">
                    <a:solidFill>
                      <a:srgbClr val="CFE6D9"/>
                    </a:solidFill>
                  </a:tcPr>
                </a:tc>
                <a:tc>
                  <a:txBody>
                    <a:bodyPr/>
                    <a:lstStyle/>
                    <a:p>
                      <a:pPr algn="ctr">
                        <a:lnSpc>
                          <a:spcPct val="100000"/>
                        </a:lnSpc>
                      </a:pPr>
                      <a:r>
                        <a:rPr sz="800" b="0">
                          <a:solidFill>
                            <a:srgbClr val="334155"/>
                          </a:solidFill>
                          <a:latin typeface="Segoe UI"/>
                        </a:rPr>
                        <a:t>2 Mbit/s</a:t>
                      </a:r>
                    </a:p>
                  </a:txBody>
                  <a:tcPr marL="50292" marR="41148" marT="20116" marB="20116" anchor="ctr">
                    <a:solidFill>
                      <a:srgbClr val="CFE6D9"/>
                    </a:solidFill>
                  </a:tcPr>
                </a:tc>
                <a:tc>
                  <a:txBody>
                    <a:bodyPr/>
                    <a:lstStyle/>
                    <a:p>
                      <a:pPr algn="ctr">
                        <a:lnSpc>
                          <a:spcPct val="100000"/>
                        </a:lnSpc>
                      </a:pPr>
                      <a:r>
                        <a:rPr sz="800" b="0">
                          <a:solidFill>
                            <a:srgbClr val="334155"/>
                          </a:solidFill>
                          <a:latin typeface="Segoe UI"/>
                        </a:rPr>
                        <a:t>1,000</a:t>
                      </a:r>
                    </a:p>
                  </a:txBody>
                  <a:tcPr marL="50292" marR="41148" marT="20116" marB="20116" anchor="ctr">
                    <a:solidFill>
                      <a:srgbClr val="CFE6D9"/>
                    </a:solidFill>
                  </a:tcPr>
                </a:tc>
                <a:tc>
                  <a:txBody>
                    <a:bodyPr/>
                    <a:lstStyle/>
                    <a:p>
                      <a:pPr algn="ctr">
                        <a:lnSpc>
                          <a:spcPct val="100000"/>
                        </a:lnSpc>
                      </a:pPr>
                      <a:r>
                        <a:rPr sz="800" b="1">
                          <a:solidFill>
                            <a:srgbClr val="2E6F4F"/>
                          </a:solidFill>
                          <a:latin typeface="Segoe UI"/>
                        </a:rPr>
                        <a:t>about 30 %</a:t>
                      </a:r>
                    </a:p>
                  </a:txBody>
                  <a:tcPr marL="50292" marR="41148" marT="20116" marB="20116" anchor="ctr">
                    <a:solidFill>
                      <a:srgbClr val="CFE6D9"/>
                    </a:solidFill>
                  </a:tcPr>
                </a:tc>
                <a:tc>
                  <a:txBody>
                    <a:bodyPr/>
                    <a:lstStyle/>
                    <a:p>
                      <a:pPr>
                        <a:lnSpc>
                          <a:spcPct val="100000"/>
                        </a:lnSpc>
                      </a:pPr>
                      <a:r>
                        <a:rPr sz="800" b="1">
                          <a:solidFill>
                            <a:srgbClr val="2E6F4F"/>
                          </a:solidFill>
                          <a:latin typeface="Segoe UI"/>
                        </a:rPr>
                        <a:t>RECOMMENDED</a:t>
                      </a:r>
                    </a:p>
                  </a:txBody>
                  <a:tcPr marL="50292" marR="41148" marT="20116" marB="20116" anchor="ctr">
                    <a:solidFill>
                      <a:srgbClr val="CFE6D9"/>
                    </a:solidFill>
                  </a:tcPr>
                </a:tc>
              </a:tr>
              <a:tr h="265176">
                <a:tc>
                  <a:txBody>
                    <a:bodyPr/>
                    <a:lstStyle/>
                    <a:p>
                      <a:pPr>
                        <a:lnSpc>
                          <a:spcPct val="100000"/>
                        </a:lnSpc>
                      </a:pPr>
                      <a:r>
                        <a:rPr sz="800" b="0">
                          <a:solidFill>
                            <a:srgbClr val="334155"/>
                          </a:solidFill>
                          <a:latin typeface="Segoe UI"/>
                        </a:rPr>
                        <a:t>CAN FD, eight readings per message</a:t>
                      </a:r>
                    </a:p>
                  </a:txBody>
                  <a:tcPr marL="50292" marR="41148" marT="20116" marB="20116" anchor="ctr">
                    <a:solidFill>
                      <a:srgbClr val="E6F2EB"/>
                    </a:solidFill>
                  </a:tcPr>
                </a:tc>
                <a:tc>
                  <a:txBody>
                    <a:bodyPr/>
                    <a:lstStyle/>
                    <a:p>
                      <a:pPr algn="ctr">
                        <a:lnSpc>
                          <a:spcPct val="100000"/>
                        </a:lnSpc>
                      </a:pPr>
                      <a:r>
                        <a:rPr sz="800" b="0">
                          <a:solidFill>
                            <a:srgbClr val="334155"/>
                          </a:solidFill>
                          <a:latin typeface="Segoe UI"/>
                        </a:rPr>
                        <a:t>5 Mbit/s</a:t>
                      </a:r>
                    </a:p>
                  </a:txBody>
                  <a:tcPr marL="50292" marR="41148" marT="20116" marB="20116" anchor="ctr">
                    <a:solidFill>
                      <a:srgbClr val="E6F2EB"/>
                    </a:solidFill>
                  </a:tcPr>
                </a:tc>
                <a:tc>
                  <a:txBody>
                    <a:bodyPr/>
                    <a:lstStyle/>
                    <a:p>
                      <a:pPr algn="ctr">
                        <a:lnSpc>
                          <a:spcPct val="100000"/>
                        </a:lnSpc>
                      </a:pPr>
                      <a:r>
                        <a:rPr sz="800" b="0">
                          <a:solidFill>
                            <a:srgbClr val="334155"/>
                          </a:solidFill>
                          <a:latin typeface="Segoe UI"/>
                        </a:rPr>
                        <a:t>1,000</a:t>
                      </a:r>
                    </a:p>
                  </a:txBody>
                  <a:tcPr marL="50292" marR="41148" marT="20116" marB="20116" anchor="ctr">
                    <a:solidFill>
                      <a:srgbClr val="E6F2EB"/>
                    </a:solidFill>
                  </a:tcPr>
                </a:tc>
                <a:tc>
                  <a:txBody>
                    <a:bodyPr/>
                    <a:lstStyle/>
                    <a:p>
                      <a:pPr algn="ctr">
                        <a:lnSpc>
                          <a:spcPct val="100000"/>
                        </a:lnSpc>
                      </a:pPr>
                      <a:r>
                        <a:rPr sz="800" b="1">
                          <a:solidFill>
                            <a:srgbClr val="2E6F4F"/>
                          </a:solidFill>
                          <a:latin typeface="Segoe UI"/>
                        </a:rPr>
                        <a:t>about 14 %</a:t>
                      </a:r>
                    </a:p>
                  </a:txBody>
                  <a:tcPr marL="50292" marR="41148" marT="20116" marB="20116" anchor="ctr">
                    <a:solidFill>
                      <a:srgbClr val="E6F2EB"/>
                    </a:solidFill>
                  </a:tcPr>
                </a:tc>
                <a:tc>
                  <a:txBody>
                    <a:bodyPr/>
                    <a:lstStyle/>
                    <a:p>
                      <a:pPr>
                        <a:lnSpc>
                          <a:spcPct val="100000"/>
                        </a:lnSpc>
                      </a:pPr>
                      <a:r>
                        <a:rPr sz="800" b="1">
                          <a:solidFill>
                            <a:srgbClr val="2E6F4F"/>
                          </a:solidFill>
                          <a:latin typeface="Segoe UI"/>
                        </a:rPr>
                        <a:t>Works, with large margin</a:t>
                      </a:r>
                    </a:p>
                  </a:txBody>
                  <a:tcPr marL="50292" marR="41148" marT="20116" marB="20116" anchor="ctr">
                    <a:solidFill>
                      <a:srgbClr val="E6F2EB"/>
                    </a:solidFill>
                  </a:tcPr>
                </a:tc>
              </a:tr>
            </a:tbl>
          </a:graphicData>
        </a:graphic>
      </p:graphicFrame>
      <p:sp>
        <p:nvSpPr>
          <p:cNvPr id="42" name="Rounded Rectangle 41"/>
          <p:cNvSpPr/>
          <p:nvPr/>
        </p:nvSpPr>
        <p:spPr>
          <a:xfrm>
            <a:off x="7799831" y="3401568"/>
            <a:ext cx="3886200" cy="1691640"/>
          </a:xfrm>
          <a:prstGeom prst="roundRect">
            <a:avLst>
              <a:gd name="adj" fmla="val 6000"/>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019288" y="3547872"/>
            <a:ext cx="3429000" cy="1463040"/>
          </a:xfrm>
          <a:prstGeom prst="rect">
            <a:avLst/>
          </a:prstGeom>
          <a:noFill/>
        </p:spPr>
        <p:txBody>
          <a:bodyPr wrap="square" anchor="t" lIns="0" rIns="0" tIns="0" bIns="0">
            <a:spAutoFit/>
          </a:bodyPr>
          <a:lstStyle/>
          <a:p>
            <a:pPr algn="l">
              <a:lnSpc>
                <a:spcPct val="105000"/>
              </a:lnSpc>
              <a:spcBef>
                <a:spcPts val="0"/>
              </a:spcBef>
            </a:pPr>
            <a:r>
              <a:rPr sz="950" b="1">
                <a:solidFill>
                  <a:srgbClr val="C6E6D4"/>
                </a:solidFill>
                <a:latin typeface="Segoe UI"/>
              </a:rPr>
              <a:t>THE RESULT</a:t>
            </a:r>
          </a:p>
          <a:p>
            <a:pPr algn="l">
              <a:lnSpc>
                <a:spcPct val="105000"/>
              </a:lnSpc>
              <a:spcBef>
                <a:spcPts val="500"/>
              </a:spcBef>
            </a:pPr>
            <a:r>
              <a:rPr sz="1150" b="1">
                <a:solidFill>
                  <a:srgbClr val="FFFFFF"/>
                </a:solidFill>
                <a:latin typeface="Segoe UI"/>
              </a:rPr>
              <a:t>Full 1 ms resolution at about</a:t>
            </a:r>
          </a:p>
          <a:p>
            <a:pPr algn="l">
              <a:lnSpc>
                <a:spcPct val="105000"/>
              </a:lnSpc>
              <a:spcBef>
                <a:spcPts val="0"/>
              </a:spcBef>
            </a:pPr>
            <a:r>
              <a:rPr sz="1150" b="1">
                <a:solidFill>
                  <a:srgbClr val="FFFFFF"/>
                </a:solidFill>
                <a:latin typeface="Segoe UI"/>
              </a:rPr>
              <a:t>30 % of bus capacity — on the</a:t>
            </a:r>
          </a:p>
          <a:p>
            <a:pPr algn="l">
              <a:lnSpc>
                <a:spcPct val="105000"/>
              </a:lnSpc>
              <a:spcBef>
                <a:spcPts val="0"/>
              </a:spcBef>
            </a:pPr>
            <a:r>
              <a:rPr sz="1150" b="1">
                <a:solidFill>
                  <a:srgbClr val="FFFFFF"/>
                </a:solidFill>
                <a:latin typeface="Segoe UI"/>
              </a:rPr>
              <a:t>cheaper 2 Mbit/s data rate.</a:t>
            </a:r>
          </a:p>
          <a:p>
            <a:pPr algn="l">
              <a:lnSpc>
                <a:spcPct val="105000"/>
              </a:lnSpc>
              <a:spcBef>
                <a:spcPts val="600"/>
              </a:spcBef>
            </a:pPr>
            <a:r>
              <a:rPr sz="850" b="0">
                <a:solidFill>
                  <a:srgbClr val="D8ECE1"/>
                </a:solidFill>
                <a:latin typeface="Segoe UI"/>
              </a:rPr>
              <a:t>Roughly 70 % of the bus stays free for target commands, diagnostics and urgent fault messages — and grouping also removes the burst congestion problem.</a:t>
            </a:r>
          </a:p>
        </p:txBody>
      </p:sp>
      <p:sp>
        <p:nvSpPr>
          <p:cNvPr id="44" name="Rounded Rectangle 43"/>
          <p:cNvSpPr/>
          <p:nvPr/>
        </p:nvSpPr>
        <p:spPr>
          <a:xfrm>
            <a:off x="502920" y="5230368"/>
            <a:ext cx="11183112" cy="841248"/>
          </a:xfrm>
          <a:prstGeom prst="roundRect">
            <a:avLst>
              <a:gd name="adj" fmla="val 12000"/>
            </a:avLst>
          </a:prstGeom>
          <a:solidFill>
            <a:srgbClr val="FBE9EA"/>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502920" y="5230368"/>
            <a:ext cx="64008" cy="841248"/>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49808" y="5330952"/>
            <a:ext cx="10725912" cy="658368"/>
          </a:xfrm>
          <a:prstGeom prst="rect">
            <a:avLst/>
          </a:prstGeom>
          <a:noFill/>
        </p:spPr>
        <p:txBody>
          <a:bodyPr wrap="square" anchor="t" lIns="0" rIns="0" tIns="0" bIns="0">
            <a:spAutoFit/>
          </a:bodyPr>
          <a:lstStyle/>
          <a:p>
            <a:pPr algn="l">
              <a:lnSpc>
                <a:spcPct val="105000"/>
              </a:lnSpc>
              <a:spcBef>
                <a:spcPts val="0"/>
              </a:spcBef>
            </a:pPr>
            <a:r>
              <a:rPr sz="1000" b="1">
                <a:solidFill>
                  <a:srgbClr val="9B2C35"/>
                </a:solidFill>
                <a:latin typeface="Segoe UI"/>
              </a:rPr>
              <a:t>THE IMPORTANT LIMITATION      Grouping readings solves the storage problem completely. It does NOT make the Primary's reaction fast.</a:t>
            </a:r>
          </a:p>
          <a:p>
            <a:pPr algn="l">
              <a:lnSpc>
                <a:spcPct val="105000"/>
              </a:lnSpc>
              <a:spcBef>
                <a:spcPts val="300"/>
              </a:spcBef>
            </a:pPr>
            <a:r>
              <a:rPr sz="850" b="0">
                <a:solidFill>
                  <a:srgbClr val="334155"/>
                </a:solidFill>
                <a:latin typeface="Segoe UI"/>
              </a:rPr>
              <a:t>When eight readings arrive together, the newest one in the group is already several milliseconds old. The Primary receives every reading, but it receives them a little late. Storage and protective reaction are therefore two separate problems — the next slide addresses the second one.</a:t>
            </a:r>
          </a:p>
        </p:txBody>
      </p:sp>
      <p:sp>
        <p:nvSpPr>
          <p:cNvPr id="47" name="Rectangle 46"/>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49" name="TextBox 48"/>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07 · CUTOFF REACTION TIME</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Why complete data is not the same as fast data</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A cutoff condition is a rule that ends a test step — for example, stop charging when the voltage reaches 4.2 V. Some cutoffs are test logic. Others are protection.</a:t>
            </a:r>
          </a:p>
        </p:txBody>
      </p:sp>
      <p:sp>
        <p:nvSpPr>
          <p:cNvPr id="7" name="Rounded Rectangle 6"/>
          <p:cNvSpPr/>
          <p:nvPr/>
        </p:nvSpPr>
        <p:spPr>
          <a:xfrm>
            <a:off x="502920" y="1234440"/>
            <a:ext cx="3657600" cy="148132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234440"/>
            <a:ext cx="3657600" cy="4572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1371600"/>
            <a:ext cx="3246120" cy="1280160"/>
          </a:xfrm>
          <a:prstGeom prst="rect">
            <a:avLst/>
          </a:prstGeom>
          <a:noFill/>
        </p:spPr>
        <p:txBody>
          <a:bodyPr wrap="square" anchor="t" lIns="0" rIns="0" tIns="0" bIns="0">
            <a:spAutoFit/>
          </a:bodyPr>
          <a:lstStyle/>
          <a:p>
            <a:pPr algn="l">
              <a:lnSpc>
                <a:spcPct val="105000"/>
              </a:lnSpc>
              <a:spcBef>
                <a:spcPts val="0"/>
              </a:spcBef>
            </a:pPr>
            <a:r>
              <a:rPr sz="950" b="1">
                <a:solidFill>
                  <a:srgbClr val="246B4D"/>
                </a:solidFill>
                <a:latin typeface="Segoe UI"/>
              </a:rPr>
              <a:t>HOW IT WORKS TODAY</a:t>
            </a:r>
          </a:p>
          <a:p>
            <a:pPr algn="l">
              <a:lnSpc>
                <a:spcPct val="105000"/>
              </a:lnSpc>
              <a:spcBef>
                <a:spcPts val="500"/>
              </a:spcBef>
            </a:pPr>
            <a:r>
              <a:rPr sz="850" b="0">
                <a:solidFill>
                  <a:srgbClr val="334155"/>
                </a:solidFill>
                <a:latin typeface="Segoe UI"/>
              </a:rPr>
              <a:t>The Secondary measures the battery and checks the cutoff rules on the same board, every millisecond.</a:t>
            </a:r>
          </a:p>
          <a:p>
            <a:pPr algn="l">
              <a:lnSpc>
                <a:spcPct val="105000"/>
              </a:lnSpc>
              <a:spcBef>
                <a:spcPts val="400"/>
              </a:spcBef>
            </a:pPr>
            <a:r>
              <a:rPr sz="850" b="0">
                <a:solidFill>
                  <a:srgbClr val="334155"/>
                </a:solidFill>
                <a:latin typeface="Segoe UI"/>
              </a:rPr>
              <a:t>Nothing travels over a communication link. If a limit is exceeded, the Secondary reduces the drive immediately.</a:t>
            </a:r>
          </a:p>
        </p:txBody>
      </p:sp>
      <p:sp>
        <p:nvSpPr>
          <p:cNvPr id="10" name="Rounded Rectangle 9"/>
          <p:cNvSpPr/>
          <p:nvPr/>
        </p:nvSpPr>
        <p:spPr>
          <a:xfrm>
            <a:off x="4343400" y="1234440"/>
            <a:ext cx="3657600" cy="148132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43400" y="1234440"/>
            <a:ext cx="3657600" cy="4572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53712" y="1371600"/>
            <a:ext cx="3246120" cy="1280160"/>
          </a:xfrm>
          <a:prstGeom prst="rect">
            <a:avLst/>
          </a:prstGeom>
          <a:noFill/>
        </p:spPr>
        <p:txBody>
          <a:bodyPr wrap="square" anchor="t" lIns="0" rIns="0" tIns="0" bIns="0">
            <a:spAutoFit/>
          </a:bodyPr>
          <a:lstStyle/>
          <a:p>
            <a:pPr algn="l">
              <a:lnSpc>
                <a:spcPct val="105000"/>
              </a:lnSpc>
              <a:spcBef>
                <a:spcPts val="0"/>
              </a:spcBef>
            </a:pPr>
            <a:r>
              <a:rPr sz="950" b="1">
                <a:solidFill>
                  <a:srgbClr val="9B2C35"/>
                </a:solidFill>
                <a:latin typeface="Segoe UI"/>
              </a:rPr>
              <a:t>WHAT CHANGES IN ME</a:t>
            </a:r>
          </a:p>
          <a:p>
            <a:pPr algn="l">
              <a:lnSpc>
                <a:spcPct val="105000"/>
              </a:lnSpc>
              <a:spcBef>
                <a:spcPts val="500"/>
              </a:spcBef>
            </a:pPr>
            <a:r>
              <a:rPr sz="850" b="0">
                <a:solidFill>
                  <a:srgbClr val="334155"/>
                </a:solidFill>
                <a:latin typeface="Segoe UI"/>
              </a:rPr>
              <a:t>Cutoff monitoring moves to the Primary, which can only act on information that has reached it over the bus.</a:t>
            </a:r>
          </a:p>
          <a:p>
            <a:pPr algn="l">
              <a:lnSpc>
                <a:spcPct val="105000"/>
              </a:lnSpc>
              <a:spcBef>
                <a:spcPts val="400"/>
              </a:spcBef>
            </a:pPr>
            <a:r>
              <a:rPr sz="850" b="0">
                <a:solidFill>
                  <a:srgbClr val="334155"/>
                </a:solidFill>
                <a:latin typeface="Segoe UI"/>
              </a:rPr>
              <a:t>As the previous slides showed, that information arrives in groups roughly every 10 ms rather than continuously.</a:t>
            </a:r>
          </a:p>
        </p:txBody>
      </p:sp>
      <p:graphicFrame>
        <p:nvGraphicFramePr>
          <p:cNvPr id="13" name="Table 12"/>
          <p:cNvGraphicFramePr>
            <a:graphicFrameLocks noGrp="1"/>
          </p:cNvGraphicFramePr>
          <p:nvPr/>
        </p:nvGraphicFramePr>
        <p:xfrm>
          <a:off x="8183879" y="1298448"/>
          <a:ext cx="3502152" cy="1316736"/>
        </p:xfrm>
        <a:graphic>
          <a:graphicData uri="http://schemas.openxmlformats.org/drawingml/2006/table">
            <a:tbl>
              <a:tblPr firstRow="1">
                <a:tableStyleId>{5C22544A-7EE6-4342-B048-85BDC9FD1C3A}</a:tableStyleId>
              </a:tblPr>
              <a:tblGrid>
                <a:gridCol w="1600200"/>
                <a:gridCol w="914400"/>
                <a:gridCol w="987552"/>
              </a:tblGrid>
              <a:tr h="329184">
                <a:tc>
                  <a:txBody>
                    <a:bodyPr/>
                    <a:lstStyle/>
                    <a:p>
                      <a:pPr>
                        <a:lnSpc>
                          <a:spcPct val="100000"/>
                        </a:lnSpc>
                      </a:pPr>
                    </a:p>
                  </a:txBody>
                  <a:tcPr marL="50292" marR="41148" marT="20116" marB="20116" anchor="ctr">
                    <a:solidFill>
                      <a:srgbClr val="1E3A5F"/>
                    </a:solidFill>
                  </a:tcPr>
                </a:tc>
                <a:tc>
                  <a:txBody>
                    <a:bodyPr/>
                    <a:lstStyle/>
                    <a:p>
                      <a:pPr>
                        <a:lnSpc>
                          <a:spcPct val="100000"/>
                        </a:lnSpc>
                      </a:pPr>
                      <a:r>
                        <a:rPr sz="800" b="1">
                          <a:solidFill>
                            <a:srgbClr val="FFFFFF"/>
                          </a:solidFill>
                          <a:latin typeface="Segoe UI"/>
                        </a:rPr>
                        <a:t>Today</a:t>
                      </a:r>
                    </a:p>
                  </a:txBody>
                  <a:tcPr marL="50292" marR="41148" marT="20116" marB="20116" anchor="ctr">
                    <a:solidFill>
                      <a:srgbClr val="1E3A5F"/>
                    </a:solidFill>
                  </a:tcPr>
                </a:tc>
                <a:tc>
                  <a:txBody>
                    <a:bodyPr/>
                    <a:lstStyle/>
                    <a:p>
                      <a:pPr>
                        <a:lnSpc>
                          <a:spcPct val="100000"/>
                        </a:lnSpc>
                      </a:pPr>
                      <a:r>
                        <a:rPr sz="800" b="1">
                          <a:solidFill>
                            <a:srgbClr val="FFFFFF"/>
                          </a:solidFill>
                          <a:latin typeface="Segoe UI"/>
                        </a:rPr>
                        <a:t>ME, if the Primary decided alone</a:t>
                      </a:r>
                    </a:p>
                  </a:txBody>
                  <a:tcPr marL="50292" marR="41148" marT="20116" marB="20116" anchor="ctr">
                    <a:solidFill>
                      <a:srgbClr val="1E3A5F"/>
                    </a:solidFill>
                  </a:tcPr>
                </a:tc>
              </a:tr>
              <a:tr h="329184">
                <a:tc>
                  <a:txBody>
                    <a:bodyPr/>
                    <a:lstStyle/>
                    <a:p>
                      <a:pPr>
                        <a:lnSpc>
                          <a:spcPct val="100000"/>
                        </a:lnSpc>
                      </a:pPr>
                      <a:r>
                        <a:rPr sz="750" b="0">
                          <a:solidFill>
                            <a:srgbClr val="334155"/>
                          </a:solidFill>
                          <a:latin typeface="Segoe UI"/>
                        </a:rPr>
                        <a:t>How often the battery is measured</a:t>
                      </a:r>
                    </a:p>
                  </a:txBody>
                  <a:tcPr marL="50292" marR="41148" marT="20116" marB="20116" anchor="ctr">
                    <a:solidFill>
                      <a:srgbClr val="FFFFFF"/>
                    </a:solidFill>
                  </a:tcPr>
                </a:tc>
                <a:tc>
                  <a:txBody>
                    <a:bodyPr/>
                    <a:lstStyle/>
                    <a:p>
                      <a:pPr algn="ctr">
                        <a:lnSpc>
                          <a:spcPct val="100000"/>
                        </a:lnSpc>
                      </a:pPr>
                      <a:r>
                        <a:rPr sz="750" b="0">
                          <a:solidFill>
                            <a:srgbClr val="334155"/>
                          </a:solidFill>
                          <a:latin typeface="Segoe UI"/>
                        </a:rPr>
                        <a:t>every 1 ms</a:t>
                      </a:r>
                    </a:p>
                  </a:txBody>
                  <a:tcPr marL="50292" marR="41148" marT="20116" marB="20116" anchor="ctr">
                    <a:solidFill>
                      <a:srgbClr val="FFFFFF"/>
                    </a:solidFill>
                  </a:tcPr>
                </a:tc>
                <a:tc>
                  <a:txBody>
                    <a:bodyPr/>
                    <a:lstStyle/>
                    <a:p>
                      <a:pPr algn="ctr">
                        <a:lnSpc>
                          <a:spcPct val="100000"/>
                        </a:lnSpc>
                      </a:pPr>
                      <a:r>
                        <a:rPr sz="750" b="0">
                          <a:solidFill>
                            <a:srgbClr val="334155"/>
                          </a:solidFill>
                          <a:latin typeface="Segoe UI"/>
                        </a:rPr>
                        <a:t>every 1 ms</a:t>
                      </a:r>
                    </a:p>
                  </a:txBody>
                  <a:tcPr marL="50292" marR="41148" marT="20116" marB="20116" anchor="ctr">
                    <a:solidFill>
                      <a:srgbClr val="FFFFFF"/>
                    </a:solidFill>
                  </a:tcPr>
                </a:tc>
              </a:tr>
              <a:tr h="329184">
                <a:tc>
                  <a:txBody>
                    <a:bodyPr/>
                    <a:lstStyle/>
                    <a:p>
                      <a:pPr>
                        <a:lnSpc>
                          <a:spcPct val="100000"/>
                        </a:lnSpc>
                      </a:pPr>
                      <a:r>
                        <a:rPr sz="750" b="0">
                          <a:solidFill>
                            <a:srgbClr val="334155"/>
                          </a:solidFill>
                          <a:latin typeface="Segoe UI"/>
                        </a:rPr>
                        <a:t>Where the decision is made</a:t>
                      </a:r>
                    </a:p>
                  </a:txBody>
                  <a:tcPr marL="50292" marR="41148" marT="20116" marB="20116" anchor="ctr">
                    <a:solidFill>
                      <a:srgbClr val="F6F8FB"/>
                    </a:solidFill>
                  </a:tcPr>
                </a:tc>
                <a:tc>
                  <a:txBody>
                    <a:bodyPr/>
                    <a:lstStyle/>
                    <a:p>
                      <a:pPr algn="ctr">
                        <a:lnSpc>
                          <a:spcPct val="100000"/>
                        </a:lnSpc>
                      </a:pPr>
                      <a:r>
                        <a:rPr sz="750" b="0">
                          <a:solidFill>
                            <a:srgbClr val="334155"/>
                          </a:solidFill>
                          <a:latin typeface="Segoe UI"/>
                        </a:rPr>
                        <a:t>on the same board as the measurement</a:t>
                      </a:r>
                    </a:p>
                  </a:txBody>
                  <a:tcPr marL="50292" marR="41148" marT="20116" marB="20116" anchor="ctr">
                    <a:solidFill>
                      <a:srgbClr val="F6F8FB"/>
                    </a:solidFill>
                  </a:tcPr>
                </a:tc>
                <a:tc>
                  <a:txBody>
                    <a:bodyPr/>
                    <a:lstStyle/>
                    <a:p>
                      <a:pPr algn="ctr">
                        <a:lnSpc>
                          <a:spcPct val="100000"/>
                        </a:lnSpc>
                      </a:pPr>
                      <a:r>
                        <a:rPr sz="750" b="0">
                          <a:solidFill>
                            <a:srgbClr val="334155"/>
                          </a:solidFill>
                          <a:latin typeface="Segoe UI"/>
                        </a:rPr>
                        <a:t>on the Primary, after crossing the bus</a:t>
                      </a:r>
                    </a:p>
                  </a:txBody>
                  <a:tcPr marL="50292" marR="41148" marT="20116" marB="20116" anchor="ctr">
                    <a:solidFill>
                      <a:srgbClr val="F6F8FB"/>
                    </a:solidFill>
                  </a:tcPr>
                </a:tc>
              </a:tr>
              <a:tr h="329184">
                <a:tc>
                  <a:txBody>
                    <a:bodyPr/>
                    <a:lstStyle/>
                    <a:p>
                      <a:pPr>
                        <a:lnSpc>
                          <a:spcPct val="100000"/>
                        </a:lnSpc>
                      </a:pPr>
                      <a:r>
                        <a:rPr sz="750" b="0">
                          <a:solidFill>
                            <a:srgbClr val="334155"/>
                          </a:solidFill>
                          <a:latin typeface="Segoe UI"/>
                        </a:rPr>
                        <a:t>Worst-case delay before the drive is reduced</a:t>
                      </a:r>
                    </a:p>
                  </a:txBody>
                  <a:tcPr marL="50292" marR="41148" marT="20116" marB="20116" anchor="ctr">
                    <a:solidFill>
                      <a:srgbClr val="FFFFFF"/>
                    </a:solidFill>
                  </a:tcPr>
                </a:tc>
                <a:tc>
                  <a:txBody>
                    <a:bodyPr/>
                    <a:lstStyle/>
                    <a:p>
                      <a:pPr algn="ctr">
                        <a:lnSpc>
                          <a:spcPct val="100000"/>
                        </a:lnSpc>
                      </a:pPr>
                      <a:r>
                        <a:rPr sz="1000" b="1">
                          <a:solidFill>
                            <a:srgbClr val="246B4D"/>
                          </a:solidFill>
                          <a:latin typeface="Segoe UI"/>
                        </a:rPr>
                        <a:t>about 1 ms</a:t>
                      </a:r>
                    </a:p>
                  </a:txBody>
                  <a:tcPr marL="50292" marR="41148" marT="20116" marB="20116" anchor="ctr">
                    <a:solidFill>
                      <a:srgbClr val="FFFFFF"/>
                    </a:solidFill>
                  </a:tcPr>
                </a:tc>
                <a:tc>
                  <a:txBody>
                    <a:bodyPr/>
                    <a:lstStyle/>
                    <a:p>
                      <a:pPr algn="ctr">
                        <a:lnSpc>
                          <a:spcPct val="100000"/>
                        </a:lnSpc>
                      </a:pPr>
                      <a:r>
                        <a:rPr sz="1000" b="1">
                          <a:solidFill>
                            <a:srgbClr val="9B2C35"/>
                          </a:solidFill>
                          <a:latin typeface="Segoe UI"/>
                        </a:rPr>
                        <a:t>about 10 ms</a:t>
                      </a:r>
                    </a:p>
                  </a:txBody>
                  <a:tcPr marL="50292" marR="41148" marT="20116" marB="20116" anchor="ctr">
                    <a:solidFill>
                      <a:srgbClr val="FFFFFF"/>
                    </a:solidFill>
                  </a:tcPr>
                </a:tc>
              </a:tr>
            </a:tbl>
          </a:graphicData>
        </a:graphic>
      </p:graphicFrame>
      <p:sp>
        <p:nvSpPr>
          <p:cNvPr id="14" name="Rounded Rectangle 13"/>
          <p:cNvSpPr/>
          <p:nvPr/>
        </p:nvSpPr>
        <p:spPr>
          <a:xfrm>
            <a:off x="502920" y="2852928"/>
            <a:ext cx="5532120" cy="1280160"/>
          </a:xfrm>
          <a:prstGeom prst="roundRect">
            <a:avLst>
              <a:gd name="adj" fmla="val 6000"/>
            </a:avLst>
          </a:prstGeom>
          <a:solidFill>
            <a:srgbClr val="E6F2EB"/>
          </a:solidFill>
          <a:ln w="9525">
            <a:solidFill>
              <a:srgbClr val="2E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 y="2999232"/>
            <a:ext cx="5120640" cy="1097280"/>
          </a:xfrm>
          <a:prstGeom prst="rect">
            <a:avLst/>
          </a:prstGeom>
          <a:noFill/>
        </p:spPr>
        <p:txBody>
          <a:bodyPr wrap="square" anchor="t" lIns="0" rIns="0" tIns="0" bIns="0">
            <a:spAutoFit/>
          </a:bodyPr>
          <a:lstStyle/>
          <a:p>
            <a:pPr algn="l">
              <a:lnSpc>
                <a:spcPct val="105000"/>
              </a:lnSpc>
              <a:spcBef>
                <a:spcPts val="0"/>
              </a:spcBef>
            </a:pPr>
            <a:r>
              <a:rPr sz="950" b="1">
                <a:solidFill>
                  <a:srgbClr val="2E6F4F"/>
                </a:solidFill>
                <a:latin typeface="Segoe UI"/>
              </a:rPr>
              <a:t>FOR ORDINARY TEST LOGIC, 10 ms IS PERFECTLY ACCEPTABLE</a:t>
            </a:r>
          </a:p>
          <a:p>
            <a:pPr algn="l">
              <a:lnSpc>
                <a:spcPct val="105000"/>
              </a:lnSpc>
              <a:spcBef>
                <a:spcPts val="600"/>
              </a:spcBef>
            </a:pPr>
            <a:r>
              <a:rPr sz="900" b="0">
                <a:solidFill>
                  <a:srgbClr val="334155"/>
                </a:solidFill>
                <a:latin typeface="Segoe UI"/>
              </a:rPr>
              <a:t>A step that should end at 4.2 V will still end at 4.2 V. Ending it nine milliseconds later makes no measurable difference to the test result or to the customer's report.</a:t>
            </a:r>
          </a:p>
        </p:txBody>
      </p:sp>
      <p:sp>
        <p:nvSpPr>
          <p:cNvPr id="16" name="Rounded Rectangle 15"/>
          <p:cNvSpPr/>
          <p:nvPr/>
        </p:nvSpPr>
        <p:spPr>
          <a:xfrm>
            <a:off x="6153912" y="2852928"/>
            <a:ext cx="5532120" cy="1280160"/>
          </a:xfrm>
          <a:prstGeom prst="roundRect">
            <a:avLst>
              <a:gd name="adj" fmla="val 6000"/>
            </a:avLst>
          </a:prstGeom>
          <a:solidFill>
            <a:srgbClr val="FBE9EA"/>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2512" y="2999232"/>
            <a:ext cx="5120640" cy="1097280"/>
          </a:xfrm>
          <a:prstGeom prst="rect">
            <a:avLst/>
          </a:prstGeom>
          <a:noFill/>
        </p:spPr>
        <p:txBody>
          <a:bodyPr wrap="square" anchor="t" lIns="0" rIns="0" tIns="0" bIns="0">
            <a:spAutoFit/>
          </a:bodyPr>
          <a:lstStyle/>
          <a:p>
            <a:pPr algn="l">
              <a:lnSpc>
                <a:spcPct val="105000"/>
              </a:lnSpc>
              <a:spcBef>
                <a:spcPts val="0"/>
              </a:spcBef>
            </a:pPr>
            <a:r>
              <a:rPr sz="950" b="1">
                <a:solidFill>
                  <a:srgbClr val="9B2C35"/>
                </a:solidFill>
                <a:latin typeface="Segoe UI"/>
              </a:rPr>
              <a:t>FOR PROTECTION, 10 ms IS NOT ACCEPTABLE</a:t>
            </a:r>
          </a:p>
          <a:p>
            <a:pPr algn="l">
              <a:lnSpc>
                <a:spcPct val="105000"/>
              </a:lnSpc>
              <a:spcBef>
                <a:spcPts val="600"/>
              </a:spcBef>
            </a:pPr>
            <a:r>
              <a:rPr sz="900" b="0">
                <a:solidFill>
                  <a:srgbClr val="334155"/>
                </a:solidFill>
                <a:latin typeface="Segoe UI"/>
              </a:rPr>
              <a:t>If a cell is failing or a connection has come loose, current can rise very quickly. A ten-fold increase in reaction time would make ME slower to protect the battery than the product we ship today.</a:t>
            </a:r>
          </a:p>
        </p:txBody>
      </p:sp>
      <p:sp>
        <p:nvSpPr>
          <p:cNvPr id="18" name="TextBox 17"/>
          <p:cNvSpPr txBox="1"/>
          <p:nvPr/>
        </p:nvSpPr>
        <p:spPr>
          <a:xfrm>
            <a:off x="502920" y="4279392"/>
            <a:ext cx="7315200" cy="237744"/>
          </a:xfrm>
          <a:prstGeom prst="rect">
            <a:avLst/>
          </a:prstGeom>
          <a:noFill/>
        </p:spPr>
        <p:txBody>
          <a:bodyPr wrap="square" anchor="t" lIns="18288" rIns="18288" tIns="0" bIns="0">
            <a:spAutoFit/>
          </a:bodyPr>
          <a:lstStyle/>
          <a:p>
            <a:pPr algn="l">
              <a:lnSpc>
                <a:spcPct val="100000"/>
              </a:lnSpc>
            </a:pPr>
            <a:r>
              <a:rPr sz="1050" b="1" i="0">
                <a:solidFill>
                  <a:srgbClr val="142A47"/>
                </a:solidFill>
                <a:latin typeface="Segoe UI"/>
              </a:rPr>
              <a:t>THE SOLUTION — SEPARATE THE TWO JOBS</a:t>
            </a:r>
          </a:p>
        </p:txBody>
      </p:sp>
      <p:sp>
        <p:nvSpPr>
          <p:cNvPr id="19" name="Rounded Rectangle 18"/>
          <p:cNvSpPr/>
          <p:nvPr/>
        </p:nvSpPr>
        <p:spPr>
          <a:xfrm>
            <a:off x="502920" y="4572000"/>
            <a:ext cx="3584448" cy="120700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2920" y="4572000"/>
            <a:ext cx="3584448" cy="4572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67512" y="4700016"/>
            <a:ext cx="256032" cy="256032"/>
          </a:xfrm>
          <a:prstGeom prst="roundRect">
            <a:avLst>
              <a:gd name="adj" fmla="val 50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1</a:t>
            </a:r>
          </a:p>
        </p:txBody>
      </p:sp>
      <p:sp>
        <p:nvSpPr>
          <p:cNvPr id="22" name="TextBox 21"/>
          <p:cNvSpPr txBox="1"/>
          <p:nvPr/>
        </p:nvSpPr>
        <p:spPr>
          <a:xfrm>
            <a:off x="996696" y="4718304"/>
            <a:ext cx="2898648" cy="237744"/>
          </a:xfrm>
          <a:prstGeom prst="rect">
            <a:avLst/>
          </a:prstGeom>
          <a:noFill/>
        </p:spPr>
        <p:txBody>
          <a:bodyPr wrap="square" anchor="t" lIns="18288" rIns="18288" tIns="0" bIns="0">
            <a:spAutoFit/>
          </a:bodyPr>
          <a:lstStyle/>
          <a:p>
            <a:pPr algn="l">
              <a:lnSpc>
                <a:spcPct val="100000"/>
              </a:lnSpc>
            </a:pPr>
            <a:r>
              <a:rPr sz="950" b="1" i="0">
                <a:solidFill>
                  <a:srgbClr val="9B2C35"/>
                </a:solidFill>
                <a:latin typeface="Segoe UI"/>
              </a:rPr>
              <a:t>Protection stays on the Secondary</a:t>
            </a:r>
          </a:p>
        </p:txBody>
      </p:sp>
      <p:sp>
        <p:nvSpPr>
          <p:cNvPr id="23" name="TextBox 22"/>
          <p:cNvSpPr txBox="1"/>
          <p:nvPr/>
        </p:nvSpPr>
        <p:spPr>
          <a:xfrm>
            <a:off x="667512" y="5010912"/>
            <a:ext cx="3255264" cy="731520"/>
          </a:xfrm>
          <a:prstGeom prst="rect">
            <a:avLst/>
          </a:prstGeom>
          <a:noFill/>
        </p:spPr>
        <p:txBody>
          <a:bodyPr wrap="square" anchor="t" lIns="18288" rIns="18288" tIns="0" bIns="0">
            <a:spAutoFit/>
          </a:bodyPr>
          <a:lstStyle/>
          <a:p>
            <a:pPr algn="l">
              <a:lnSpc>
                <a:spcPct val="120000"/>
              </a:lnSpc>
            </a:pPr>
            <a:r>
              <a:rPr sz="800" b="0" i="0">
                <a:solidFill>
                  <a:srgbClr val="334155"/>
                </a:solidFill>
                <a:latin typeface="Segoe UI"/>
              </a:rPr>
              <a:t>Each Secondary keeps its own voltage, current and temperature limits and enforces them locally every millisecond, exactly as it does today. This is not new development work — the capability already exists on the board and simply needs to be retained.</a:t>
            </a:r>
          </a:p>
        </p:txBody>
      </p:sp>
      <p:sp>
        <p:nvSpPr>
          <p:cNvPr id="24" name="Rounded Rectangle 23"/>
          <p:cNvSpPr/>
          <p:nvPr/>
        </p:nvSpPr>
        <p:spPr>
          <a:xfrm>
            <a:off x="4311396" y="4572000"/>
            <a:ext cx="3584448" cy="120700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11396" y="4572000"/>
            <a:ext cx="3584448" cy="457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475988" y="4700016"/>
            <a:ext cx="256032" cy="256032"/>
          </a:xfrm>
          <a:prstGeom prst="roundRect">
            <a:avLst>
              <a:gd name="adj" fmla="val 50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2</a:t>
            </a:r>
          </a:p>
        </p:txBody>
      </p:sp>
      <p:sp>
        <p:nvSpPr>
          <p:cNvPr id="27" name="TextBox 26"/>
          <p:cNvSpPr txBox="1"/>
          <p:nvPr/>
        </p:nvSpPr>
        <p:spPr>
          <a:xfrm>
            <a:off x="4805172" y="4718304"/>
            <a:ext cx="2898648" cy="237744"/>
          </a:xfrm>
          <a:prstGeom prst="rect">
            <a:avLst/>
          </a:prstGeom>
          <a:noFill/>
        </p:spPr>
        <p:txBody>
          <a:bodyPr wrap="square" anchor="t" lIns="18288" rIns="18288" tIns="0" bIns="0">
            <a:spAutoFit/>
          </a:bodyPr>
          <a:lstStyle/>
          <a:p>
            <a:pPr algn="l">
              <a:lnSpc>
                <a:spcPct val="100000"/>
              </a:lnSpc>
            </a:pPr>
            <a:r>
              <a:rPr sz="950" b="1" i="0">
                <a:solidFill>
                  <a:srgbClr val="1E3A5F"/>
                </a:solidFill>
                <a:latin typeface="Segoe UI"/>
              </a:rPr>
              <a:t>Test logic moves to the Primary</a:t>
            </a:r>
          </a:p>
        </p:txBody>
      </p:sp>
      <p:sp>
        <p:nvSpPr>
          <p:cNvPr id="28" name="TextBox 27"/>
          <p:cNvSpPr txBox="1"/>
          <p:nvPr/>
        </p:nvSpPr>
        <p:spPr>
          <a:xfrm>
            <a:off x="4475988" y="5010912"/>
            <a:ext cx="3255264" cy="731520"/>
          </a:xfrm>
          <a:prstGeom prst="rect">
            <a:avLst/>
          </a:prstGeom>
          <a:noFill/>
        </p:spPr>
        <p:txBody>
          <a:bodyPr wrap="square" anchor="t" lIns="18288" rIns="18288" tIns="0" bIns="0">
            <a:spAutoFit/>
          </a:bodyPr>
          <a:lstStyle/>
          <a:p>
            <a:pPr algn="l">
              <a:lnSpc>
                <a:spcPct val="120000"/>
              </a:lnSpc>
            </a:pPr>
            <a:r>
              <a:rPr sz="800" b="0" i="0">
                <a:solidFill>
                  <a:srgbClr val="334155"/>
                </a:solidFill>
                <a:latin typeface="Segoe UI"/>
              </a:rPr>
              <a:t>The Primary evaluates step-ending cutoffs, cycle counts and recording using the data it receives from the bus. A granularity of about ten milliseconds is entirely appropriate for this purpose.</a:t>
            </a:r>
          </a:p>
        </p:txBody>
      </p:sp>
      <p:sp>
        <p:nvSpPr>
          <p:cNvPr id="29" name="Rounded Rectangle 28"/>
          <p:cNvSpPr/>
          <p:nvPr/>
        </p:nvSpPr>
        <p:spPr>
          <a:xfrm>
            <a:off x="8119872" y="4572000"/>
            <a:ext cx="3584448" cy="1207008"/>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119872" y="4572000"/>
            <a:ext cx="3584448" cy="45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284464" y="4700016"/>
            <a:ext cx="256032" cy="256032"/>
          </a:xfrm>
          <a:prstGeom prst="roundRect">
            <a:avLst>
              <a:gd name="adj" fmla="val 50000"/>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900" b="1">
                <a:solidFill>
                  <a:srgbClr val="FFFFFF"/>
                </a:solidFill>
                <a:latin typeface="Segoe UI"/>
              </a:rPr>
              <a:t>3</a:t>
            </a:r>
          </a:p>
        </p:txBody>
      </p:sp>
      <p:sp>
        <p:nvSpPr>
          <p:cNvPr id="32" name="TextBox 31"/>
          <p:cNvSpPr txBox="1"/>
          <p:nvPr/>
        </p:nvSpPr>
        <p:spPr>
          <a:xfrm>
            <a:off x="8613648" y="4718304"/>
            <a:ext cx="2898648" cy="237744"/>
          </a:xfrm>
          <a:prstGeom prst="rect">
            <a:avLst/>
          </a:prstGeom>
          <a:noFill/>
        </p:spPr>
        <p:txBody>
          <a:bodyPr wrap="square" anchor="t" lIns="18288" rIns="18288" tIns="0" bIns="0">
            <a:spAutoFit/>
          </a:bodyPr>
          <a:lstStyle/>
          <a:p>
            <a:pPr algn="l">
              <a:lnSpc>
                <a:spcPct val="100000"/>
              </a:lnSpc>
            </a:pPr>
            <a:r>
              <a:rPr sz="950" b="1" i="0">
                <a:solidFill>
                  <a:srgbClr val="0A6E6A"/>
                </a:solidFill>
                <a:latin typeface="Segoe UI"/>
              </a:rPr>
              <a:t>Urgent events get priority on the bus</a:t>
            </a:r>
          </a:p>
        </p:txBody>
      </p:sp>
      <p:sp>
        <p:nvSpPr>
          <p:cNvPr id="33" name="TextBox 32"/>
          <p:cNvSpPr txBox="1"/>
          <p:nvPr/>
        </p:nvSpPr>
        <p:spPr>
          <a:xfrm>
            <a:off x="8284464" y="5010912"/>
            <a:ext cx="3255264" cy="731520"/>
          </a:xfrm>
          <a:prstGeom prst="rect">
            <a:avLst/>
          </a:prstGeom>
          <a:noFill/>
        </p:spPr>
        <p:txBody>
          <a:bodyPr wrap="square" anchor="t" lIns="18288" rIns="18288" tIns="0" bIns="0">
            <a:spAutoFit/>
          </a:bodyPr>
          <a:lstStyle/>
          <a:p>
            <a:pPr algn="l">
              <a:lnSpc>
                <a:spcPct val="120000"/>
              </a:lnSpc>
            </a:pPr>
            <a:r>
              <a:rPr sz="800" b="0" i="0">
                <a:solidFill>
                  <a:srgbClr val="334155"/>
                </a:solidFill>
                <a:latin typeface="Segoe UI"/>
              </a:rPr>
              <a:t>CAN lets messages be ranked, and a higher-ranked message always goes first. A Secondary that detects a dangerous condition sends a top-priority alert, which moves ahead of all routine traffic and arrives in well under a millisecond.</a:t>
            </a:r>
          </a:p>
        </p:txBody>
      </p:sp>
      <p:sp>
        <p:nvSpPr>
          <p:cNvPr id="34" name="Rounded Rectangle 33"/>
          <p:cNvSpPr/>
          <p:nvPr/>
        </p:nvSpPr>
        <p:spPr>
          <a:xfrm>
            <a:off x="502920" y="5888736"/>
            <a:ext cx="11183112" cy="530352"/>
          </a:xfrm>
          <a:prstGeom prst="roundRect">
            <a:avLst>
              <a:gd name="adj" fmla="val 16000"/>
            </a:avLst>
          </a:prstGeom>
          <a:solidFill>
            <a:srgbClr val="2E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7240" y="5980176"/>
            <a:ext cx="10698480" cy="365760"/>
          </a:xfrm>
          <a:prstGeom prst="rect">
            <a:avLst/>
          </a:prstGeom>
          <a:noFill/>
        </p:spPr>
        <p:txBody>
          <a:bodyPr wrap="square" anchor="t" lIns="18288" rIns="18288" tIns="0" bIns="0">
            <a:spAutoFit/>
          </a:bodyPr>
          <a:lstStyle/>
          <a:p>
            <a:pPr algn="l">
              <a:lnSpc>
                <a:spcPct val="115000"/>
              </a:lnSpc>
            </a:pPr>
            <a:r>
              <a:rPr sz="1000" b="1" i="0">
                <a:solidFill>
                  <a:srgbClr val="FFFFFF"/>
                </a:solidFill>
                <a:latin typeface="Segoe UI"/>
              </a:rPr>
              <a:t>THE RESULT      ME matches the current product's protection speed, because protection never leaves the Secondary — while still gaining central control of the test sequence, which is the whole purpose of the change.</a:t>
            </a:r>
          </a:p>
        </p:txBody>
      </p:sp>
      <p:sp>
        <p:nvSpPr>
          <p:cNvPr id="36" name="Rectangle 35"/>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38" name="TextBox 37"/>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08 · A SECOND CONSEQUENCE — DATA VOLUME</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Recording every millisecond is demanding for storage as well as for the bus</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This deserves a deliberate product decision rather than an assumption. Figures are engineering estimates.</a:t>
            </a:r>
          </a:p>
        </p:txBody>
      </p:sp>
      <p:sp>
        <p:nvSpPr>
          <p:cNvPr id="7" name="TextBox 6"/>
          <p:cNvSpPr txBox="1"/>
          <p:nvPr/>
        </p:nvSpPr>
        <p:spPr>
          <a:xfrm>
            <a:off x="502920" y="1280160"/>
            <a:ext cx="3657600" cy="219456"/>
          </a:xfrm>
          <a:prstGeom prst="rect">
            <a:avLst/>
          </a:prstGeom>
          <a:noFill/>
        </p:spPr>
        <p:txBody>
          <a:bodyPr wrap="square" anchor="t" lIns="18288" rIns="18288" tIns="0" bIns="0">
            <a:spAutoFit/>
          </a:bodyPr>
          <a:lstStyle/>
          <a:p>
            <a:pPr algn="l">
              <a:lnSpc>
                <a:spcPct val="100000"/>
              </a:lnSpc>
            </a:pPr>
            <a:r>
              <a:rPr sz="950" b="1" i="0">
                <a:solidFill>
                  <a:srgbClr val="142A47"/>
                </a:solidFill>
                <a:latin typeface="Segoe UI"/>
              </a:rPr>
              <a:t>IF EVERY MILLISECOND IS STORED</a:t>
            </a:r>
          </a:p>
        </p:txBody>
      </p:sp>
      <p:graphicFrame>
        <p:nvGraphicFramePr>
          <p:cNvPr id="8" name="Table 7"/>
          <p:cNvGraphicFramePr>
            <a:graphicFrameLocks noGrp="1"/>
          </p:cNvGraphicFramePr>
          <p:nvPr/>
        </p:nvGraphicFramePr>
        <p:xfrm>
          <a:off x="502920" y="1554480"/>
          <a:ext cx="5577840" cy="1170432"/>
        </p:xfrm>
        <a:graphic>
          <a:graphicData uri="http://schemas.openxmlformats.org/drawingml/2006/table">
            <a:tbl>
              <a:tblPr firstRow="1">
                <a:tableStyleId>{5C22544A-7EE6-4342-B048-85BDC9FD1C3A}</a:tableStyleId>
              </a:tblPr>
              <a:tblGrid>
                <a:gridCol w="2286000"/>
                <a:gridCol w="1554480"/>
                <a:gridCol w="1737360"/>
              </a:tblGrid>
              <a:tr h="292608">
                <a:tc>
                  <a:txBody>
                    <a:bodyPr/>
                    <a:lstStyle/>
                    <a:p>
                      <a:pPr>
                        <a:lnSpc>
                          <a:spcPct val="100000"/>
                        </a:lnSpc>
                      </a:pP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Per channel</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All eight channels</a:t>
                      </a:r>
                    </a:p>
                  </a:txBody>
                  <a:tcPr marL="50292" marR="41148" marT="20116" marB="20116" anchor="ctr">
                    <a:solidFill>
                      <a:srgbClr val="1E3A5F"/>
                    </a:solidFill>
                  </a:tcPr>
                </a:tc>
              </a:tr>
              <a:tr h="292608">
                <a:tc>
                  <a:txBody>
                    <a:bodyPr/>
                    <a:lstStyle/>
                    <a:p>
                      <a:pPr>
                        <a:lnSpc>
                          <a:spcPct val="100000"/>
                        </a:lnSpc>
                      </a:pPr>
                      <a:r>
                        <a:rPr sz="850" b="0">
                          <a:solidFill>
                            <a:srgbClr val="334155"/>
                          </a:solidFill>
                          <a:latin typeface="Segoe UI"/>
                        </a:rPr>
                        <a:t>Readings per second</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1,000</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8,000</a:t>
                      </a:r>
                    </a:p>
                  </a:txBody>
                  <a:tcPr marL="50292" marR="41148" marT="20116" marB="20116" anchor="ctr">
                    <a:solidFill>
                      <a:srgbClr val="FFFFFF"/>
                    </a:solidFill>
                  </a:tcPr>
                </a:tc>
              </a:tr>
              <a:tr h="292608">
                <a:tc>
                  <a:txBody>
                    <a:bodyPr/>
                    <a:lstStyle/>
                    <a:p>
                      <a:pPr>
                        <a:lnSpc>
                          <a:spcPct val="100000"/>
                        </a:lnSpc>
                      </a:pPr>
                      <a:r>
                        <a:rPr sz="850" b="0">
                          <a:solidFill>
                            <a:srgbClr val="334155"/>
                          </a:solidFill>
                          <a:latin typeface="Segoe UI"/>
                        </a:rPr>
                        <a:t>Readings per hour</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3.6 million</a:t>
                      </a:r>
                    </a:p>
                  </a:txBody>
                  <a:tcPr marL="50292" marR="41148" marT="20116" marB="20116" anchor="ctr">
                    <a:solidFill>
                      <a:srgbClr val="F6F8FB"/>
                    </a:solidFill>
                  </a:tcPr>
                </a:tc>
                <a:tc>
                  <a:txBody>
                    <a:bodyPr/>
                    <a:lstStyle/>
                    <a:p>
                      <a:pPr algn="ctr">
                        <a:lnSpc>
                          <a:spcPct val="100000"/>
                        </a:lnSpc>
                      </a:pPr>
                      <a:r>
                        <a:rPr sz="850" b="0">
                          <a:solidFill>
                            <a:srgbClr val="334155"/>
                          </a:solidFill>
                          <a:latin typeface="Segoe UI"/>
                        </a:rPr>
                        <a:t>28.8 million</a:t>
                      </a:r>
                    </a:p>
                  </a:txBody>
                  <a:tcPr marL="50292" marR="41148" marT="20116" marB="20116" anchor="ctr">
                    <a:solidFill>
                      <a:srgbClr val="F6F8FB"/>
                    </a:solidFill>
                  </a:tcPr>
                </a:tc>
              </a:tr>
              <a:tr h="292608">
                <a:tc>
                  <a:txBody>
                    <a:bodyPr/>
                    <a:lstStyle/>
                    <a:p>
                      <a:pPr>
                        <a:lnSpc>
                          <a:spcPct val="100000"/>
                        </a:lnSpc>
                      </a:pPr>
                      <a:r>
                        <a:rPr sz="850" b="0">
                          <a:solidFill>
                            <a:srgbClr val="334155"/>
                          </a:solidFill>
                          <a:latin typeface="Segoe UI"/>
                        </a:rPr>
                        <a:t>Readings in an 8-hour test</a:t>
                      </a:r>
                    </a:p>
                  </a:txBody>
                  <a:tcPr marL="50292" marR="41148" marT="20116" marB="20116" anchor="ctr">
                    <a:solidFill>
                      <a:srgbClr val="FFFFFF"/>
                    </a:solidFill>
                  </a:tcPr>
                </a:tc>
                <a:tc>
                  <a:txBody>
                    <a:bodyPr/>
                    <a:lstStyle/>
                    <a:p>
                      <a:pPr algn="ctr">
                        <a:lnSpc>
                          <a:spcPct val="100000"/>
                        </a:lnSpc>
                      </a:pPr>
                      <a:r>
                        <a:rPr sz="850" b="0">
                          <a:solidFill>
                            <a:srgbClr val="334155"/>
                          </a:solidFill>
                          <a:latin typeface="Segoe UI"/>
                        </a:rPr>
                        <a:t>28.8 million</a:t>
                      </a:r>
                    </a:p>
                  </a:txBody>
                  <a:tcPr marL="50292" marR="41148" marT="20116" marB="20116" anchor="ctr">
                    <a:solidFill>
                      <a:srgbClr val="FFFFFF"/>
                    </a:solidFill>
                  </a:tcPr>
                </a:tc>
                <a:tc>
                  <a:txBody>
                    <a:bodyPr/>
                    <a:lstStyle/>
                    <a:p>
                      <a:pPr algn="ctr">
                        <a:lnSpc>
                          <a:spcPct val="100000"/>
                        </a:lnSpc>
                      </a:pPr>
                      <a:r>
                        <a:rPr sz="1100" b="1">
                          <a:solidFill>
                            <a:srgbClr val="9B2C35"/>
                          </a:solidFill>
                          <a:latin typeface="Segoe UI"/>
                        </a:rPr>
                        <a:t>230 million</a:t>
                      </a:r>
                    </a:p>
                  </a:txBody>
                  <a:tcPr marL="50292" marR="41148" marT="20116" marB="20116" anchor="ctr">
                    <a:solidFill>
                      <a:srgbClr val="FFFFFF"/>
                    </a:solidFill>
                  </a:tcPr>
                </a:tc>
              </a:tr>
            </a:tbl>
          </a:graphicData>
        </a:graphic>
      </p:graphicFrame>
      <p:sp>
        <p:nvSpPr>
          <p:cNvPr id="9" name="Rounded Rectangle 8"/>
          <p:cNvSpPr/>
          <p:nvPr/>
        </p:nvSpPr>
        <p:spPr>
          <a:xfrm>
            <a:off x="502920" y="2871216"/>
            <a:ext cx="5577840" cy="1234440"/>
          </a:xfrm>
          <a:prstGeom prst="roundRect">
            <a:avLst>
              <a:gd name="adj" fmla="val 6000"/>
            </a:avLst>
          </a:prstGeom>
          <a:solidFill>
            <a:srgbClr val="FBE9EA"/>
          </a:solidFill>
          <a:ln w="9525">
            <a:solidFill>
              <a:srgbClr val="9B2C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017520"/>
            <a:ext cx="5166360" cy="1051560"/>
          </a:xfrm>
          <a:prstGeom prst="rect">
            <a:avLst/>
          </a:prstGeom>
          <a:noFill/>
        </p:spPr>
        <p:txBody>
          <a:bodyPr wrap="square" anchor="t" lIns="0" rIns="0" tIns="0" bIns="0">
            <a:spAutoFit/>
          </a:bodyPr>
          <a:lstStyle/>
          <a:p>
            <a:pPr algn="l">
              <a:lnSpc>
                <a:spcPct val="105000"/>
              </a:lnSpc>
              <a:spcBef>
                <a:spcPts val="0"/>
              </a:spcBef>
            </a:pPr>
            <a:r>
              <a:rPr sz="950" b="1">
                <a:solidFill>
                  <a:srgbClr val="9B2C35"/>
                </a:solidFill>
                <a:latin typeface="Segoe UI"/>
              </a:rPr>
              <a:t>THE STORAGE COST</a:t>
            </a:r>
          </a:p>
          <a:p>
            <a:pPr algn="l">
              <a:lnSpc>
                <a:spcPct val="105000"/>
              </a:lnSpc>
              <a:spcBef>
                <a:spcPts val="600"/>
              </a:spcBef>
            </a:pPr>
            <a:r>
              <a:rPr sz="900" b="0">
                <a:solidFill>
                  <a:srgbClr val="334155"/>
                </a:solidFill>
                <a:latin typeface="Segoe UI"/>
              </a:rPr>
              <a:t>At roughly 40 bytes per stored reading, an eight-hour test across eight channels produces in the order of 9 GB of measurement data.</a:t>
            </a:r>
          </a:p>
          <a:p>
            <a:pPr algn="l">
              <a:lnSpc>
                <a:spcPct val="105000"/>
              </a:lnSpc>
              <a:spcBef>
                <a:spcPts val="400"/>
              </a:spcBef>
            </a:pPr>
            <a:r>
              <a:rPr sz="900" b="0">
                <a:solidFill>
                  <a:srgbClr val="334155"/>
                </a:solidFill>
                <a:latin typeface="Segoe UI"/>
              </a:rPr>
              <a:t>The application already writes to a separate database per test session using a background queue, so the mechanism exists — but it has never been asked to absorb eight channels at this rate.</a:t>
            </a:r>
          </a:p>
        </p:txBody>
      </p:sp>
      <p:sp>
        <p:nvSpPr>
          <p:cNvPr id="11" name="Rounded Rectangle 10"/>
          <p:cNvSpPr/>
          <p:nvPr/>
        </p:nvSpPr>
        <p:spPr>
          <a:xfrm>
            <a:off x="6291072" y="1280160"/>
            <a:ext cx="5394960" cy="2825496"/>
          </a:xfrm>
          <a:prstGeom prst="roundRect">
            <a:avLst>
              <a:gd name="adj" fmla="val 6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28816" y="1463040"/>
            <a:ext cx="4937760" cy="2514600"/>
          </a:xfrm>
          <a:prstGeom prst="rect">
            <a:avLst/>
          </a:prstGeom>
          <a:noFill/>
        </p:spPr>
        <p:txBody>
          <a:bodyPr wrap="square" anchor="t" lIns="0" rIns="0" tIns="0" bIns="0">
            <a:spAutoFit/>
          </a:bodyPr>
          <a:lstStyle/>
          <a:p>
            <a:pPr algn="l">
              <a:lnSpc>
                <a:spcPct val="105000"/>
              </a:lnSpc>
              <a:spcBef>
                <a:spcPts val="0"/>
              </a:spcBef>
            </a:pPr>
            <a:r>
              <a:rPr sz="1000" b="1">
                <a:solidFill>
                  <a:srgbClr val="7FC9C6"/>
                </a:solidFill>
                <a:latin typeface="Segoe UI"/>
              </a:rPr>
              <a:t>A QUESTION WORTH ASKING BEFORE COMMITTING</a:t>
            </a:r>
          </a:p>
          <a:p>
            <a:pPr algn="l">
              <a:lnSpc>
                <a:spcPct val="105000"/>
              </a:lnSpc>
              <a:spcBef>
                <a:spcPts val="700"/>
              </a:spcBef>
            </a:pPr>
            <a:r>
              <a:rPr sz="1300" b="1">
                <a:solidFill>
                  <a:srgbClr val="FFFFFF"/>
                </a:solidFill>
                <a:latin typeface="Segoe UI"/>
              </a:rPr>
              <a:t>Is a stored reading genuinely required for every single millisecond?</a:t>
            </a:r>
          </a:p>
          <a:p>
            <a:pPr algn="l">
              <a:lnSpc>
                <a:spcPct val="105000"/>
              </a:lnSpc>
              <a:spcBef>
                <a:spcPts val="500"/>
              </a:spcBef>
            </a:pPr>
            <a:r>
              <a:rPr sz="1100" b="0">
                <a:solidFill>
                  <a:srgbClr val="D5E0EE"/>
                </a:solidFill>
                <a:latin typeface="Segoe UI"/>
              </a:rPr>
              <a:t>Or would 1 ms measurement combined with slower storage meet the real need?</a:t>
            </a:r>
          </a:p>
          <a:p>
            <a:pPr algn="l">
              <a:lnSpc>
                <a:spcPct val="105000"/>
              </a:lnSpc>
              <a:spcBef>
                <a:spcPts val="700"/>
              </a:spcBef>
            </a:pPr>
            <a:r>
              <a:rPr sz="900" b="0">
                <a:solidFill>
                  <a:srgbClr val="D5E0EE"/>
                </a:solidFill>
                <a:latin typeface="Segoe UI"/>
              </a:rPr>
              <a:t>For example, the Secondary could measure every millisecond and store every tenth reading, together with the minimum and maximum values seen in between.</a:t>
            </a:r>
          </a:p>
          <a:p>
            <a:pPr algn="l">
              <a:lnSpc>
                <a:spcPct val="105000"/>
              </a:lnSpc>
              <a:spcBef>
                <a:spcPts val="500"/>
              </a:spcBef>
            </a:pPr>
            <a:r>
              <a:rPr sz="900" b="1">
                <a:solidFill>
                  <a:srgbClr val="FFFFFF"/>
                </a:solidFill>
                <a:latin typeface="Segoe UI"/>
              </a:rPr>
              <a:t>That reduces stored volume by a factor of ten while preserving the extreme values — which are precisely what matter for both cutoff analysis and customer reports.</a:t>
            </a:r>
          </a:p>
        </p:txBody>
      </p:sp>
      <p:sp>
        <p:nvSpPr>
          <p:cNvPr id="13" name="TextBox 12"/>
          <p:cNvSpPr txBox="1"/>
          <p:nvPr/>
        </p:nvSpPr>
        <p:spPr>
          <a:xfrm>
            <a:off x="502920" y="4279392"/>
            <a:ext cx="7315200" cy="237744"/>
          </a:xfrm>
          <a:prstGeom prst="rect">
            <a:avLst/>
          </a:prstGeom>
          <a:noFill/>
        </p:spPr>
        <p:txBody>
          <a:bodyPr wrap="square" anchor="t" lIns="18288" rIns="18288" tIns="0" bIns="0">
            <a:spAutoFit/>
          </a:bodyPr>
          <a:lstStyle/>
          <a:p>
            <a:pPr algn="l">
              <a:lnSpc>
                <a:spcPct val="100000"/>
              </a:lnSpc>
            </a:pPr>
            <a:r>
              <a:rPr sz="1050" b="1" i="0">
                <a:solidFill>
                  <a:srgbClr val="142A47"/>
                </a:solidFill>
                <a:latin typeface="Segoe UI"/>
              </a:rPr>
              <a:t>THE TWO STORAGE POLICIES COMPARED</a:t>
            </a:r>
          </a:p>
        </p:txBody>
      </p:sp>
      <p:graphicFrame>
        <p:nvGraphicFramePr>
          <p:cNvPr id="14" name="Table 13"/>
          <p:cNvGraphicFramePr>
            <a:graphicFrameLocks noGrp="1"/>
          </p:cNvGraphicFramePr>
          <p:nvPr/>
        </p:nvGraphicFramePr>
        <p:xfrm>
          <a:off x="502920" y="4553712"/>
          <a:ext cx="11183112" cy="1152144"/>
        </p:xfrm>
        <a:graphic>
          <a:graphicData uri="http://schemas.openxmlformats.org/drawingml/2006/table">
            <a:tbl>
              <a:tblPr firstRow="1">
                <a:tableStyleId>{5C22544A-7EE6-4342-B048-85BDC9FD1C3A}</a:tableStyleId>
              </a:tblPr>
              <a:tblGrid>
                <a:gridCol w="2377440"/>
                <a:gridCol w="1371600"/>
                <a:gridCol w="1234440"/>
                <a:gridCol w="2651760"/>
                <a:gridCol w="3547872"/>
              </a:tblGrid>
              <a:tr h="384048">
                <a:tc>
                  <a:txBody>
                    <a:bodyPr/>
                    <a:lstStyle/>
                    <a:p>
                      <a:pPr>
                        <a:lnSpc>
                          <a:spcPct val="100000"/>
                        </a:lnSpc>
                      </a:pPr>
                      <a:r>
                        <a:rPr sz="900" b="1">
                          <a:solidFill>
                            <a:srgbClr val="FFFFFF"/>
                          </a:solidFill>
                          <a:latin typeface="Segoe UI"/>
                        </a:rPr>
                        <a:t>Storage policy</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Readings stored</a:t>
                      </a:r>
                    </a:p>
                    <a:p>
                      <a:pPr>
                        <a:lnSpc>
                          <a:spcPct val="100000"/>
                        </a:lnSpc>
                      </a:pPr>
                      <a:r>
                        <a:rPr sz="900" b="1">
                          <a:solidFill>
                            <a:srgbClr val="FFFFFF"/>
                          </a:solidFill>
                          <a:latin typeface="Segoe UI"/>
                        </a:rPr>
                        <a:t>per 8-hour test</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Approximate</a:t>
                      </a:r>
                    </a:p>
                    <a:p>
                      <a:pPr>
                        <a:lnSpc>
                          <a:spcPct val="100000"/>
                        </a:lnSpc>
                      </a:pPr>
                      <a:r>
                        <a:rPr sz="900" b="1">
                          <a:solidFill>
                            <a:srgbClr val="FFFFFF"/>
                          </a:solidFill>
                          <a:latin typeface="Segoe UI"/>
                        </a:rPr>
                        <a:t>volume</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What is preserved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What is lost</a:t>
                      </a:r>
                    </a:p>
                  </a:txBody>
                  <a:tcPr marL="50292" marR="41148" marT="20116" marB="20116" anchor="ctr">
                    <a:solidFill>
                      <a:srgbClr val="1E3A5F"/>
                    </a:solidFill>
                  </a:tcPr>
                </a:tc>
              </a:tr>
              <a:tr h="384048">
                <a:tc>
                  <a:txBody>
                    <a:bodyPr/>
                    <a:lstStyle/>
                    <a:p>
                      <a:pPr>
                        <a:lnSpc>
                          <a:spcPct val="100000"/>
                        </a:lnSpc>
                      </a:pPr>
                      <a:r>
                        <a:rPr sz="800" b="0">
                          <a:solidFill>
                            <a:srgbClr val="334155"/>
                          </a:solidFill>
                          <a:latin typeface="Segoe UI"/>
                        </a:rPr>
                        <a:t>Store every reading</a:t>
                      </a:r>
                    </a:p>
                  </a:txBody>
                  <a:tcPr marL="50292" marR="41148" marT="20116" marB="20116" anchor="ctr">
                    <a:solidFill>
                      <a:srgbClr val="FFFFFF"/>
                    </a:solidFill>
                  </a:tcPr>
                </a:tc>
                <a:tc>
                  <a:txBody>
                    <a:bodyPr/>
                    <a:lstStyle/>
                    <a:p>
                      <a:pPr algn="ctr">
                        <a:lnSpc>
                          <a:spcPct val="100000"/>
                        </a:lnSpc>
                      </a:pPr>
                      <a:r>
                        <a:rPr sz="800" b="1">
                          <a:solidFill>
                            <a:srgbClr val="334155"/>
                          </a:solidFill>
                          <a:latin typeface="Segoe UI"/>
                        </a:rPr>
                        <a:t>230 million</a:t>
                      </a:r>
                    </a:p>
                  </a:txBody>
                  <a:tcPr marL="50292" marR="41148" marT="20116" marB="20116" anchor="ctr">
                    <a:solidFill>
                      <a:srgbClr val="FFFFFF"/>
                    </a:solidFill>
                  </a:tcPr>
                </a:tc>
                <a:tc>
                  <a:txBody>
                    <a:bodyPr/>
                    <a:lstStyle/>
                    <a:p>
                      <a:pPr algn="ctr">
                        <a:lnSpc>
                          <a:spcPct val="100000"/>
                        </a:lnSpc>
                      </a:pPr>
                      <a:r>
                        <a:rPr sz="800" b="1">
                          <a:solidFill>
                            <a:srgbClr val="334155"/>
                          </a:solidFill>
                          <a:latin typeface="Segoe UI"/>
                        </a:rPr>
                        <a:t>about 9 GB</a:t>
                      </a:r>
                    </a:p>
                  </a:txBody>
                  <a:tcPr marL="50292" marR="41148" marT="20116" marB="20116" anchor="ctr">
                    <a:solidFill>
                      <a:srgbClr val="FFFFFF"/>
                    </a:solidFill>
                  </a:tcPr>
                </a:tc>
                <a:tc>
                  <a:txBody>
                    <a:bodyPr/>
                    <a:lstStyle/>
                    <a:p>
                      <a:pPr>
                        <a:lnSpc>
                          <a:spcPct val="100000"/>
                        </a:lnSpc>
                      </a:pPr>
                      <a:r>
                        <a:rPr sz="800" b="0">
                          <a:solidFill>
                            <a:srgbClr val="334155"/>
                          </a:solidFill>
                          <a:latin typeface="Segoe UI"/>
                        </a:rPr>
                        <a:t>Everything</a:t>
                      </a:r>
                    </a:p>
                  </a:txBody>
                  <a:tcPr marL="50292" marR="41148" marT="20116" marB="20116" anchor="ctr">
                    <a:solidFill>
                      <a:srgbClr val="FFFFFF"/>
                    </a:solidFill>
                  </a:tcPr>
                </a:tc>
                <a:tc>
                  <a:txBody>
                    <a:bodyPr/>
                    <a:lstStyle/>
                    <a:p>
                      <a:pPr>
                        <a:lnSpc>
                          <a:spcPct val="100000"/>
                        </a:lnSpc>
                      </a:pPr>
                      <a:r>
                        <a:rPr sz="800" b="0">
                          <a:solidFill>
                            <a:srgbClr val="334155"/>
                          </a:solidFill>
                          <a:latin typeface="Segoe UI"/>
                        </a:rPr>
                        <a:t>Nothing — but at high cost in disk, write load and report generation time</a:t>
                      </a:r>
                    </a:p>
                  </a:txBody>
                  <a:tcPr marL="50292" marR="41148" marT="20116" marB="20116" anchor="ctr">
                    <a:solidFill>
                      <a:srgbClr val="FFFFFF"/>
                    </a:solidFill>
                  </a:tcPr>
                </a:tc>
              </a:tr>
              <a:tr h="384048">
                <a:tc>
                  <a:txBody>
                    <a:bodyPr/>
                    <a:lstStyle/>
                    <a:p>
                      <a:pPr>
                        <a:lnSpc>
                          <a:spcPct val="100000"/>
                        </a:lnSpc>
                      </a:pPr>
                      <a:r>
                        <a:rPr sz="800" b="0">
                          <a:solidFill>
                            <a:srgbClr val="334155"/>
                          </a:solidFill>
                          <a:latin typeface="Segoe UI"/>
                        </a:rPr>
                        <a:t>Store every tenth reading,</a:t>
                      </a:r>
                    </a:p>
                    <a:p>
                      <a:pPr>
                        <a:lnSpc>
                          <a:spcPct val="100000"/>
                        </a:lnSpc>
                      </a:pPr>
                      <a:r>
                        <a:rPr sz="800" b="0">
                          <a:solidFill>
                            <a:srgbClr val="334155"/>
                          </a:solidFill>
                          <a:latin typeface="Segoe UI"/>
                        </a:rPr>
                        <a:t>plus the minimum and maximum</a:t>
                      </a:r>
                    </a:p>
                  </a:txBody>
                  <a:tcPr marL="50292" marR="41148" marT="20116" marB="20116" anchor="ctr">
                    <a:solidFill>
                      <a:srgbClr val="E6F2EB"/>
                    </a:solidFill>
                  </a:tcPr>
                </a:tc>
                <a:tc>
                  <a:txBody>
                    <a:bodyPr/>
                    <a:lstStyle/>
                    <a:p>
                      <a:pPr algn="ctr">
                        <a:lnSpc>
                          <a:spcPct val="100000"/>
                        </a:lnSpc>
                      </a:pPr>
                      <a:r>
                        <a:rPr sz="800" b="1">
                          <a:solidFill>
                            <a:srgbClr val="334155"/>
                          </a:solidFill>
                          <a:latin typeface="Segoe UI"/>
                        </a:rPr>
                        <a:t>23 million</a:t>
                      </a:r>
                    </a:p>
                  </a:txBody>
                  <a:tcPr marL="50292" marR="41148" marT="20116" marB="20116" anchor="ctr">
                    <a:solidFill>
                      <a:srgbClr val="E6F2EB"/>
                    </a:solidFill>
                  </a:tcPr>
                </a:tc>
                <a:tc>
                  <a:txBody>
                    <a:bodyPr/>
                    <a:lstStyle/>
                    <a:p>
                      <a:pPr algn="ctr">
                        <a:lnSpc>
                          <a:spcPct val="100000"/>
                        </a:lnSpc>
                      </a:pPr>
                      <a:r>
                        <a:rPr sz="800" b="1">
                          <a:solidFill>
                            <a:srgbClr val="334155"/>
                          </a:solidFill>
                          <a:latin typeface="Segoe UI"/>
                        </a:rPr>
                        <a:t>about 0.9 GB</a:t>
                      </a:r>
                    </a:p>
                  </a:txBody>
                  <a:tcPr marL="50292" marR="41148" marT="20116" marB="20116" anchor="ctr">
                    <a:solidFill>
                      <a:srgbClr val="E6F2EB"/>
                    </a:solidFill>
                  </a:tcPr>
                </a:tc>
                <a:tc>
                  <a:txBody>
                    <a:bodyPr/>
                    <a:lstStyle/>
                    <a:p>
                      <a:pPr>
                        <a:lnSpc>
                          <a:spcPct val="100000"/>
                        </a:lnSpc>
                      </a:pPr>
                      <a:r>
                        <a:rPr sz="800" b="0">
                          <a:solidFill>
                            <a:srgbClr val="334155"/>
                          </a:solidFill>
                          <a:latin typeface="Segoe UI"/>
                        </a:rPr>
                        <a:t>The full shape of the curve and every extreme value</a:t>
                      </a:r>
                    </a:p>
                  </a:txBody>
                  <a:tcPr marL="50292" marR="41148" marT="20116" marB="20116" anchor="ctr">
                    <a:solidFill>
                      <a:srgbClr val="E6F2EB"/>
                    </a:solidFill>
                  </a:tcPr>
                </a:tc>
                <a:tc>
                  <a:txBody>
                    <a:bodyPr/>
                    <a:lstStyle/>
                    <a:p>
                      <a:pPr>
                        <a:lnSpc>
                          <a:spcPct val="100000"/>
                        </a:lnSpc>
                      </a:pPr>
                      <a:r>
                        <a:rPr sz="800" b="0">
                          <a:solidFill>
                            <a:srgbClr val="334155"/>
                          </a:solidFill>
                          <a:latin typeface="Segoe UI"/>
                        </a:rPr>
                        <a:t>Individual intermediate samples, which no customer report currently uses</a:t>
                      </a:r>
                    </a:p>
                  </a:txBody>
                  <a:tcPr marL="50292" marR="41148" marT="20116" marB="20116" anchor="ctr">
                    <a:solidFill>
                      <a:srgbClr val="E6F2EB"/>
                    </a:solidFill>
                  </a:tcPr>
                </a:tc>
              </a:tr>
            </a:tbl>
          </a:graphicData>
        </a:graphic>
      </p:graphicFrame>
      <p:sp>
        <p:nvSpPr>
          <p:cNvPr id="15" name="Rounded Rectangle 14"/>
          <p:cNvSpPr/>
          <p:nvPr/>
        </p:nvSpPr>
        <p:spPr>
          <a:xfrm>
            <a:off x="502920" y="5870448"/>
            <a:ext cx="11183112" cy="548640"/>
          </a:xfrm>
          <a:prstGeom prst="roundRect">
            <a:avLst>
              <a:gd name="adj" fmla="val 12000"/>
            </a:avLst>
          </a:prstGeom>
          <a:solidFill>
            <a:srgbClr val="FDF3DF"/>
          </a:solidFill>
          <a:ln w="9525">
            <a:solidFill>
              <a:srgbClr val="B47A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5870448"/>
            <a:ext cx="64008" cy="54864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5971032"/>
            <a:ext cx="10725912" cy="365759"/>
          </a:xfrm>
          <a:prstGeom prst="rect">
            <a:avLst/>
          </a:prstGeom>
          <a:noFill/>
        </p:spPr>
        <p:txBody>
          <a:bodyPr wrap="square" anchor="t" lIns="0" rIns="0" tIns="0" bIns="0">
            <a:spAutoFit/>
          </a:bodyPr>
          <a:lstStyle/>
          <a:p>
            <a:pPr algn="l">
              <a:lnSpc>
                <a:spcPct val="105000"/>
              </a:lnSpc>
              <a:spcBef>
                <a:spcPts val="0"/>
              </a:spcBef>
            </a:pPr>
            <a:r>
              <a:rPr sz="1000" b="1">
                <a:solidFill>
                  <a:srgbClr val="B47A14"/>
                </a:solidFill>
                <a:latin typeface="Segoe UI"/>
              </a:rPr>
              <a:t>THIS IS A PRODUCT DECISION, NOT AN ENGINEERING ONE — and it should be taken consciously.</a:t>
            </a:r>
          </a:p>
          <a:p>
            <a:pPr algn="l">
              <a:lnSpc>
                <a:spcPct val="105000"/>
              </a:lnSpc>
              <a:spcBef>
                <a:spcPts val="300"/>
              </a:spcBef>
            </a:pPr>
            <a:r>
              <a:rPr sz="850" b="0">
                <a:solidFill>
                  <a:srgbClr val="334155"/>
                </a:solidFill>
                <a:latin typeface="Segoe UI"/>
              </a:rPr>
              <a:t>The answer changes the bus specification, the database sizing and the reporting design. Deciding it early avoids reworking all three later.</a:t>
            </a:r>
          </a:p>
        </p:txBody>
      </p:sp>
      <p:sp>
        <p:nvSpPr>
          <p:cNvPr id="18" name="Rectangle 17"/>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20" name="TextBox 19"/>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09 · QUALITATIVE SCORECARD</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Sixteen dimensions, scored 1 to 5 — engineering judgement for discussion</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These are not measurements. Every score carries its justification in the accompanying document. Higher is better.</a:t>
            </a:r>
          </a:p>
        </p:txBody>
      </p:sp>
      <p:sp>
        <p:nvSpPr>
          <p:cNvPr id="7" name="TextBox 6"/>
          <p:cNvSpPr txBox="1"/>
          <p:nvPr/>
        </p:nvSpPr>
        <p:spPr>
          <a:xfrm>
            <a:off x="502920" y="1170432"/>
            <a:ext cx="4023360" cy="219456"/>
          </a:xfrm>
          <a:prstGeom prst="rect">
            <a:avLst/>
          </a:prstGeom>
          <a:noFill/>
        </p:spPr>
        <p:txBody>
          <a:bodyPr wrap="square" anchor="t" lIns="18288" rIns="18288" tIns="0" bIns="0">
            <a:spAutoFit/>
          </a:bodyPr>
          <a:lstStyle/>
          <a:p>
            <a:pPr algn="l">
              <a:lnSpc>
                <a:spcPct val="100000"/>
              </a:lnSpc>
            </a:pPr>
            <a:r>
              <a:rPr sz="800" b="1" i="0">
                <a:solidFill>
                  <a:srgbClr val="64748B"/>
                </a:solidFill>
                <a:latin typeface="Segoe UI"/>
              </a:rPr>
              <a:t>DIMENSION</a:t>
            </a:r>
          </a:p>
        </p:txBody>
      </p:sp>
      <p:sp>
        <p:nvSpPr>
          <p:cNvPr id="8" name="TextBox 7"/>
          <p:cNvSpPr txBox="1"/>
          <p:nvPr/>
        </p:nvSpPr>
        <p:spPr>
          <a:xfrm>
            <a:off x="4617720" y="1170432"/>
            <a:ext cx="1371600" cy="219456"/>
          </a:xfrm>
          <a:prstGeom prst="rect">
            <a:avLst/>
          </a:prstGeom>
          <a:noFill/>
        </p:spPr>
        <p:txBody>
          <a:bodyPr wrap="square" anchor="t" lIns="18288" rIns="18288" tIns="0" bIns="0">
            <a:spAutoFit/>
          </a:bodyPr>
          <a:lstStyle/>
          <a:p>
            <a:pPr algn="ctr">
              <a:lnSpc>
                <a:spcPct val="100000"/>
              </a:lnSpc>
            </a:pPr>
            <a:r>
              <a:rPr sz="800" b="1" i="0">
                <a:solidFill>
                  <a:srgbClr val="8A3A48"/>
                </a:solidFill>
                <a:latin typeface="Segoe UI"/>
              </a:rPr>
              <a:t>OLD</a:t>
            </a:r>
          </a:p>
        </p:txBody>
      </p:sp>
      <p:sp>
        <p:nvSpPr>
          <p:cNvPr id="9" name="TextBox 8"/>
          <p:cNvSpPr txBox="1"/>
          <p:nvPr/>
        </p:nvSpPr>
        <p:spPr>
          <a:xfrm>
            <a:off x="6172200" y="1170432"/>
            <a:ext cx="1371600" cy="219456"/>
          </a:xfrm>
          <a:prstGeom prst="rect">
            <a:avLst/>
          </a:prstGeom>
          <a:noFill/>
        </p:spPr>
        <p:txBody>
          <a:bodyPr wrap="square" anchor="t" lIns="18288" rIns="18288" tIns="0" bIns="0">
            <a:spAutoFit/>
          </a:bodyPr>
          <a:lstStyle/>
          <a:p>
            <a:pPr algn="ctr">
              <a:lnSpc>
                <a:spcPct val="100000"/>
              </a:lnSpc>
            </a:pPr>
            <a:r>
              <a:rPr sz="800" b="1" i="0">
                <a:solidFill>
                  <a:srgbClr val="246B4D"/>
                </a:solidFill>
                <a:latin typeface="Segoe UI"/>
              </a:rPr>
              <a:t>NEW ME</a:t>
            </a:r>
          </a:p>
        </p:txBody>
      </p:sp>
      <p:sp>
        <p:nvSpPr>
          <p:cNvPr id="10" name="TextBox 9"/>
          <p:cNvSpPr txBox="1"/>
          <p:nvPr/>
        </p:nvSpPr>
        <p:spPr>
          <a:xfrm>
            <a:off x="7863840" y="1170432"/>
            <a:ext cx="3840480" cy="219456"/>
          </a:xfrm>
          <a:prstGeom prst="rect">
            <a:avLst/>
          </a:prstGeom>
          <a:noFill/>
        </p:spPr>
        <p:txBody>
          <a:bodyPr wrap="square" anchor="t" lIns="18288" rIns="18288" tIns="0" bIns="0">
            <a:spAutoFit/>
          </a:bodyPr>
          <a:lstStyle/>
          <a:p>
            <a:pPr algn="l">
              <a:lnSpc>
                <a:spcPct val="100000"/>
              </a:lnSpc>
            </a:pPr>
            <a:r>
              <a:rPr sz="800" b="1" i="0">
                <a:solidFill>
                  <a:srgbClr val="64748B"/>
                </a:solidFill>
                <a:latin typeface="Segoe UI"/>
              </a:rPr>
              <a:t>BASIS FOR THE SCORE</a:t>
            </a:r>
          </a:p>
        </p:txBody>
      </p:sp>
      <p:sp>
        <p:nvSpPr>
          <p:cNvPr id="11" name="Rectangle 10"/>
          <p:cNvSpPr/>
          <p:nvPr/>
        </p:nvSpPr>
        <p:spPr>
          <a:xfrm>
            <a:off x="502920" y="1388059"/>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421892"/>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Channel density and cost per channel</a:t>
            </a:r>
          </a:p>
        </p:txBody>
      </p:sp>
      <p:sp>
        <p:nvSpPr>
          <p:cNvPr id="13" name="Rectangle 12"/>
          <p:cNvSpPr/>
          <p:nvPr/>
        </p:nvSpPr>
        <p:spPr>
          <a:xfrm>
            <a:off x="5656478" y="1453896"/>
            <a:ext cx="259689"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61888" y="1417320"/>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1</a:t>
            </a:r>
          </a:p>
        </p:txBody>
      </p:sp>
      <p:sp>
        <p:nvSpPr>
          <p:cNvPr id="15" name="Rectangle 14"/>
          <p:cNvSpPr/>
          <p:nvPr/>
        </p:nvSpPr>
        <p:spPr>
          <a:xfrm>
            <a:off x="6309360" y="1453896"/>
            <a:ext cx="129844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08192" y="1417320"/>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5</a:t>
            </a:r>
          </a:p>
        </p:txBody>
      </p:sp>
      <p:sp>
        <p:nvSpPr>
          <p:cNvPr id="17" name="TextBox 16"/>
          <p:cNvSpPr txBox="1"/>
          <p:nvPr/>
        </p:nvSpPr>
        <p:spPr>
          <a:xfrm>
            <a:off x="7863840" y="1421892"/>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Eight channels per Primary instead of one</a:t>
            </a:r>
          </a:p>
        </p:txBody>
      </p:sp>
      <p:sp>
        <p:nvSpPr>
          <p:cNvPr id="18" name="TextBox 17"/>
          <p:cNvSpPr txBox="1"/>
          <p:nvPr/>
        </p:nvSpPr>
        <p:spPr>
          <a:xfrm>
            <a:off x="566928" y="1692554"/>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Maintainability of test logic</a:t>
            </a:r>
          </a:p>
        </p:txBody>
      </p:sp>
      <p:sp>
        <p:nvSpPr>
          <p:cNvPr id="19" name="Rectangle 18"/>
          <p:cNvSpPr/>
          <p:nvPr/>
        </p:nvSpPr>
        <p:spPr>
          <a:xfrm>
            <a:off x="5396788" y="1724558"/>
            <a:ext cx="519379"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961888" y="1687982"/>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2</a:t>
            </a:r>
          </a:p>
        </p:txBody>
      </p:sp>
      <p:sp>
        <p:nvSpPr>
          <p:cNvPr id="21" name="Rectangle 20"/>
          <p:cNvSpPr/>
          <p:nvPr/>
        </p:nvSpPr>
        <p:spPr>
          <a:xfrm>
            <a:off x="6309360" y="1724558"/>
            <a:ext cx="129844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08192" y="1687982"/>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5</a:t>
            </a:r>
          </a:p>
        </p:txBody>
      </p:sp>
      <p:sp>
        <p:nvSpPr>
          <p:cNvPr id="23" name="TextBox 22"/>
          <p:cNvSpPr txBox="1"/>
          <p:nvPr/>
        </p:nvSpPr>
        <p:spPr>
          <a:xfrm>
            <a:off x="7863840" y="1692554"/>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A Primary release, not a fleet-wide re-programme</a:t>
            </a:r>
          </a:p>
        </p:txBody>
      </p:sp>
      <p:sp>
        <p:nvSpPr>
          <p:cNvPr id="24" name="Rectangle 23"/>
          <p:cNvSpPr/>
          <p:nvPr/>
        </p:nvSpPr>
        <p:spPr>
          <a:xfrm>
            <a:off x="502920" y="1929384"/>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1963216"/>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Wiring and assembly complexity</a:t>
            </a:r>
          </a:p>
        </p:txBody>
      </p:sp>
      <p:sp>
        <p:nvSpPr>
          <p:cNvPr id="26" name="Rectangle 25"/>
          <p:cNvSpPr/>
          <p:nvPr/>
        </p:nvSpPr>
        <p:spPr>
          <a:xfrm>
            <a:off x="5396788" y="1995220"/>
            <a:ext cx="519379"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961888" y="1958644"/>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2</a:t>
            </a:r>
          </a:p>
        </p:txBody>
      </p:sp>
      <p:sp>
        <p:nvSpPr>
          <p:cNvPr id="28" name="Rectangle 27"/>
          <p:cNvSpPr/>
          <p:nvPr/>
        </p:nvSpPr>
        <p:spPr>
          <a:xfrm>
            <a:off x="6309360" y="1995220"/>
            <a:ext cx="129844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108192" y="1958644"/>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5</a:t>
            </a:r>
          </a:p>
        </p:txBody>
      </p:sp>
      <p:sp>
        <p:nvSpPr>
          <p:cNvPr id="30" name="TextBox 29"/>
          <p:cNvSpPr txBox="1"/>
          <p:nvPr/>
        </p:nvSpPr>
        <p:spPr>
          <a:xfrm>
            <a:off x="7863840" y="1963216"/>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24 cable runs become one shared bus</a:t>
            </a:r>
          </a:p>
        </p:txBody>
      </p:sp>
      <p:sp>
        <p:nvSpPr>
          <p:cNvPr id="31" name="TextBox 30"/>
          <p:cNvSpPr txBox="1"/>
          <p:nvPr/>
        </p:nvSpPr>
        <p:spPr>
          <a:xfrm>
            <a:off x="566928" y="2233879"/>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Board types to source and stock</a:t>
            </a:r>
          </a:p>
        </p:txBody>
      </p:sp>
      <p:sp>
        <p:nvSpPr>
          <p:cNvPr id="32" name="Rectangle 31"/>
          <p:cNvSpPr/>
          <p:nvPr/>
        </p:nvSpPr>
        <p:spPr>
          <a:xfrm>
            <a:off x="5396788" y="2265883"/>
            <a:ext cx="519379"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961888" y="2229307"/>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2</a:t>
            </a:r>
          </a:p>
        </p:txBody>
      </p:sp>
      <p:sp>
        <p:nvSpPr>
          <p:cNvPr id="34" name="Rectangle 33"/>
          <p:cNvSpPr/>
          <p:nvPr/>
        </p:nvSpPr>
        <p:spPr>
          <a:xfrm>
            <a:off x="6309360" y="2265883"/>
            <a:ext cx="103875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08192" y="2229307"/>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4</a:t>
            </a:r>
          </a:p>
        </p:txBody>
      </p:sp>
      <p:sp>
        <p:nvSpPr>
          <p:cNvPr id="36" name="TextBox 35"/>
          <p:cNvSpPr txBox="1"/>
          <p:nvPr/>
        </p:nvSpPr>
        <p:spPr>
          <a:xfrm>
            <a:off x="7863840" y="2233879"/>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Three board types reduce to two</a:t>
            </a:r>
          </a:p>
        </p:txBody>
      </p:sp>
      <p:sp>
        <p:nvSpPr>
          <p:cNvPr id="37" name="Rectangle 36"/>
          <p:cNvSpPr/>
          <p:nvPr/>
        </p:nvSpPr>
        <p:spPr>
          <a:xfrm>
            <a:off x="502920" y="2470708"/>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66928" y="2504541"/>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Secondary firmware simplicity</a:t>
            </a:r>
          </a:p>
        </p:txBody>
      </p:sp>
      <p:sp>
        <p:nvSpPr>
          <p:cNvPr id="39" name="Rectangle 38"/>
          <p:cNvSpPr/>
          <p:nvPr/>
        </p:nvSpPr>
        <p:spPr>
          <a:xfrm>
            <a:off x="5656478" y="2536545"/>
            <a:ext cx="259689"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961888" y="2499969"/>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1</a:t>
            </a:r>
          </a:p>
        </p:txBody>
      </p:sp>
      <p:sp>
        <p:nvSpPr>
          <p:cNvPr id="41" name="Rectangle 40"/>
          <p:cNvSpPr/>
          <p:nvPr/>
        </p:nvSpPr>
        <p:spPr>
          <a:xfrm>
            <a:off x="6309360" y="2536545"/>
            <a:ext cx="129844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108192" y="2499969"/>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5</a:t>
            </a:r>
          </a:p>
        </p:txBody>
      </p:sp>
      <p:sp>
        <p:nvSpPr>
          <p:cNvPr id="43" name="TextBox 42"/>
          <p:cNvSpPr txBox="1"/>
          <p:nvPr/>
        </p:nvSpPr>
        <p:spPr>
          <a:xfrm>
            <a:off x="7863840" y="2504541"/>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Loses step interpretation, cutoffs, cycle engine</a:t>
            </a:r>
          </a:p>
        </p:txBody>
      </p:sp>
      <p:sp>
        <p:nvSpPr>
          <p:cNvPr id="44" name="TextBox 43"/>
          <p:cNvSpPr txBox="1"/>
          <p:nvPr/>
        </p:nvSpPr>
        <p:spPr>
          <a:xfrm>
            <a:off x="566928" y="2775203"/>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Speed of adding new features</a:t>
            </a:r>
          </a:p>
        </p:txBody>
      </p:sp>
      <p:sp>
        <p:nvSpPr>
          <p:cNvPr id="45" name="Rectangle 44"/>
          <p:cNvSpPr/>
          <p:nvPr/>
        </p:nvSpPr>
        <p:spPr>
          <a:xfrm>
            <a:off x="5396788" y="2807207"/>
            <a:ext cx="519379"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961888" y="2770631"/>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2</a:t>
            </a:r>
          </a:p>
        </p:txBody>
      </p:sp>
      <p:sp>
        <p:nvSpPr>
          <p:cNvPr id="47" name="Rectangle 46"/>
          <p:cNvSpPr/>
          <p:nvPr/>
        </p:nvSpPr>
        <p:spPr>
          <a:xfrm>
            <a:off x="6309360" y="2807207"/>
            <a:ext cx="129844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108192" y="2770631"/>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5</a:t>
            </a:r>
          </a:p>
        </p:txBody>
      </p:sp>
      <p:sp>
        <p:nvSpPr>
          <p:cNvPr id="49" name="TextBox 48"/>
          <p:cNvSpPr txBox="1"/>
          <p:nvPr/>
        </p:nvSpPr>
        <p:spPr>
          <a:xfrm>
            <a:off x="7863840" y="2775203"/>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No Secondary release needed per feature</a:t>
            </a:r>
          </a:p>
        </p:txBody>
      </p:sp>
      <p:sp>
        <p:nvSpPr>
          <p:cNvPr id="50" name="Rectangle 49"/>
          <p:cNvSpPr/>
          <p:nvPr/>
        </p:nvSpPr>
        <p:spPr>
          <a:xfrm>
            <a:off x="502920" y="3012033"/>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66928" y="3045866"/>
            <a:ext cx="3977639" cy="219456"/>
          </a:xfrm>
          <a:prstGeom prst="rect">
            <a:avLst/>
          </a:prstGeom>
          <a:noFill/>
        </p:spPr>
        <p:txBody>
          <a:bodyPr wrap="square" anchor="t" lIns="18288" rIns="18288" tIns="0" bIns="0">
            <a:spAutoFit/>
          </a:bodyPr>
          <a:lstStyle/>
          <a:p>
            <a:pPr algn="l">
              <a:lnSpc>
                <a:spcPct val="100000"/>
              </a:lnSpc>
            </a:pPr>
            <a:r>
              <a:rPr sz="850" b="0" i="0">
                <a:solidFill>
                  <a:srgbClr val="334155"/>
                </a:solidFill>
                <a:latin typeface="Segoe UI"/>
              </a:rPr>
              <a:t>Regulation loop performance</a:t>
            </a:r>
          </a:p>
        </p:txBody>
      </p:sp>
      <p:sp>
        <p:nvSpPr>
          <p:cNvPr id="52" name="Rectangle 51"/>
          <p:cNvSpPr/>
          <p:nvPr/>
        </p:nvSpPr>
        <p:spPr>
          <a:xfrm>
            <a:off x="4617720" y="3077870"/>
            <a:ext cx="1298448"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961888" y="3041294"/>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5</a:t>
            </a:r>
          </a:p>
        </p:txBody>
      </p:sp>
      <p:sp>
        <p:nvSpPr>
          <p:cNvPr id="54" name="Rectangle 53"/>
          <p:cNvSpPr/>
          <p:nvPr/>
        </p:nvSpPr>
        <p:spPr>
          <a:xfrm>
            <a:off x="6309360" y="3077870"/>
            <a:ext cx="1298448"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108192" y="3041294"/>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5</a:t>
            </a:r>
          </a:p>
        </p:txBody>
      </p:sp>
      <p:sp>
        <p:nvSpPr>
          <p:cNvPr id="56" name="TextBox 55"/>
          <p:cNvSpPr txBox="1"/>
          <p:nvPr/>
        </p:nvSpPr>
        <p:spPr>
          <a:xfrm>
            <a:off x="7863840" y="3045866"/>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Both keep the 1 ms loop local, if Condition A holds</a:t>
            </a:r>
          </a:p>
        </p:txBody>
      </p:sp>
      <p:sp>
        <p:nvSpPr>
          <p:cNvPr id="57" name="TextBox 56"/>
          <p:cNvSpPr txBox="1"/>
          <p:nvPr/>
        </p:nvSpPr>
        <p:spPr>
          <a:xfrm>
            <a:off x="566928" y="3316528"/>
            <a:ext cx="3977639" cy="219456"/>
          </a:xfrm>
          <a:prstGeom prst="rect">
            <a:avLst/>
          </a:prstGeom>
          <a:noFill/>
        </p:spPr>
        <p:txBody>
          <a:bodyPr wrap="square" anchor="t" lIns="18288" rIns="18288" tIns="0" bIns="0">
            <a:spAutoFit/>
          </a:bodyPr>
          <a:lstStyle/>
          <a:p>
            <a:pPr algn="l">
              <a:lnSpc>
                <a:spcPct val="100000"/>
              </a:lnSpc>
            </a:pPr>
            <a:r>
              <a:rPr sz="850" b="0" i="0">
                <a:solidFill>
                  <a:srgbClr val="334155"/>
                </a:solidFill>
                <a:latin typeface="Segoe UI"/>
              </a:rPr>
              <a:t>Protection reaction time</a:t>
            </a:r>
          </a:p>
        </p:txBody>
      </p:sp>
      <p:sp>
        <p:nvSpPr>
          <p:cNvPr id="58" name="Rectangle 57"/>
          <p:cNvSpPr/>
          <p:nvPr/>
        </p:nvSpPr>
        <p:spPr>
          <a:xfrm>
            <a:off x="4617720" y="3348532"/>
            <a:ext cx="1298448"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5961888" y="3311956"/>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5</a:t>
            </a:r>
          </a:p>
        </p:txBody>
      </p:sp>
      <p:sp>
        <p:nvSpPr>
          <p:cNvPr id="60" name="Rectangle 59"/>
          <p:cNvSpPr/>
          <p:nvPr/>
        </p:nvSpPr>
        <p:spPr>
          <a:xfrm>
            <a:off x="6309360" y="3348532"/>
            <a:ext cx="1298448"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108192" y="3311956"/>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5</a:t>
            </a:r>
          </a:p>
        </p:txBody>
      </p:sp>
      <p:sp>
        <p:nvSpPr>
          <p:cNvPr id="62" name="TextBox 61"/>
          <p:cNvSpPr txBox="1"/>
          <p:nvPr/>
        </p:nvSpPr>
        <p:spPr>
          <a:xfrm>
            <a:off x="7863840" y="3316528"/>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Equal ONLY if Condition B holds; otherwise ME scores 2</a:t>
            </a:r>
          </a:p>
        </p:txBody>
      </p:sp>
      <p:sp>
        <p:nvSpPr>
          <p:cNvPr id="63" name="Rectangle 62"/>
          <p:cNvSpPr/>
          <p:nvPr/>
        </p:nvSpPr>
        <p:spPr>
          <a:xfrm>
            <a:off x="502920" y="3553358"/>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566928" y="3587191"/>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Cutoff granularity for test logic</a:t>
            </a:r>
          </a:p>
        </p:txBody>
      </p:sp>
      <p:sp>
        <p:nvSpPr>
          <p:cNvPr id="65" name="Rectangle 64"/>
          <p:cNvSpPr/>
          <p:nvPr/>
        </p:nvSpPr>
        <p:spPr>
          <a:xfrm>
            <a:off x="4617720" y="3619195"/>
            <a:ext cx="1298448" cy="150876"/>
          </a:xfrm>
          <a:prstGeom prst="rect">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5961888" y="3582619"/>
            <a:ext cx="182880" cy="219456"/>
          </a:xfrm>
          <a:prstGeom prst="rect">
            <a:avLst/>
          </a:prstGeom>
          <a:noFill/>
        </p:spPr>
        <p:txBody>
          <a:bodyPr wrap="square" anchor="t" lIns="18288" rIns="18288" tIns="0" bIns="0">
            <a:spAutoFit/>
          </a:bodyPr>
          <a:lstStyle/>
          <a:p>
            <a:pPr algn="l">
              <a:lnSpc>
                <a:spcPct val="100000"/>
              </a:lnSpc>
            </a:pPr>
            <a:r>
              <a:rPr sz="850" b="1" i="0">
                <a:solidFill>
                  <a:srgbClr val="8A3A48"/>
                </a:solidFill>
                <a:latin typeface="Segoe UI"/>
              </a:rPr>
              <a:t>5</a:t>
            </a:r>
          </a:p>
        </p:txBody>
      </p:sp>
      <p:sp>
        <p:nvSpPr>
          <p:cNvPr id="67" name="Rectangle 66"/>
          <p:cNvSpPr/>
          <p:nvPr/>
        </p:nvSpPr>
        <p:spPr>
          <a:xfrm>
            <a:off x="6309360" y="3619195"/>
            <a:ext cx="779068"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108192" y="3582619"/>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3</a:t>
            </a:r>
          </a:p>
        </p:txBody>
      </p:sp>
      <p:sp>
        <p:nvSpPr>
          <p:cNvPr id="69" name="TextBox 68"/>
          <p:cNvSpPr txBox="1"/>
          <p:nvPr/>
        </p:nvSpPr>
        <p:spPr>
          <a:xfrm>
            <a:off x="7863840" y="3587191"/>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About 1 ms today against about 10 ms on the bus</a:t>
            </a:r>
          </a:p>
        </p:txBody>
      </p:sp>
      <p:sp>
        <p:nvSpPr>
          <p:cNvPr id="70" name="TextBox 69"/>
          <p:cNvSpPr txBox="1"/>
          <p:nvPr/>
        </p:nvSpPr>
        <p:spPr>
          <a:xfrm>
            <a:off x="566928" y="3857853"/>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Fault isolation</a:t>
            </a:r>
          </a:p>
        </p:txBody>
      </p:sp>
      <p:sp>
        <p:nvSpPr>
          <p:cNvPr id="71" name="Rectangle 70"/>
          <p:cNvSpPr/>
          <p:nvPr/>
        </p:nvSpPr>
        <p:spPr>
          <a:xfrm>
            <a:off x="4617720" y="3889857"/>
            <a:ext cx="1298448" cy="150876"/>
          </a:xfrm>
          <a:prstGeom prst="rect">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5961888" y="3853281"/>
            <a:ext cx="182880" cy="219456"/>
          </a:xfrm>
          <a:prstGeom prst="rect">
            <a:avLst/>
          </a:prstGeom>
          <a:noFill/>
        </p:spPr>
        <p:txBody>
          <a:bodyPr wrap="square" anchor="t" lIns="18288" rIns="18288" tIns="0" bIns="0">
            <a:spAutoFit/>
          </a:bodyPr>
          <a:lstStyle/>
          <a:p>
            <a:pPr algn="l">
              <a:lnSpc>
                <a:spcPct val="100000"/>
              </a:lnSpc>
            </a:pPr>
            <a:r>
              <a:rPr sz="850" b="1" i="0">
                <a:solidFill>
                  <a:srgbClr val="8A3A48"/>
                </a:solidFill>
                <a:latin typeface="Segoe UI"/>
              </a:rPr>
              <a:t>5</a:t>
            </a:r>
          </a:p>
        </p:txBody>
      </p:sp>
      <p:sp>
        <p:nvSpPr>
          <p:cNvPr id="73" name="Rectangle 72"/>
          <p:cNvSpPr/>
          <p:nvPr/>
        </p:nvSpPr>
        <p:spPr>
          <a:xfrm>
            <a:off x="6309360" y="3889857"/>
            <a:ext cx="519379"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6108192" y="3853281"/>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2</a:t>
            </a:r>
          </a:p>
        </p:txBody>
      </p:sp>
      <p:sp>
        <p:nvSpPr>
          <p:cNvPr id="75" name="TextBox 74"/>
          <p:cNvSpPr txBox="1"/>
          <p:nvPr/>
        </p:nvSpPr>
        <p:spPr>
          <a:xfrm>
            <a:off x="7863840" y="3857853"/>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One Primary fault stops 1 channel today, 8 under ME</a:t>
            </a:r>
          </a:p>
        </p:txBody>
      </p:sp>
      <p:sp>
        <p:nvSpPr>
          <p:cNvPr id="76" name="Rectangle 75"/>
          <p:cNvSpPr/>
          <p:nvPr/>
        </p:nvSpPr>
        <p:spPr>
          <a:xfrm>
            <a:off x="502920" y="4094683"/>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566928" y="4128515"/>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Communication capacity margin</a:t>
            </a:r>
          </a:p>
        </p:txBody>
      </p:sp>
      <p:sp>
        <p:nvSpPr>
          <p:cNvPr id="78" name="Rectangle 77"/>
          <p:cNvSpPr/>
          <p:nvPr/>
        </p:nvSpPr>
        <p:spPr>
          <a:xfrm>
            <a:off x="4617720" y="4160519"/>
            <a:ext cx="1298448" cy="150876"/>
          </a:xfrm>
          <a:prstGeom prst="rect">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5961888" y="4123943"/>
            <a:ext cx="182880" cy="219456"/>
          </a:xfrm>
          <a:prstGeom prst="rect">
            <a:avLst/>
          </a:prstGeom>
          <a:noFill/>
        </p:spPr>
        <p:txBody>
          <a:bodyPr wrap="square" anchor="t" lIns="18288" rIns="18288" tIns="0" bIns="0">
            <a:spAutoFit/>
          </a:bodyPr>
          <a:lstStyle/>
          <a:p>
            <a:pPr algn="l">
              <a:lnSpc>
                <a:spcPct val="100000"/>
              </a:lnSpc>
            </a:pPr>
            <a:r>
              <a:rPr sz="850" b="1" i="0">
                <a:solidFill>
                  <a:srgbClr val="8A3A48"/>
                </a:solidFill>
                <a:latin typeface="Segoe UI"/>
              </a:rPr>
              <a:t>5</a:t>
            </a:r>
          </a:p>
        </p:txBody>
      </p:sp>
      <p:sp>
        <p:nvSpPr>
          <p:cNvPr id="80" name="Rectangle 79"/>
          <p:cNvSpPr/>
          <p:nvPr/>
        </p:nvSpPr>
        <p:spPr>
          <a:xfrm>
            <a:off x="6309360" y="4160519"/>
            <a:ext cx="779068"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6108192" y="4123943"/>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3</a:t>
            </a:r>
          </a:p>
        </p:txBody>
      </p:sp>
      <p:sp>
        <p:nvSpPr>
          <p:cNvPr id="82" name="TextBox 81"/>
          <p:cNvSpPr txBox="1"/>
          <p:nvPr/>
        </p:nvSpPr>
        <p:spPr>
          <a:xfrm>
            <a:off x="7863840" y="4128515"/>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Dedicated links cannot contend; a shared bus can</a:t>
            </a:r>
          </a:p>
        </p:txBody>
      </p:sp>
      <p:sp>
        <p:nvSpPr>
          <p:cNvPr id="83" name="TextBox 82"/>
          <p:cNvSpPr txBox="1"/>
          <p:nvPr/>
        </p:nvSpPr>
        <p:spPr>
          <a:xfrm>
            <a:off x="566928" y="4399178"/>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Primary processing headroom</a:t>
            </a:r>
          </a:p>
        </p:txBody>
      </p:sp>
      <p:sp>
        <p:nvSpPr>
          <p:cNvPr id="84" name="Rectangle 83"/>
          <p:cNvSpPr/>
          <p:nvPr/>
        </p:nvSpPr>
        <p:spPr>
          <a:xfrm>
            <a:off x="4877409" y="4431182"/>
            <a:ext cx="1038758" cy="150876"/>
          </a:xfrm>
          <a:prstGeom prst="rect">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5961888" y="4394606"/>
            <a:ext cx="182880" cy="219456"/>
          </a:xfrm>
          <a:prstGeom prst="rect">
            <a:avLst/>
          </a:prstGeom>
          <a:noFill/>
        </p:spPr>
        <p:txBody>
          <a:bodyPr wrap="square" anchor="t" lIns="18288" rIns="18288" tIns="0" bIns="0">
            <a:spAutoFit/>
          </a:bodyPr>
          <a:lstStyle/>
          <a:p>
            <a:pPr algn="l">
              <a:lnSpc>
                <a:spcPct val="100000"/>
              </a:lnSpc>
            </a:pPr>
            <a:r>
              <a:rPr sz="850" b="1" i="0">
                <a:solidFill>
                  <a:srgbClr val="8A3A48"/>
                </a:solidFill>
                <a:latin typeface="Segoe UI"/>
              </a:rPr>
              <a:t>4</a:t>
            </a:r>
          </a:p>
        </p:txBody>
      </p:sp>
      <p:sp>
        <p:nvSpPr>
          <p:cNvPr id="86" name="Rectangle 85"/>
          <p:cNvSpPr/>
          <p:nvPr/>
        </p:nvSpPr>
        <p:spPr>
          <a:xfrm>
            <a:off x="6309360" y="4431182"/>
            <a:ext cx="519379"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6108192" y="4394606"/>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2</a:t>
            </a:r>
          </a:p>
        </p:txBody>
      </p:sp>
      <p:sp>
        <p:nvSpPr>
          <p:cNvPr id="88" name="TextBox 87"/>
          <p:cNvSpPr txBox="1"/>
          <p:nvPr/>
        </p:nvSpPr>
        <p:spPr>
          <a:xfrm>
            <a:off x="7863840" y="4399178"/>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One Primary must run eight sequence engines</a:t>
            </a:r>
          </a:p>
        </p:txBody>
      </p:sp>
      <p:sp>
        <p:nvSpPr>
          <p:cNvPr id="89" name="Rectangle 88"/>
          <p:cNvSpPr/>
          <p:nvPr/>
        </p:nvSpPr>
        <p:spPr>
          <a:xfrm>
            <a:off x="502920" y="4636007"/>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566928" y="4669840"/>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Storage capacity adequacy</a:t>
            </a:r>
          </a:p>
        </p:txBody>
      </p:sp>
      <p:sp>
        <p:nvSpPr>
          <p:cNvPr id="91" name="Rectangle 90"/>
          <p:cNvSpPr/>
          <p:nvPr/>
        </p:nvSpPr>
        <p:spPr>
          <a:xfrm>
            <a:off x="4877409" y="4701844"/>
            <a:ext cx="1038758" cy="150876"/>
          </a:xfrm>
          <a:prstGeom prst="rect">
            <a:avLst/>
          </a:prstGeom>
          <a:solidFill>
            <a:srgbClr val="8A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5961888" y="4665268"/>
            <a:ext cx="182880" cy="219456"/>
          </a:xfrm>
          <a:prstGeom prst="rect">
            <a:avLst/>
          </a:prstGeom>
          <a:noFill/>
        </p:spPr>
        <p:txBody>
          <a:bodyPr wrap="square" anchor="t" lIns="18288" rIns="18288" tIns="0" bIns="0">
            <a:spAutoFit/>
          </a:bodyPr>
          <a:lstStyle/>
          <a:p>
            <a:pPr algn="l">
              <a:lnSpc>
                <a:spcPct val="100000"/>
              </a:lnSpc>
            </a:pPr>
            <a:r>
              <a:rPr sz="850" b="1" i="0">
                <a:solidFill>
                  <a:srgbClr val="8A3A48"/>
                </a:solidFill>
                <a:latin typeface="Segoe UI"/>
              </a:rPr>
              <a:t>4</a:t>
            </a:r>
          </a:p>
        </p:txBody>
      </p:sp>
      <p:sp>
        <p:nvSpPr>
          <p:cNvPr id="93" name="Rectangle 92"/>
          <p:cNvSpPr/>
          <p:nvPr/>
        </p:nvSpPr>
        <p:spPr>
          <a:xfrm>
            <a:off x="6309360" y="4701844"/>
            <a:ext cx="519379"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6108192" y="4665268"/>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2</a:t>
            </a:r>
          </a:p>
        </p:txBody>
      </p:sp>
      <p:sp>
        <p:nvSpPr>
          <p:cNvPr id="95" name="TextBox 94"/>
          <p:cNvSpPr txBox="1"/>
          <p:nvPr/>
        </p:nvSpPr>
        <p:spPr>
          <a:xfrm>
            <a:off x="7863840" y="4669840"/>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Eight slots need more memory than is fitted today</a:t>
            </a:r>
          </a:p>
        </p:txBody>
      </p:sp>
      <p:sp>
        <p:nvSpPr>
          <p:cNvPr id="96" name="TextBox 95"/>
          <p:cNvSpPr txBox="1"/>
          <p:nvPr/>
        </p:nvSpPr>
        <p:spPr>
          <a:xfrm>
            <a:off x="566928" y="4940503"/>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Ease of diagnosis on the wire</a:t>
            </a:r>
          </a:p>
        </p:txBody>
      </p:sp>
      <p:sp>
        <p:nvSpPr>
          <p:cNvPr id="97" name="Rectangle 96"/>
          <p:cNvSpPr/>
          <p:nvPr/>
        </p:nvSpPr>
        <p:spPr>
          <a:xfrm>
            <a:off x="5137099" y="4972507"/>
            <a:ext cx="779068"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5961888" y="4935931"/>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3</a:t>
            </a:r>
          </a:p>
        </p:txBody>
      </p:sp>
      <p:sp>
        <p:nvSpPr>
          <p:cNvPr id="99" name="Rectangle 98"/>
          <p:cNvSpPr/>
          <p:nvPr/>
        </p:nvSpPr>
        <p:spPr>
          <a:xfrm>
            <a:off x="6309360" y="4972507"/>
            <a:ext cx="103875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6108192" y="4935931"/>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4</a:t>
            </a:r>
          </a:p>
        </p:txBody>
      </p:sp>
      <p:sp>
        <p:nvSpPr>
          <p:cNvPr id="101" name="TextBox 100"/>
          <p:cNvSpPr txBox="1"/>
          <p:nvPr/>
        </p:nvSpPr>
        <p:spPr>
          <a:xfrm>
            <a:off x="7863840" y="4940503"/>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CAN is observable with standard commercial tools</a:t>
            </a:r>
          </a:p>
        </p:txBody>
      </p:sp>
      <p:sp>
        <p:nvSpPr>
          <p:cNvPr id="102" name="Rectangle 101"/>
          <p:cNvSpPr/>
          <p:nvPr/>
        </p:nvSpPr>
        <p:spPr>
          <a:xfrm>
            <a:off x="502920" y="5177332"/>
            <a:ext cx="11183112" cy="2706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566928" y="5211165"/>
            <a:ext cx="3977639" cy="219456"/>
          </a:xfrm>
          <a:prstGeom prst="rect">
            <a:avLst/>
          </a:prstGeom>
          <a:noFill/>
        </p:spPr>
        <p:txBody>
          <a:bodyPr wrap="square" anchor="t" lIns="18288" rIns="18288" tIns="0" bIns="0">
            <a:spAutoFit/>
          </a:bodyPr>
          <a:lstStyle/>
          <a:p>
            <a:pPr algn="l">
              <a:lnSpc>
                <a:spcPct val="100000"/>
              </a:lnSpc>
            </a:pPr>
            <a:r>
              <a:rPr sz="850" b="0" i="0">
                <a:solidFill>
                  <a:srgbClr val="334155"/>
                </a:solidFill>
                <a:latin typeface="Segoe UI"/>
              </a:rPr>
              <a:t>Reuse of the existing PC application</a:t>
            </a:r>
          </a:p>
        </p:txBody>
      </p:sp>
      <p:sp>
        <p:nvSpPr>
          <p:cNvPr id="104" name="Rectangle 103"/>
          <p:cNvSpPr/>
          <p:nvPr/>
        </p:nvSpPr>
        <p:spPr>
          <a:xfrm>
            <a:off x="4617720" y="5243169"/>
            <a:ext cx="1298448"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5961888" y="5206593"/>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5</a:t>
            </a:r>
          </a:p>
        </p:txBody>
      </p:sp>
      <p:sp>
        <p:nvSpPr>
          <p:cNvPr id="106" name="Rectangle 105"/>
          <p:cNvSpPr/>
          <p:nvPr/>
        </p:nvSpPr>
        <p:spPr>
          <a:xfrm>
            <a:off x="6309360" y="5243169"/>
            <a:ext cx="1298448" cy="150876"/>
          </a:xfrm>
          <a:prstGeom prst="rect">
            <a:avLst/>
          </a:prstGeom>
          <a:solidFill>
            <a:srgbClr val="A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6108192" y="5206593"/>
            <a:ext cx="182880" cy="219456"/>
          </a:xfrm>
          <a:prstGeom prst="rect">
            <a:avLst/>
          </a:prstGeom>
          <a:noFill/>
        </p:spPr>
        <p:txBody>
          <a:bodyPr wrap="square" anchor="t" lIns="18288" rIns="18288" tIns="0" bIns="0">
            <a:spAutoFit/>
          </a:bodyPr>
          <a:lstStyle/>
          <a:p>
            <a:pPr algn="r">
              <a:lnSpc>
                <a:spcPct val="100000"/>
              </a:lnSpc>
            </a:pPr>
            <a:r>
              <a:rPr sz="850" b="1" i="0">
                <a:solidFill>
                  <a:srgbClr val="64748B"/>
                </a:solidFill>
                <a:latin typeface="Segoe UI"/>
              </a:rPr>
              <a:t>5</a:t>
            </a:r>
          </a:p>
        </p:txBody>
      </p:sp>
      <p:sp>
        <p:nvSpPr>
          <p:cNvPr id="108" name="TextBox 107"/>
          <p:cNvSpPr txBox="1"/>
          <p:nvPr/>
        </p:nvSpPr>
        <p:spPr>
          <a:xfrm>
            <a:off x="7863840" y="5211165"/>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Network interfaces preserved unchanged</a:t>
            </a:r>
          </a:p>
        </p:txBody>
      </p:sp>
      <p:sp>
        <p:nvSpPr>
          <p:cNvPr id="109" name="TextBox 108"/>
          <p:cNvSpPr txBox="1"/>
          <p:nvPr/>
        </p:nvSpPr>
        <p:spPr>
          <a:xfrm>
            <a:off x="566928" y="5481828"/>
            <a:ext cx="3977639" cy="219456"/>
          </a:xfrm>
          <a:prstGeom prst="rect">
            <a:avLst/>
          </a:prstGeom>
          <a:noFill/>
        </p:spPr>
        <p:txBody>
          <a:bodyPr wrap="square" anchor="t" lIns="18288" rIns="18288" tIns="0" bIns="0">
            <a:spAutoFit/>
          </a:bodyPr>
          <a:lstStyle/>
          <a:p>
            <a:pPr algn="l">
              <a:lnSpc>
                <a:spcPct val="100000"/>
              </a:lnSpc>
            </a:pPr>
            <a:r>
              <a:rPr sz="850" b="1" i="0">
                <a:solidFill>
                  <a:srgbClr val="334155"/>
                </a:solidFill>
                <a:latin typeface="Segoe UI"/>
              </a:rPr>
              <a:t>Reuse of existing CAN experience</a:t>
            </a:r>
          </a:p>
        </p:txBody>
      </p:sp>
      <p:sp>
        <p:nvSpPr>
          <p:cNvPr id="110" name="Rectangle 109"/>
          <p:cNvSpPr/>
          <p:nvPr/>
        </p:nvSpPr>
        <p:spPr>
          <a:xfrm>
            <a:off x="5137099" y="5513832"/>
            <a:ext cx="779068" cy="150876"/>
          </a:xfrm>
          <a:prstGeom prst="rect">
            <a:avLst/>
          </a:prstGeom>
          <a:solidFill>
            <a:srgbClr val="C0A3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5961888" y="5477256"/>
            <a:ext cx="182880" cy="219456"/>
          </a:xfrm>
          <a:prstGeom prst="rect">
            <a:avLst/>
          </a:prstGeom>
          <a:noFill/>
        </p:spPr>
        <p:txBody>
          <a:bodyPr wrap="square" anchor="t" lIns="18288" rIns="18288" tIns="0" bIns="0">
            <a:spAutoFit/>
          </a:bodyPr>
          <a:lstStyle/>
          <a:p>
            <a:pPr algn="l">
              <a:lnSpc>
                <a:spcPct val="100000"/>
              </a:lnSpc>
            </a:pPr>
            <a:r>
              <a:rPr sz="850" b="1" i="0">
                <a:solidFill>
                  <a:srgbClr val="64748B"/>
                </a:solidFill>
                <a:latin typeface="Segoe UI"/>
              </a:rPr>
              <a:t>3</a:t>
            </a:r>
          </a:p>
        </p:txBody>
      </p:sp>
      <p:sp>
        <p:nvSpPr>
          <p:cNvPr id="112" name="Rectangle 111"/>
          <p:cNvSpPr/>
          <p:nvPr/>
        </p:nvSpPr>
        <p:spPr>
          <a:xfrm>
            <a:off x="6309360" y="5513832"/>
            <a:ext cx="1038758" cy="150876"/>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6108192" y="5477256"/>
            <a:ext cx="182880" cy="219456"/>
          </a:xfrm>
          <a:prstGeom prst="rect">
            <a:avLst/>
          </a:prstGeom>
          <a:noFill/>
        </p:spPr>
        <p:txBody>
          <a:bodyPr wrap="square" anchor="t" lIns="18288" rIns="18288" tIns="0" bIns="0">
            <a:spAutoFit/>
          </a:bodyPr>
          <a:lstStyle/>
          <a:p>
            <a:pPr algn="r">
              <a:lnSpc>
                <a:spcPct val="100000"/>
              </a:lnSpc>
            </a:pPr>
            <a:r>
              <a:rPr sz="850" b="1" i="0">
                <a:solidFill>
                  <a:srgbClr val="246B4D"/>
                </a:solidFill>
                <a:latin typeface="Segoe UI"/>
              </a:rPr>
              <a:t>4</a:t>
            </a:r>
          </a:p>
        </p:txBody>
      </p:sp>
      <p:sp>
        <p:nvSpPr>
          <p:cNvPr id="114" name="TextBox 113"/>
          <p:cNvSpPr txBox="1"/>
          <p:nvPr/>
        </p:nvSpPr>
        <p:spPr>
          <a:xfrm>
            <a:off x="7863840" y="5481828"/>
            <a:ext cx="3840480" cy="219456"/>
          </a:xfrm>
          <a:prstGeom prst="rect">
            <a:avLst/>
          </a:prstGeom>
          <a:noFill/>
        </p:spPr>
        <p:txBody>
          <a:bodyPr wrap="square" anchor="t" lIns="18288" rIns="18288" tIns="0" bIns="0">
            <a:spAutoFit/>
          </a:bodyPr>
          <a:lstStyle/>
          <a:p>
            <a:pPr algn="l">
              <a:lnSpc>
                <a:spcPct val="100000"/>
              </a:lnSpc>
            </a:pPr>
            <a:r>
              <a:rPr sz="800" b="0" i="0">
                <a:solidFill>
                  <a:srgbClr val="64748B"/>
                </a:solidFill>
                <a:latin typeface="Segoe UI"/>
              </a:rPr>
              <a:t>CAN already ships on the COM controller</a:t>
            </a:r>
          </a:p>
        </p:txBody>
      </p:sp>
      <p:sp>
        <p:nvSpPr>
          <p:cNvPr id="115" name="Rounded Rectangle 114"/>
          <p:cNvSpPr/>
          <p:nvPr/>
        </p:nvSpPr>
        <p:spPr>
          <a:xfrm>
            <a:off x="502920" y="5797296"/>
            <a:ext cx="11183112" cy="640080"/>
          </a:xfrm>
          <a:prstGeom prst="roundRect">
            <a:avLst>
              <a:gd name="adj" fmla="val 1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777240" y="5879592"/>
            <a:ext cx="2377440" cy="219456"/>
          </a:xfrm>
          <a:prstGeom prst="rect">
            <a:avLst/>
          </a:prstGeom>
          <a:noFill/>
        </p:spPr>
        <p:txBody>
          <a:bodyPr wrap="square" anchor="t" lIns="18288" rIns="18288" tIns="0" bIns="0">
            <a:spAutoFit/>
          </a:bodyPr>
          <a:lstStyle/>
          <a:p>
            <a:pPr algn="l">
              <a:lnSpc>
                <a:spcPct val="100000"/>
              </a:lnSpc>
            </a:pPr>
            <a:r>
              <a:rPr sz="950" b="1" i="0">
                <a:solidFill>
                  <a:srgbClr val="7FC9C6"/>
                </a:solidFill>
                <a:latin typeface="Segoe UI"/>
              </a:rPr>
              <a:t>TOTAL  ·  16 DIMENSIONS</a:t>
            </a:r>
          </a:p>
        </p:txBody>
      </p:sp>
      <p:sp>
        <p:nvSpPr>
          <p:cNvPr id="117" name="TextBox 116"/>
          <p:cNvSpPr txBox="1"/>
          <p:nvPr/>
        </p:nvSpPr>
        <p:spPr>
          <a:xfrm>
            <a:off x="777240" y="6099048"/>
            <a:ext cx="2377440" cy="219456"/>
          </a:xfrm>
          <a:prstGeom prst="rect">
            <a:avLst/>
          </a:prstGeom>
          <a:noFill/>
        </p:spPr>
        <p:txBody>
          <a:bodyPr wrap="square" anchor="t" lIns="18288" rIns="18288" tIns="0" bIns="0">
            <a:spAutoFit/>
          </a:bodyPr>
          <a:lstStyle/>
          <a:p>
            <a:pPr algn="l">
              <a:lnSpc>
                <a:spcPct val="100000"/>
              </a:lnSpc>
            </a:pPr>
            <a:r>
              <a:rPr sz="800" b="0" i="0">
                <a:solidFill>
                  <a:srgbClr val="A8BCD2"/>
                </a:solidFill>
                <a:latin typeface="Segoe UI"/>
              </a:rPr>
              <a:t>Dimensions stronger</a:t>
            </a:r>
          </a:p>
        </p:txBody>
      </p:sp>
      <p:sp>
        <p:nvSpPr>
          <p:cNvPr id="118" name="TextBox 117"/>
          <p:cNvSpPr txBox="1"/>
          <p:nvPr/>
        </p:nvSpPr>
        <p:spPr>
          <a:xfrm>
            <a:off x="3291840" y="5861304"/>
            <a:ext cx="1005840" cy="365760"/>
          </a:xfrm>
          <a:prstGeom prst="rect">
            <a:avLst/>
          </a:prstGeom>
          <a:noFill/>
        </p:spPr>
        <p:txBody>
          <a:bodyPr wrap="square" anchor="t" lIns="18288" rIns="18288" tIns="0" bIns="0">
            <a:spAutoFit/>
          </a:bodyPr>
          <a:lstStyle/>
          <a:p>
            <a:pPr algn="ctr">
              <a:lnSpc>
                <a:spcPct val="100000"/>
              </a:lnSpc>
            </a:pPr>
            <a:r>
              <a:rPr sz="1700" b="1" i="0">
                <a:solidFill>
                  <a:srgbClr val="E8B4BC"/>
                </a:solidFill>
                <a:latin typeface="Segoe UI Light"/>
              </a:rPr>
              <a:t>50</a:t>
            </a:r>
          </a:p>
        </p:txBody>
      </p:sp>
      <p:sp>
        <p:nvSpPr>
          <p:cNvPr id="119" name="TextBox 118"/>
          <p:cNvSpPr txBox="1"/>
          <p:nvPr/>
        </p:nvSpPr>
        <p:spPr>
          <a:xfrm>
            <a:off x="3291840" y="6181344"/>
            <a:ext cx="1005840" cy="182880"/>
          </a:xfrm>
          <a:prstGeom prst="rect">
            <a:avLst/>
          </a:prstGeom>
          <a:noFill/>
        </p:spPr>
        <p:txBody>
          <a:bodyPr wrap="square" anchor="t" lIns="18288" rIns="18288" tIns="0" bIns="0">
            <a:spAutoFit/>
          </a:bodyPr>
          <a:lstStyle/>
          <a:p>
            <a:pPr algn="ctr">
              <a:lnSpc>
                <a:spcPct val="100000"/>
              </a:lnSpc>
            </a:pPr>
            <a:r>
              <a:rPr sz="750" b="0" i="0">
                <a:solidFill>
                  <a:srgbClr val="A8BCD2"/>
                </a:solidFill>
                <a:latin typeface="Segoe UI"/>
              </a:rPr>
              <a:t>OLD  ·  5</a:t>
            </a:r>
          </a:p>
        </p:txBody>
      </p:sp>
      <p:sp>
        <p:nvSpPr>
          <p:cNvPr id="120" name="TextBox 119"/>
          <p:cNvSpPr txBox="1"/>
          <p:nvPr/>
        </p:nvSpPr>
        <p:spPr>
          <a:xfrm>
            <a:off x="4480560" y="5861304"/>
            <a:ext cx="1005840" cy="365760"/>
          </a:xfrm>
          <a:prstGeom prst="rect">
            <a:avLst/>
          </a:prstGeom>
          <a:noFill/>
        </p:spPr>
        <p:txBody>
          <a:bodyPr wrap="square" anchor="t" lIns="18288" rIns="18288" tIns="0" bIns="0">
            <a:spAutoFit/>
          </a:bodyPr>
          <a:lstStyle/>
          <a:p>
            <a:pPr algn="ctr">
              <a:lnSpc>
                <a:spcPct val="100000"/>
              </a:lnSpc>
            </a:pPr>
            <a:r>
              <a:rPr sz="1700" b="1" i="0">
                <a:solidFill>
                  <a:srgbClr val="86D9B0"/>
                </a:solidFill>
                <a:latin typeface="Segoe UI Light"/>
              </a:rPr>
              <a:t>59</a:t>
            </a:r>
          </a:p>
        </p:txBody>
      </p:sp>
      <p:sp>
        <p:nvSpPr>
          <p:cNvPr id="121" name="TextBox 120"/>
          <p:cNvSpPr txBox="1"/>
          <p:nvPr/>
        </p:nvSpPr>
        <p:spPr>
          <a:xfrm>
            <a:off x="4480560" y="6181344"/>
            <a:ext cx="1005840" cy="182880"/>
          </a:xfrm>
          <a:prstGeom prst="rect">
            <a:avLst/>
          </a:prstGeom>
          <a:noFill/>
        </p:spPr>
        <p:txBody>
          <a:bodyPr wrap="square" anchor="t" lIns="18288" rIns="18288" tIns="0" bIns="0">
            <a:spAutoFit/>
          </a:bodyPr>
          <a:lstStyle/>
          <a:p>
            <a:pPr algn="ctr">
              <a:lnSpc>
                <a:spcPct val="100000"/>
              </a:lnSpc>
            </a:pPr>
            <a:r>
              <a:rPr sz="750" b="0" i="0">
                <a:solidFill>
                  <a:srgbClr val="A8BCD2"/>
                </a:solidFill>
                <a:latin typeface="Segoe UI"/>
              </a:rPr>
              <a:t>ME  ·  8</a:t>
            </a:r>
          </a:p>
        </p:txBody>
      </p:sp>
      <p:sp>
        <p:nvSpPr>
          <p:cNvPr id="122" name="Rectangle 121"/>
          <p:cNvSpPr/>
          <p:nvPr/>
        </p:nvSpPr>
        <p:spPr>
          <a:xfrm>
            <a:off x="5715000" y="5879592"/>
            <a:ext cx="18288" cy="457200"/>
          </a:xfrm>
          <a:prstGeom prst="rect">
            <a:avLst/>
          </a:prstGeom>
          <a:solidFill>
            <a:srgbClr val="3C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5943600" y="5897880"/>
            <a:ext cx="5577840" cy="457200"/>
          </a:xfrm>
          <a:prstGeom prst="rect">
            <a:avLst/>
          </a:prstGeom>
          <a:noFill/>
        </p:spPr>
        <p:txBody>
          <a:bodyPr wrap="square" anchor="t" lIns="0" rIns="0" tIns="0" bIns="0">
            <a:spAutoFit/>
          </a:bodyPr>
          <a:lstStyle/>
          <a:p>
            <a:pPr algn="l">
              <a:lnSpc>
                <a:spcPct val="105000"/>
              </a:lnSpc>
              <a:spcBef>
                <a:spcPts val="0"/>
              </a:spcBef>
            </a:pPr>
            <a:r>
              <a:rPr sz="850" b="1">
                <a:solidFill>
                  <a:srgbClr val="FFFFFF"/>
                </a:solidFill>
                <a:latin typeface="Segoe UI"/>
              </a:rPr>
              <a:t>HOW TO READ THIS FAIRLY:  ME wins decisively on cost, scalability and maintainability — the dimensions that determine product economics.</a:t>
            </a:r>
          </a:p>
          <a:p>
            <a:pPr algn="l">
              <a:lnSpc>
                <a:spcPct val="105000"/>
              </a:lnSpc>
              <a:spcBef>
                <a:spcPts val="200"/>
              </a:spcBef>
            </a:pPr>
            <a:r>
              <a:rPr sz="850" b="0">
                <a:solidFill>
                  <a:srgbClr val="C2D2E4"/>
                </a:solidFill>
                <a:latin typeface="Segoe UI"/>
              </a:rPr>
              <a:t>OLD BTS wins on fault isolation, capacity margin and processing headroom — the dimensions that determine robustness. ME is a favourable trade, not a free upgrade.</a:t>
            </a:r>
          </a:p>
        </p:txBody>
      </p:sp>
      <p:sp>
        <p:nvSpPr>
          <p:cNvPr id="124" name="Rectangle 123"/>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126" name="TextBox 125"/>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09 · RISK REGISTER</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What must be engineered to make the trade safely</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Four high risks. All four have concrete and affordable mitigations, and none is a reason to abandon the architecture.</a:t>
            </a:r>
          </a:p>
        </p:txBody>
      </p:sp>
      <p:graphicFrame>
        <p:nvGraphicFramePr>
          <p:cNvPr id="7" name="Table 6"/>
          <p:cNvGraphicFramePr>
            <a:graphicFrameLocks noGrp="1"/>
          </p:cNvGraphicFramePr>
          <p:nvPr/>
        </p:nvGraphicFramePr>
        <p:xfrm>
          <a:off x="502920" y="1207008"/>
          <a:ext cx="11183112" cy="4526280"/>
        </p:xfrm>
        <a:graphic>
          <a:graphicData uri="http://schemas.openxmlformats.org/drawingml/2006/table">
            <a:tbl>
              <a:tblPr firstRow="1">
                <a:tableStyleId>{5C22544A-7EE6-4342-B048-85BDC9FD1C3A}</a:tableStyleId>
              </a:tblPr>
              <a:tblGrid>
                <a:gridCol w="411480"/>
                <a:gridCol w="2286000"/>
                <a:gridCol w="658368"/>
                <a:gridCol w="2468880"/>
                <a:gridCol w="5358384"/>
              </a:tblGrid>
              <a:tr h="411480">
                <a:tc>
                  <a:txBody>
                    <a:bodyPr/>
                    <a:lstStyle/>
                    <a:p>
                      <a:pPr>
                        <a:lnSpc>
                          <a:spcPct val="100000"/>
                        </a:lnSpc>
                      </a:pPr>
                      <a:r>
                        <a:rPr sz="900" b="1">
                          <a:solidFill>
                            <a:srgbClr val="FFFFFF"/>
                          </a:solidFill>
                          <a:latin typeface="Segoe UI"/>
                        </a:rPr>
                        <a:t>ID</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Risk</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Sev</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Consequence</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Mitigation</a:t>
                      </a:r>
                    </a:p>
                  </a:txBody>
                  <a:tcPr marL="50292" marR="41148" marT="20116" marB="20116" anchor="ctr">
                    <a:solidFill>
                      <a:srgbClr val="1E3A5F"/>
                    </a:solidFill>
                  </a:tcPr>
                </a:tc>
              </a:tr>
              <a:tr h="411480">
                <a:tc>
                  <a:txBody>
                    <a:bodyPr/>
                    <a:lstStyle/>
                    <a:p>
                      <a:pPr algn="ctr">
                        <a:lnSpc>
                          <a:spcPct val="100000"/>
                        </a:lnSpc>
                      </a:pPr>
                      <a:r>
                        <a:rPr sz="700" b="1">
                          <a:solidFill>
                            <a:srgbClr val="9B2C35"/>
                          </a:solidFill>
                          <a:latin typeface="Segoe UI"/>
                        </a:rPr>
                        <a:t>R1</a:t>
                      </a:r>
                    </a:p>
                  </a:txBody>
                  <a:tcPr marL="50292" marR="41148" marT="20116" marB="20116" anchor="ctr">
                    <a:solidFill>
                      <a:srgbClr val="FBE9EA"/>
                    </a:solidFill>
                  </a:tcPr>
                </a:tc>
                <a:tc>
                  <a:txBody>
                    <a:bodyPr/>
                    <a:lstStyle/>
                    <a:p>
                      <a:pPr>
                        <a:lnSpc>
                          <a:spcPct val="100000"/>
                        </a:lnSpc>
                      </a:pPr>
                      <a:r>
                        <a:rPr sz="700" b="1">
                          <a:solidFill>
                            <a:srgbClr val="334155"/>
                          </a:solidFill>
                          <a:latin typeface="Segoe UI"/>
                        </a:rPr>
                        <a:t>Protection reaction could slow</a:t>
                      </a:r>
                    </a:p>
                    <a:p>
                      <a:pPr>
                        <a:lnSpc>
                          <a:spcPct val="100000"/>
                        </a:lnSpc>
                      </a:pPr>
                      <a:r>
                        <a:rPr sz="700" b="1">
                          <a:solidFill>
                            <a:srgbClr val="334155"/>
                          </a:solidFill>
                          <a:latin typeface="Segoe UI"/>
                        </a:rPr>
                        <a:t>from about 1 ms to about 10 ms</a:t>
                      </a:r>
                    </a:p>
                  </a:txBody>
                  <a:tcPr marL="50292" marR="41148" marT="20116" marB="20116" anchor="ctr">
                    <a:solidFill>
                      <a:srgbClr val="FBE9EA"/>
                    </a:solidFill>
                  </a:tcPr>
                </a:tc>
                <a:tc>
                  <a:txBody>
                    <a:bodyPr/>
                    <a:lstStyle/>
                    <a:p>
                      <a:pPr algn="ctr">
                        <a:lnSpc>
                          <a:spcPct val="100000"/>
                        </a:lnSpc>
                      </a:pPr>
                      <a:r>
                        <a:rPr sz="750" b="1">
                          <a:solidFill>
                            <a:srgbClr val="FFFFFF"/>
                          </a:solidFill>
                          <a:latin typeface="Segoe UI"/>
                        </a:rPr>
                        <a:t>HIGH</a:t>
                      </a:r>
                    </a:p>
                    <a:p>
                      <a:pPr algn="ctr">
                        <a:lnSpc>
                          <a:spcPct val="100000"/>
                        </a:lnSpc>
                      </a:pPr>
                      <a:r>
                        <a:rPr sz="750" b="1">
                          <a:solidFill>
                            <a:srgbClr val="FFFFFF"/>
                          </a:solidFill>
                          <a:latin typeface="Segoe UI"/>
                        </a:rPr>
                        <a:t>safety</a:t>
                      </a:r>
                    </a:p>
                  </a:txBody>
                  <a:tcPr marL="50292" marR="41148" marT="20116" marB="20116" anchor="ctr">
                    <a:solidFill>
                      <a:srgbClr val="9B2C35"/>
                    </a:solidFill>
                  </a:tcPr>
                </a:tc>
                <a:tc>
                  <a:txBody>
                    <a:bodyPr/>
                    <a:lstStyle/>
                    <a:p>
                      <a:pPr>
                        <a:lnSpc>
                          <a:spcPct val="100000"/>
                        </a:lnSpc>
                      </a:pPr>
                      <a:r>
                        <a:rPr sz="700" b="0">
                          <a:solidFill>
                            <a:srgbClr val="334155"/>
                          </a:solidFill>
                          <a:latin typeface="Segoe UI"/>
                        </a:rPr>
                        <a:t>ME would protect the battery more slowly than the product we ship today</a:t>
                      </a:r>
                    </a:p>
                  </a:txBody>
                  <a:tcPr marL="50292" marR="41148" marT="20116" marB="20116" anchor="ctr">
                    <a:solidFill>
                      <a:srgbClr val="FBE9EA"/>
                    </a:solidFill>
                  </a:tcPr>
                </a:tc>
                <a:tc>
                  <a:txBody>
                    <a:bodyPr/>
                    <a:lstStyle/>
                    <a:p>
                      <a:pPr>
                        <a:lnSpc>
                          <a:spcPct val="100000"/>
                        </a:lnSpc>
                      </a:pPr>
                      <a:r>
                        <a:rPr sz="700" b="0">
                          <a:solidFill>
                            <a:srgbClr val="334155"/>
                          </a:solidFill>
                          <a:latin typeface="Segoe UI"/>
                        </a:rPr>
                        <a:t>CONDITION B — keep independent local limits on every Secondary. The capability already exists and needs only to be retained. Verify on real hardware before release.</a:t>
                      </a:r>
                    </a:p>
                  </a:txBody>
                  <a:tcPr marL="50292" marR="41148" marT="20116" marB="20116" anchor="ctr">
                    <a:solidFill>
                      <a:srgbClr val="FBE9EA"/>
                    </a:solidFill>
                  </a:tcPr>
                </a:tc>
              </a:tr>
              <a:tr h="411480">
                <a:tc>
                  <a:txBody>
                    <a:bodyPr/>
                    <a:lstStyle/>
                    <a:p>
                      <a:pPr algn="ctr">
                        <a:lnSpc>
                          <a:spcPct val="100000"/>
                        </a:lnSpc>
                      </a:pPr>
                      <a:r>
                        <a:rPr sz="700" b="1">
                          <a:solidFill>
                            <a:srgbClr val="9B2C35"/>
                          </a:solidFill>
                          <a:latin typeface="Segoe UI"/>
                        </a:rPr>
                        <a:t>R2</a:t>
                      </a:r>
                    </a:p>
                  </a:txBody>
                  <a:tcPr marL="50292" marR="41148" marT="20116" marB="20116" anchor="ctr">
                    <a:solidFill>
                      <a:srgbClr val="FBE9EA"/>
                    </a:solidFill>
                  </a:tcPr>
                </a:tc>
                <a:tc>
                  <a:txBody>
                    <a:bodyPr/>
                    <a:lstStyle/>
                    <a:p>
                      <a:pPr>
                        <a:lnSpc>
                          <a:spcPct val="100000"/>
                        </a:lnSpc>
                      </a:pPr>
                      <a:r>
                        <a:rPr sz="700" b="1">
                          <a:solidFill>
                            <a:srgbClr val="334155"/>
                          </a:solidFill>
                          <a:latin typeface="Segoe UI"/>
                        </a:rPr>
                        <a:t>A single Primary fault now</a:t>
                      </a:r>
                    </a:p>
                    <a:p>
                      <a:pPr>
                        <a:lnSpc>
                          <a:spcPct val="100000"/>
                        </a:lnSpc>
                      </a:pPr>
                      <a:r>
                        <a:rPr sz="700" b="1">
                          <a:solidFill>
                            <a:srgbClr val="334155"/>
                          </a:solidFill>
                          <a:latin typeface="Segoe UI"/>
                        </a:rPr>
                        <a:t>affects eight channels</a:t>
                      </a:r>
                    </a:p>
                  </a:txBody>
                  <a:tcPr marL="50292" marR="41148" marT="20116" marB="20116" anchor="ctr">
                    <a:solidFill>
                      <a:srgbClr val="FBE9EA"/>
                    </a:solidFill>
                  </a:tcPr>
                </a:tc>
                <a:tc>
                  <a:txBody>
                    <a:bodyPr/>
                    <a:lstStyle/>
                    <a:p>
                      <a:pPr algn="ctr">
                        <a:lnSpc>
                          <a:spcPct val="100000"/>
                        </a:lnSpc>
                      </a:pPr>
                      <a:r>
                        <a:rPr sz="750" b="1">
                          <a:solidFill>
                            <a:srgbClr val="FFFFFF"/>
                          </a:solidFill>
                          <a:latin typeface="Segoe UI"/>
                        </a:rPr>
                        <a:t>HIGH</a:t>
                      </a:r>
                    </a:p>
                  </a:txBody>
                  <a:tcPr marL="50292" marR="41148" marT="20116" marB="20116" anchor="ctr">
                    <a:solidFill>
                      <a:srgbClr val="9B2C35"/>
                    </a:solidFill>
                  </a:tcPr>
                </a:tc>
                <a:tc>
                  <a:txBody>
                    <a:bodyPr/>
                    <a:lstStyle/>
                    <a:p>
                      <a:pPr>
                        <a:lnSpc>
                          <a:spcPct val="100000"/>
                        </a:lnSpc>
                      </a:pPr>
                      <a:r>
                        <a:rPr sz="700" b="0">
                          <a:solidFill>
                            <a:srgbClr val="334155"/>
                          </a:solidFill>
                          <a:latin typeface="Segoe UI"/>
                        </a:rPr>
                        <a:t>Eight batteries could be left in an undefined state by one failure</a:t>
                      </a:r>
                    </a:p>
                  </a:txBody>
                  <a:tcPr marL="50292" marR="41148" marT="20116" marB="20116" anchor="ctr">
                    <a:solidFill>
                      <a:srgbClr val="FBE9EA"/>
                    </a:solidFill>
                  </a:tcPr>
                </a:tc>
                <a:tc>
                  <a:txBody>
                    <a:bodyPr/>
                    <a:lstStyle/>
                    <a:p>
                      <a:pPr>
                        <a:lnSpc>
                          <a:spcPct val="100000"/>
                        </a:lnSpc>
                      </a:pPr>
                      <a:r>
                        <a:rPr sz="700" b="0">
                          <a:solidFill>
                            <a:srgbClr val="334155"/>
                          </a:solidFill>
                          <a:latin typeface="Segoe UI"/>
                        </a:rPr>
                        <a:t>Each Secondary must fail safe when the bus goes quiet — no message within a set time means ramp the drive to zero. Add watchdog coverage on both boards. Fix the known memory-write fault before it serves eight channels.</a:t>
                      </a:r>
                    </a:p>
                  </a:txBody>
                  <a:tcPr marL="50292" marR="41148" marT="20116" marB="20116" anchor="ctr">
                    <a:solidFill>
                      <a:srgbClr val="FBE9EA"/>
                    </a:solidFill>
                  </a:tcPr>
                </a:tc>
              </a:tr>
              <a:tr h="411480">
                <a:tc>
                  <a:txBody>
                    <a:bodyPr/>
                    <a:lstStyle/>
                    <a:p>
                      <a:pPr algn="ctr">
                        <a:lnSpc>
                          <a:spcPct val="100000"/>
                        </a:lnSpc>
                      </a:pPr>
                      <a:r>
                        <a:rPr sz="700" b="1">
                          <a:solidFill>
                            <a:srgbClr val="9B2C35"/>
                          </a:solidFill>
                          <a:latin typeface="Segoe UI"/>
                        </a:rPr>
                        <a:t>R3</a:t>
                      </a:r>
                    </a:p>
                  </a:txBody>
                  <a:tcPr marL="50292" marR="41148" marT="20116" marB="20116" anchor="ctr">
                    <a:solidFill>
                      <a:srgbClr val="FBE9EA"/>
                    </a:solidFill>
                  </a:tcPr>
                </a:tc>
                <a:tc>
                  <a:txBody>
                    <a:bodyPr/>
                    <a:lstStyle/>
                    <a:p>
                      <a:pPr>
                        <a:lnSpc>
                          <a:spcPct val="100000"/>
                        </a:lnSpc>
                      </a:pPr>
                      <a:r>
                        <a:rPr sz="700" b="1">
                          <a:solidFill>
                            <a:srgbClr val="334155"/>
                          </a:solidFill>
                          <a:latin typeface="Segoe UI"/>
                        </a:rPr>
                        <a:t>Standard CAN cannot meet the</a:t>
                      </a:r>
                    </a:p>
                    <a:p>
                      <a:pPr>
                        <a:lnSpc>
                          <a:spcPct val="100000"/>
                        </a:lnSpc>
                      </a:pPr>
                      <a:r>
                        <a:rPr sz="700" b="1">
                          <a:solidFill>
                            <a:srgbClr val="334155"/>
                          </a:solidFill>
                          <a:latin typeface="Segoe UI"/>
                        </a:rPr>
                        <a:t>1 ms requirement — 200 % load at</a:t>
                      </a:r>
                    </a:p>
                    <a:p>
                      <a:pPr>
                        <a:lnSpc>
                          <a:spcPct val="100000"/>
                        </a:lnSpc>
                      </a:pPr>
                      <a:r>
                        <a:rPr sz="700" b="1">
                          <a:solidFill>
                            <a:srgbClr val="334155"/>
                          </a:solidFill>
                          <a:latin typeface="Segoe UI"/>
                        </a:rPr>
                        <a:t>500 kbit/s, over 100 % even at 1 Mbit/s</a:t>
                      </a:r>
                    </a:p>
                  </a:txBody>
                  <a:tcPr marL="50292" marR="41148" marT="20116" marB="20116" anchor="ctr">
                    <a:solidFill>
                      <a:srgbClr val="FBE9EA"/>
                    </a:solidFill>
                  </a:tcPr>
                </a:tc>
                <a:tc>
                  <a:txBody>
                    <a:bodyPr/>
                    <a:lstStyle/>
                    <a:p>
                      <a:pPr algn="ctr">
                        <a:lnSpc>
                          <a:spcPct val="100000"/>
                        </a:lnSpc>
                      </a:pPr>
                      <a:r>
                        <a:rPr sz="750" b="1">
                          <a:solidFill>
                            <a:srgbClr val="FFFFFF"/>
                          </a:solidFill>
                          <a:latin typeface="Segoe UI"/>
                        </a:rPr>
                        <a:t>HIGH</a:t>
                      </a:r>
                    </a:p>
                  </a:txBody>
                  <a:tcPr marL="50292" marR="41148" marT="20116" marB="20116" anchor="ctr">
                    <a:solidFill>
                      <a:srgbClr val="9B2C35"/>
                    </a:solidFill>
                  </a:tcPr>
                </a:tc>
                <a:tc>
                  <a:txBody>
                    <a:bodyPr/>
                    <a:lstStyle/>
                    <a:p>
                      <a:pPr>
                        <a:lnSpc>
                          <a:spcPct val="100000"/>
                        </a:lnSpc>
                      </a:pPr>
                      <a:r>
                        <a:rPr sz="700" b="0">
                          <a:solidFill>
                            <a:srgbClr val="334155"/>
                          </a:solidFill>
                          <a:latin typeface="Segoe UI"/>
                        </a:rPr>
                        <a:t>The headline requirement of the design would not be achievable</a:t>
                      </a:r>
                    </a:p>
                  </a:txBody>
                  <a:tcPr marL="50292" marR="41148" marT="20116" marB="20116" anchor="ctr">
                    <a:solidFill>
                      <a:srgbClr val="FBE9EA"/>
                    </a:solidFill>
                  </a:tcPr>
                </a:tc>
                <a:tc>
                  <a:txBody>
                    <a:bodyPr/>
                    <a:lstStyle/>
                    <a:p>
                      <a:pPr>
                        <a:lnSpc>
                          <a:spcPct val="100000"/>
                        </a:lnSpc>
                      </a:pPr>
                      <a:r>
                        <a:rPr sz="700" b="0">
                          <a:solidFill>
                            <a:srgbClr val="334155"/>
                          </a:solidFill>
                          <a:latin typeface="Segoe UI"/>
                        </a:rPr>
                        <a:t>CONDITION C — specify CAN FD and group the readings from the outset. Settle before hardware design begins. Alternatively confirm that 2 ms resolution is acceptable, making standard 1 Mbit/s CAN viable at about 50 % load.</a:t>
                      </a:r>
                    </a:p>
                  </a:txBody>
                  <a:tcPr marL="50292" marR="41148" marT="20116" marB="20116" anchor="ctr">
                    <a:solidFill>
                      <a:srgbClr val="FBE9EA"/>
                    </a:solidFill>
                  </a:tcPr>
                </a:tc>
              </a:tr>
              <a:tr h="411480">
                <a:tc>
                  <a:txBody>
                    <a:bodyPr/>
                    <a:lstStyle/>
                    <a:p>
                      <a:pPr algn="ctr">
                        <a:lnSpc>
                          <a:spcPct val="100000"/>
                        </a:lnSpc>
                      </a:pPr>
                      <a:r>
                        <a:rPr sz="700" b="1">
                          <a:solidFill>
                            <a:srgbClr val="9B2C35"/>
                          </a:solidFill>
                          <a:latin typeface="Segoe UI"/>
                        </a:rPr>
                        <a:t>R3a</a:t>
                      </a:r>
                    </a:p>
                  </a:txBody>
                  <a:tcPr marL="50292" marR="41148" marT="20116" marB="20116" anchor="ctr">
                    <a:solidFill>
                      <a:srgbClr val="FBE9EA"/>
                    </a:solidFill>
                  </a:tcPr>
                </a:tc>
                <a:tc>
                  <a:txBody>
                    <a:bodyPr/>
                    <a:lstStyle/>
                    <a:p>
                      <a:pPr>
                        <a:lnSpc>
                          <a:spcPct val="100000"/>
                        </a:lnSpc>
                      </a:pPr>
                      <a:r>
                        <a:rPr sz="700" b="1">
                          <a:solidFill>
                            <a:srgbClr val="334155"/>
                          </a:solidFill>
                          <a:latin typeface="Segoe UI"/>
                        </a:rPr>
                        <a:t>Burst congestion starves the</a:t>
                      </a:r>
                    </a:p>
                    <a:p>
                      <a:pPr>
                        <a:lnSpc>
                          <a:spcPct val="100000"/>
                        </a:lnSpc>
                      </a:pPr>
                      <a:r>
                        <a:rPr sz="700" b="1">
                          <a:solidFill>
                            <a:srgbClr val="334155"/>
                          </a:solidFill>
                          <a:latin typeface="Segoe UI"/>
                        </a:rPr>
                        <a:t>lowest-priority node</a:t>
                      </a:r>
                    </a:p>
                  </a:txBody>
                  <a:tcPr marL="50292" marR="41148" marT="20116" marB="20116" anchor="ctr">
                    <a:solidFill>
                      <a:srgbClr val="FBE9EA"/>
                    </a:solidFill>
                  </a:tcPr>
                </a:tc>
                <a:tc>
                  <a:txBody>
                    <a:bodyPr/>
                    <a:lstStyle/>
                    <a:p>
                      <a:pPr algn="ctr">
                        <a:lnSpc>
                          <a:spcPct val="100000"/>
                        </a:lnSpc>
                      </a:pPr>
                      <a:r>
                        <a:rPr sz="750" b="1">
                          <a:solidFill>
                            <a:srgbClr val="FFFFFF"/>
                          </a:solidFill>
                          <a:latin typeface="Segoe UI"/>
                        </a:rPr>
                        <a:t>HIGH</a:t>
                      </a:r>
                    </a:p>
                  </a:txBody>
                  <a:tcPr marL="50292" marR="41148" marT="20116" marB="20116" anchor="ctr">
                    <a:solidFill>
                      <a:srgbClr val="9B2C35"/>
                    </a:solidFill>
                  </a:tcPr>
                </a:tc>
                <a:tc>
                  <a:txBody>
                    <a:bodyPr/>
                    <a:lstStyle/>
                    <a:p>
                      <a:pPr>
                        <a:lnSpc>
                          <a:spcPct val="100000"/>
                        </a:lnSpc>
                      </a:pPr>
                      <a:r>
                        <a:rPr sz="700" b="0">
                          <a:solidFill>
                            <a:srgbClr val="334155"/>
                          </a:solidFill>
                          <a:latin typeface="Segoe UI"/>
                        </a:rPr>
                        <a:t>One test channel would silently record less data than the other seven — an unfair failure that is easy to miss in testing</a:t>
                      </a:r>
                    </a:p>
                  </a:txBody>
                  <a:tcPr marL="50292" marR="41148" marT="20116" marB="20116" anchor="ctr">
                    <a:solidFill>
                      <a:srgbClr val="FBE9EA"/>
                    </a:solidFill>
                  </a:tcPr>
                </a:tc>
                <a:tc>
                  <a:txBody>
                    <a:bodyPr/>
                    <a:lstStyle/>
                    <a:p>
                      <a:pPr>
                        <a:lnSpc>
                          <a:spcPct val="100000"/>
                        </a:lnSpc>
                      </a:pPr>
                      <a:r>
                        <a:rPr sz="700" b="0">
                          <a:solidFill>
                            <a:srgbClr val="334155"/>
                          </a:solidFill>
                          <a:latin typeface="Segoe UI"/>
                        </a:rPr>
                        <a:t>Group the readings so each Secondary transmits once every 8 ms instead of eight times, and stagger the transmit timers with a fixed per-node offset. Verify by measuring per-channel message loss on real hardware.</a:t>
                      </a:r>
                    </a:p>
                  </a:txBody>
                  <a:tcPr marL="50292" marR="41148" marT="20116" marB="20116" anchor="ctr">
                    <a:solidFill>
                      <a:srgbClr val="FBE9EA"/>
                    </a:solidFill>
                  </a:tcPr>
                </a:tc>
              </a:tr>
              <a:tr h="411480">
                <a:tc>
                  <a:txBody>
                    <a:bodyPr/>
                    <a:lstStyle/>
                    <a:p>
                      <a:pPr algn="ctr">
                        <a:lnSpc>
                          <a:spcPct val="100000"/>
                        </a:lnSpc>
                      </a:pPr>
                      <a:r>
                        <a:rPr sz="700" b="1">
                          <a:solidFill>
                            <a:srgbClr val="B47A14"/>
                          </a:solidFill>
                          <a:latin typeface="Segoe UI"/>
                        </a:rPr>
                        <a:t>R4</a:t>
                      </a:r>
                    </a:p>
                  </a:txBody>
                  <a:tcPr marL="50292" marR="41148" marT="20116" marB="20116" anchor="ctr">
                    <a:solidFill>
                      <a:srgbClr val="FDF3DF"/>
                    </a:solidFill>
                  </a:tcPr>
                </a:tc>
                <a:tc>
                  <a:txBody>
                    <a:bodyPr/>
                    <a:lstStyle/>
                    <a:p>
                      <a:pPr>
                        <a:lnSpc>
                          <a:spcPct val="100000"/>
                        </a:lnSpc>
                      </a:pPr>
                      <a:r>
                        <a:rPr sz="700" b="1">
                          <a:solidFill>
                            <a:srgbClr val="334155"/>
                          </a:solidFill>
                          <a:latin typeface="Segoe UI"/>
                        </a:rPr>
                        <a:t>Bus capacity could still be</a:t>
                      </a:r>
                    </a:p>
                    <a:p>
                      <a:pPr>
                        <a:lnSpc>
                          <a:spcPct val="100000"/>
                        </a:lnSpc>
                      </a:pPr>
                      <a:r>
                        <a:rPr sz="700" b="1">
                          <a:solidFill>
                            <a:srgbClr val="334155"/>
                          </a:solidFill>
                          <a:latin typeface="Segoe UI"/>
                        </a:rPr>
                        <a:t>exhausted as rates grow</a:t>
                      </a:r>
                    </a:p>
                  </a:txBody>
                  <a:tcPr marL="50292" marR="41148" marT="20116" marB="20116" anchor="ctr">
                    <a:solidFill>
                      <a:srgbClr val="FFFFFF"/>
                    </a:solidFill>
                  </a:tcPr>
                </a:tc>
                <a:tc>
                  <a:txBody>
                    <a:bodyPr/>
                    <a:lstStyle/>
                    <a:p>
                      <a:pPr algn="ctr">
                        <a:lnSpc>
                          <a:spcPct val="100000"/>
                        </a:lnSpc>
                      </a:pPr>
                      <a:r>
                        <a:rPr sz="750" b="1">
                          <a:solidFill>
                            <a:srgbClr val="FFFFFF"/>
                          </a:solidFill>
                          <a:latin typeface="Segoe UI"/>
                        </a:rPr>
                        <a:t>MED</a:t>
                      </a:r>
                    </a:p>
                  </a:txBody>
                  <a:tcPr marL="50292" marR="41148" marT="20116" marB="20116" anchor="ctr">
                    <a:solidFill>
                      <a:srgbClr val="B47A14"/>
                    </a:solidFill>
                  </a:tcPr>
                </a:tc>
                <a:tc>
                  <a:txBody>
                    <a:bodyPr/>
                    <a:lstStyle/>
                    <a:p>
                      <a:pPr>
                        <a:lnSpc>
                          <a:spcPct val="100000"/>
                        </a:lnSpc>
                      </a:pPr>
                      <a:r>
                        <a:rPr sz="700" b="0">
                          <a:solidFill>
                            <a:srgbClr val="334155"/>
                          </a:solidFill>
                          <a:latin typeface="Segoe UI"/>
                        </a:rPr>
                        <a:t>Lost readings and uneven cutoff timing</a:t>
                      </a:r>
                    </a:p>
                  </a:txBody>
                  <a:tcPr marL="50292" marR="41148" marT="20116" marB="20116" anchor="ctr">
                    <a:solidFill>
                      <a:srgbClr val="FFFFFF"/>
                    </a:solidFill>
                  </a:tcPr>
                </a:tc>
                <a:tc>
                  <a:txBody>
                    <a:bodyPr/>
                    <a:lstStyle/>
                    <a:p>
                      <a:pPr>
                        <a:lnSpc>
                          <a:spcPct val="100000"/>
                        </a:lnSpc>
                      </a:pPr>
                      <a:r>
                        <a:rPr sz="700" b="0">
                          <a:solidFill>
                            <a:srgbClr val="334155"/>
                          </a:solidFill>
                          <a:latin typeface="Segoe UI"/>
                        </a:rPr>
                        <a:t>Produce a formal capacity budget at design freeze, targeting utilisation below 70 %. Rank safety and fault messages above routine traffic. Measure and report actual bus load in firmware.</a:t>
                      </a:r>
                    </a:p>
                  </a:txBody>
                  <a:tcPr marL="50292" marR="41148" marT="20116" marB="20116" anchor="ctr">
                    <a:solidFill>
                      <a:srgbClr val="FFFFFF"/>
                    </a:solidFill>
                  </a:tcPr>
                </a:tc>
              </a:tr>
              <a:tr h="411480">
                <a:tc>
                  <a:txBody>
                    <a:bodyPr/>
                    <a:lstStyle/>
                    <a:p>
                      <a:pPr algn="ctr">
                        <a:lnSpc>
                          <a:spcPct val="100000"/>
                        </a:lnSpc>
                      </a:pPr>
                      <a:r>
                        <a:rPr sz="700" b="1">
                          <a:solidFill>
                            <a:srgbClr val="B47A14"/>
                          </a:solidFill>
                          <a:latin typeface="Segoe UI"/>
                        </a:rPr>
                        <a:t>R5</a:t>
                      </a:r>
                    </a:p>
                  </a:txBody>
                  <a:tcPr marL="50292" marR="41148" marT="20116" marB="20116" anchor="ctr">
                    <a:solidFill>
                      <a:srgbClr val="FDF3DF"/>
                    </a:solidFill>
                  </a:tcPr>
                </a:tc>
                <a:tc>
                  <a:txBody>
                    <a:bodyPr/>
                    <a:lstStyle/>
                    <a:p>
                      <a:pPr>
                        <a:lnSpc>
                          <a:spcPct val="100000"/>
                        </a:lnSpc>
                      </a:pPr>
                      <a:r>
                        <a:rPr sz="700" b="1">
                          <a:solidFill>
                            <a:srgbClr val="334155"/>
                          </a:solidFill>
                          <a:latin typeface="Segoe UI"/>
                        </a:rPr>
                        <a:t>The Primary may lack processing</a:t>
                      </a:r>
                    </a:p>
                    <a:p>
                      <a:pPr>
                        <a:lnSpc>
                          <a:spcPct val="100000"/>
                        </a:lnSpc>
                      </a:pPr>
                      <a:r>
                        <a:rPr sz="700" b="1">
                          <a:solidFill>
                            <a:srgbClr val="334155"/>
                          </a:solidFill>
                          <a:latin typeface="Segoe UI"/>
                        </a:rPr>
                        <a:t>capacity for eight engines</a:t>
                      </a:r>
                    </a:p>
                  </a:txBody>
                  <a:tcPr marL="50292" marR="41148" marT="20116" marB="20116" anchor="ctr">
                    <a:solidFill>
                      <a:srgbClr val="F6F8FB"/>
                    </a:solidFill>
                  </a:tcPr>
                </a:tc>
                <a:tc>
                  <a:txBody>
                    <a:bodyPr/>
                    <a:lstStyle/>
                    <a:p>
                      <a:pPr algn="ctr">
                        <a:lnSpc>
                          <a:spcPct val="100000"/>
                        </a:lnSpc>
                      </a:pPr>
                      <a:r>
                        <a:rPr sz="750" b="1">
                          <a:solidFill>
                            <a:srgbClr val="FFFFFF"/>
                          </a:solidFill>
                          <a:latin typeface="Segoe UI"/>
                        </a:rPr>
                        <a:t>MED</a:t>
                      </a:r>
                    </a:p>
                  </a:txBody>
                  <a:tcPr marL="50292" marR="41148" marT="20116" marB="20116" anchor="ctr">
                    <a:solidFill>
                      <a:srgbClr val="B47A14"/>
                    </a:solidFill>
                  </a:tcPr>
                </a:tc>
                <a:tc>
                  <a:txBody>
                    <a:bodyPr/>
                    <a:lstStyle/>
                    <a:p>
                      <a:pPr>
                        <a:lnSpc>
                          <a:spcPct val="100000"/>
                        </a:lnSpc>
                      </a:pPr>
                      <a:r>
                        <a:rPr sz="700" b="0">
                          <a:solidFill>
                            <a:srgbClr val="334155"/>
                          </a:solidFill>
                          <a:latin typeface="Segoe UI"/>
                        </a:rPr>
                        <a:t>Late discovery would force a redesign or a change of processor</a:t>
                      </a:r>
                    </a:p>
                  </a:txBody>
                  <a:tcPr marL="50292" marR="41148" marT="20116" marB="20116" anchor="ctr">
                    <a:solidFill>
                      <a:srgbClr val="F6F8FB"/>
                    </a:solidFill>
                  </a:tcPr>
                </a:tc>
                <a:tc>
                  <a:txBody>
                    <a:bodyPr/>
                    <a:lstStyle/>
                    <a:p>
                      <a:pPr>
                        <a:lnSpc>
                          <a:spcPct val="100000"/>
                        </a:lnSpc>
                      </a:pPr>
                      <a:r>
                        <a:rPr sz="700" b="0">
                          <a:solidFill>
                            <a:srgbClr val="334155"/>
                          </a:solidFill>
                          <a:latin typeface="Segoe UI"/>
                        </a:rPr>
                        <a:t>Carry out a load study before design freeze: run eight concurrent sequence engines with eight cutoff evaluators and eight measurement streams, then measure.</a:t>
                      </a:r>
                    </a:p>
                  </a:txBody>
                  <a:tcPr marL="50292" marR="41148" marT="20116" marB="20116" anchor="ctr">
                    <a:solidFill>
                      <a:srgbClr val="F6F8FB"/>
                    </a:solidFill>
                  </a:tcPr>
                </a:tc>
              </a:tr>
              <a:tr h="411480">
                <a:tc>
                  <a:txBody>
                    <a:bodyPr/>
                    <a:lstStyle/>
                    <a:p>
                      <a:pPr algn="ctr">
                        <a:lnSpc>
                          <a:spcPct val="100000"/>
                        </a:lnSpc>
                      </a:pPr>
                      <a:r>
                        <a:rPr sz="700" b="1">
                          <a:solidFill>
                            <a:srgbClr val="B47A14"/>
                          </a:solidFill>
                          <a:latin typeface="Segoe UI"/>
                        </a:rPr>
                        <a:t>R6</a:t>
                      </a:r>
                    </a:p>
                  </a:txBody>
                  <a:tcPr marL="50292" marR="41148" marT="20116" marB="20116" anchor="ctr">
                    <a:solidFill>
                      <a:srgbClr val="FDF3DF"/>
                    </a:solidFill>
                  </a:tcPr>
                </a:tc>
                <a:tc>
                  <a:txBody>
                    <a:bodyPr/>
                    <a:lstStyle/>
                    <a:p>
                      <a:pPr>
                        <a:lnSpc>
                          <a:spcPct val="100000"/>
                        </a:lnSpc>
                      </a:pPr>
                      <a:r>
                        <a:rPr sz="700" b="1">
                          <a:solidFill>
                            <a:srgbClr val="334155"/>
                          </a:solidFill>
                          <a:latin typeface="Segoe UI"/>
                        </a:rPr>
                        <a:t>Storage memory may be</a:t>
                      </a:r>
                    </a:p>
                    <a:p>
                      <a:pPr>
                        <a:lnSpc>
                          <a:spcPct val="100000"/>
                        </a:lnSpc>
                      </a:pPr>
                      <a:r>
                        <a:rPr sz="700" b="1">
                          <a:solidFill>
                            <a:srgbClr val="334155"/>
                          </a:solidFill>
                          <a:latin typeface="Segoe UI"/>
                        </a:rPr>
                        <a:t>undersized for eight programmes</a:t>
                      </a:r>
                    </a:p>
                  </a:txBody>
                  <a:tcPr marL="50292" marR="41148" marT="20116" marB="20116" anchor="ctr">
                    <a:solidFill>
                      <a:srgbClr val="FFFFFF"/>
                    </a:solidFill>
                  </a:tcPr>
                </a:tc>
                <a:tc>
                  <a:txBody>
                    <a:bodyPr/>
                    <a:lstStyle/>
                    <a:p>
                      <a:pPr algn="ctr">
                        <a:lnSpc>
                          <a:spcPct val="100000"/>
                        </a:lnSpc>
                      </a:pPr>
                      <a:r>
                        <a:rPr sz="750" b="1">
                          <a:solidFill>
                            <a:srgbClr val="FFFFFF"/>
                          </a:solidFill>
                          <a:latin typeface="Segoe UI"/>
                        </a:rPr>
                        <a:t>MED</a:t>
                      </a:r>
                    </a:p>
                  </a:txBody>
                  <a:tcPr marL="50292" marR="41148" marT="20116" marB="20116" anchor="ctr">
                    <a:solidFill>
                      <a:srgbClr val="B47A14"/>
                    </a:solidFill>
                  </a:tcPr>
                </a:tc>
                <a:tc>
                  <a:txBody>
                    <a:bodyPr/>
                    <a:lstStyle/>
                    <a:p>
                      <a:pPr>
                        <a:lnSpc>
                          <a:spcPct val="100000"/>
                        </a:lnSpc>
                      </a:pPr>
                      <a:r>
                        <a:rPr sz="700" b="0">
                          <a:solidFill>
                            <a:srgbClr val="334155"/>
                          </a:solidFill>
                          <a:latin typeface="Segoe UI"/>
                        </a:rPr>
                        <a:t>Eight full-size sequences could not be stored</a:t>
                      </a:r>
                    </a:p>
                  </a:txBody>
                  <a:tcPr marL="50292" marR="41148" marT="20116" marB="20116" anchor="ctr">
                    <a:solidFill>
                      <a:srgbClr val="FFFFFF"/>
                    </a:solidFill>
                  </a:tcPr>
                </a:tc>
                <a:tc>
                  <a:txBody>
                    <a:bodyPr/>
                    <a:lstStyle/>
                    <a:p>
                      <a:pPr>
                        <a:lnSpc>
                          <a:spcPct val="100000"/>
                        </a:lnSpc>
                      </a:pPr>
                      <a:r>
                        <a:rPr sz="700" b="0">
                          <a:solidFill>
                            <a:srgbClr val="334155"/>
                          </a:solidFill>
                          <a:latin typeface="Segoe UI"/>
                        </a:rPr>
                        <a:t>Measure real customer programme sizes, then either set a limit per slot or specify a larger device. Decide before board layout.</a:t>
                      </a:r>
                    </a:p>
                  </a:txBody>
                  <a:tcPr marL="50292" marR="41148" marT="20116" marB="20116" anchor="ctr">
                    <a:solidFill>
                      <a:srgbClr val="FFFFFF"/>
                    </a:solidFill>
                  </a:tcPr>
                </a:tc>
              </a:tr>
              <a:tr h="411480">
                <a:tc>
                  <a:txBody>
                    <a:bodyPr/>
                    <a:lstStyle/>
                    <a:p>
                      <a:pPr algn="ctr">
                        <a:lnSpc>
                          <a:spcPct val="100000"/>
                        </a:lnSpc>
                      </a:pPr>
                      <a:r>
                        <a:rPr sz="700" b="1">
                          <a:solidFill>
                            <a:srgbClr val="B47A14"/>
                          </a:solidFill>
                          <a:latin typeface="Segoe UI"/>
                        </a:rPr>
                        <a:t>R7</a:t>
                      </a:r>
                    </a:p>
                  </a:txBody>
                  <a:tcPr marL="50292" marR="41148" marT="20116" marB="20116" anchor="ctr">
                    <a:solidFill>
                      <a:srgbClr val="FDF3DF"/>
                    </a:solidFill>
                  </a:tcPr>
                </a:tc>
                <a:tc>
                  <a:txBody>
                    <a:bodyPr/>
                    <a:lstStyle/>
                    <a:p>
                      <a:pPr>
                        <a:lnSpc>
                          <a:spcPct val="100000"/>
                        </a:lnSpc>
                      </a:pPr>
                      <a:r>
                        <a:rPr sz="700" b="1">
                          <a:solidFill>
                            <a:srgbClr val="334155"/>
                          </a:solidFill>
                          <a:latin typeface="Segoe UI"/>
                        </a:rPr>
                        <a:t>The CAN hardware route on the</a:t>
                      </a:r>
                    </a:p>
                    <a:p>
                      <a:pPr>
                        <a:lnSpc>
                          <a:spcPct val="100000"/>
                        </a:lnSpc>
                      </a:pPr>
                      <a:r>
                        <a:rPr sz="700" b="1">
                          <a:solidFill>
                            <a:srgbClr val="334155"/>
                          </a:solidFill>
                          <a:latin typeface="Segoe UI"/>
                        </a:rPr>
                        <a:t>Primary is not yet decided</a:t>
                      </a:r>
                    </a:p>
                  </a:txBody>
                  <a:tcPr marL="50292" marR="41148" marT="20116" marB="20116" anchor="ctr">
                    <a:solidFill>
                      <a:srgbClr val="F6F8FB"/>
                    </a:solidFill>
                  </a:tcPr>
                </a:tc>
                <a:tc>
                  <a:txBody>
                    <a:bodyPr/>
                    <a:lstStyle/>
                    <a:p>
                      <a:pPr algn="ctr">
                        <a:lnSpc>
                          <a:spcPct val="100000"/>
                        </a:lnSpc>
                      </a:pPr>
                      <a:r>
                        <a:rPr sz="750" b="1">
                          <a:solidFill>
                            <a:srgbClr val="FFFFFF"/>
                          </a:solidFill>
                          <a:latin typeface="Segoe UI"/>
                        </a:rPr>
                        <a:t>MED</a:t>
                      </a:r>
                    </a:p>
                  </a:txBody>
                  <a:tcPr marL="50292" marR="41148" marT="20116" marB="20116" anchor="ctr">
                    <a:solidFill>
                      <a:srgbClr val="B47A14"/>
                    </a:solidFill>
                  </a:tcPr>
                </a:tc>
                <a:tc>
                  <a:txBody>
                    <a:bodyPr/>
                    <a:lstStyle/>
                    <a:p>
                      <a:pPr>
                        <a:lnSpc>
                          <a:spcPct val="100000"/>
                        </a:lnSpc>
                      </a:pPr>
                      <a:r>
                        <a:rPr sz="700" b="0">
                          <a:solidFill>
                            <a:srgbClr val="334155"/>
                          </a:solidFill>
                          <a:latin typeface="Segoe UI"/>
                        </a:rPr>
                        <a:t>Schematic work cannot begin</a:t>
                      </a:r>
                    </a:p>
                  </a:txBody>
                  <a:tcPr marL="50292" marR="41148" marT="20116" marB="20116" anchor="ctr">
                    <a:solidFill>
                      <a:srgbClr val="F6F8FB"/>
                    </a:solidFill>
                  </a:tcPr>
                </a:tc>
                <a:tc>
                  <a:txBody>
                    <a:bodyPr/>
                    <a:lstStyle/>
                    <a:p>
                      <a:pPr>
                        <a:lnSpc>
                          <a:spcPct val="100000"/>
                        </a:lnSpc>
                      </a:pPr>
                      <a:r>
                        <a:rPr sz="700" b="0">
                          <a:solidFill>
                            <a:srgbClr val="334155"/>
                          </a:solidFill>
                          <a:latin typeface="Segoe UI"/>
                        </a:rPr>
                        <a:t>Choose between the CAN interfaces already inside the Primary processor and repurposing the existing COM controller. See the next slide.</a:t>
                      </a:r>
                    </a:p>
                  </a:txBody>
                  <a:tcPr marL="50292" marR="41148" marT="20116" marB="20116" anchor="ctr">
                    <a:solidFill>
                      <a:srgbClr val="F6F8FB"/>
                    </a:solidFill>
                  </a:tcPr>
                </a:tc>
              </a:tr>
              <a:tr h="411480">
                <a:tc>
                  <a:txBody>
                    <a:bodyPr/>
                    <a:lstStyle/>
                    <a:p>
                      <a:pPr algn="ctr">
                        <a:lnSpc>
                          <a:spcPct val="100000"/>
                        </a:lnSpc>
                      </a:pPr>
                      <a:r>
                        <a:rPr sz="700" b="1">
                          <a:solidFill>
                            <a:srgbClr val="B47A14"/>
                          </a:solidFill>
                          <a:latin typeface="Segoe UI"/>
                        </a:rPr>
                        <a:t>R9</a:t>
                      </a:r>
                    </a:p>
                  </a:txBody>
                  <a:tcPr marL="50292" marR="41148" marT="20116" marB="20116" anchor="ctr">
                    <a:solidFill>
                      <a:srgbClr val="FDF3DF"/>
                    </a:solidFill>
                  </a:tcPr>
                </a:tc>
                <a:tc>
                  <a:txBody>
                    <a:bodyPr/>
                    <a:lstStyle/>
                    <a:p>
                      <a:pPr>
                        <a:lnSpc>
                          <a:spcPct val="100000"/>
                        </a:lnSpc>
                      </a:pPr>
                      <a:r>
                        <a:rPr sz="700" b="1">
                          <a:solidFill>
                            <a:srgbClr val="334155"/>
                          </a:solidFill>
                          <a:latin typeface="Segoe UI"/>
                        </a:rPr>
                        <a:t>Database volume grows eightfold,</a:t>
                      </a:r>
                    </a:p>
                    <a:p>
                      <a:pPr>
                        <a:lnSpc>
                          <a:spcPct val="100000"/>
                        </a:lnSpc>
                      </a:pPr>
                      <a:r>
                        <a:rPr sz="700" b="1">
                          <a:solidFill>
                            <a:srgbClr val="334155"/>
                          </a:solidFill>
                          <a:latin typeface="Segoe UI"/>
                        </a:rPr>
                        <a:t>and far more at 1 ms</a:t>
                      </a:r>
                    </a:p>
                  </a:txBody>
                  <a:tcPr marL="50292" marR="41148" marT="20116" marB="20116" anchor="ctr">
                    <a:solidFill>
                      <a:srgbClr val="FFFFFF"/>
                    </a:solidFill>
                  </a:tcPr>
                </a:tc>
                <a:tc>
                  <a:txBody>
                    <a:bodyPr/>
                    <a:lstStyle/>
                    <a:p>
                      <a:pPr algn="ctr">
                        <a:lnSpc>
                          <a:spcPct val="100000"/>
                        </a:lnSpc>
                      </a:pPr>
                      <a:r>
                        <a:rPr sz="750" b="1">
                          <a:solidFill>
                            <a:srgbClr val="FFFFFF"/>
                          </a:solidFill>
                          <a:latin typeface="Segoe UI"/>
                        </a:rPr>
                        <a:t>MED</a:t>
                      </a:r>
                    </a:p>
                  </a:txBody>
                  <a:tcPr marL="50292" marR="41148" marT="20116" marB="20116" anchor="ctr">
                    <a:solidFill>
                      <a:srgbClr val="B47A14"/>
                    </a:solidFill>
                  </a:tcPr>
                </a:tc>
                <a:tc>
                  <a:txBody>
                    <a:bodyPr/>
                    <a:lstStyle/>
                    <a:p>
                      <a:pPr>
                        <a:lnSpc>
                          <a:spcPct val="100000"/>
                        </a:lnSpc>
                      </a:pPr>
                      <a:r>
                        <a:rPr sz="700" b="0">
                          <a:solidFill>
                            <a:srgbClr val="334155"/>
                          </a:solidFill>
                          <a:latin typeface="Segoe UI"/>
                        </a:rPr>
                        <a:t>Slow reports, heavy disk use, possible data loss under load</a:t>
                      </a:r>
                    </a:p>
                  </a:txBody>
                  <a:tcPr marL="50292" marR="41148" marT="20116" marB="20116" anchor="ctr">
                    <a:solidFill>
                      <a:srgbClr val="FFFFFF"/>
                    </a:solidFill>
                  </a:tcPr>
                </a:tc>
                <a:tc>
                  <a:txBody>
                    <a:bodyPr/>
                    <a:lstStyle/>
                    <a:p>
                      <a:pPr>
                        <a:lnSpc>
                          <a:spcPct val="100000"/>
                        </a:lnSpc>
                      </a:pPr>
                      <a:r>
                        <a:rPr sz="700" b="0">
                          <a:solidFill>
                            <a:srgbClr val="334155"/>
                          </a:solidFill>
                          <a:latin typeface="Segoe UI"/>
                        </a:rPr>
                        <a:t>Decide the storage policy consciously. Load-test the application at eight channels before release.</a:t>
                      </a:r>
                    </a:p>
                  </a:txBody>
                  <a:tcPr marL="50292" marR="41148" marT="20116" marB="20116" anchor="ctr">
                    <a:solidFill>
                      <a:srgbClr val="FFFFFF"/>
                    </a:solidFill>
                  </a:tcPr>
                </a:tc>
              </a:tr>
              <a:tr h="411480">
                <a:tc>
                  <a:txBody>
                    <a:bodyPr/>
                    <a:lstStyle/>
                    <a:p>
                      <a:pPr algn="ctr">
                        <a:lnSpc>
                          <a:spcPct val="100000"/>
                        </a:lnSpc>
                      </a:pPr>
                      <a:r>
                        <a:rPr sz="700" b="1">
                          <a:solidFill>
                            <a:srgbClr val="B47A14"/>
                          </a:solidFill>
                          <a:latin typeface="Segoe UI"/>
                        </a:rPr>
                        <a:t>R10</a:t>
                      </a:r>
                    </a:p>
                  </a:txBody>
                  <a:tcPr marL="50292" marR="41148" marT="20116" marB="20116" anchor="ctr">
                    <a:solidFill>
                      <a:srgbClr val="FDF3DF"/>
                    </a:solidFill>
                  </a:tcPr>
                </a:tc>
                <a:tc>
                  <a:txBody>
                    <a:bodyPr/>
                    <a:lstStyle/>
                    <a:p>
                      <a:pPr>
                        <a:lnSpc>
                          <a:spcPct val="100000"/>
                        </a:lnSpc>
                      </a:pPr>
                      <a:r>
                        <a:rPr sz="700" b="1">
                          <a:solidFill>
                            <a:srgbClr val="334155"/>
                          </a:solidFill>
                          <a:latin typeface="Segoe UI"/>
                        </a:rPr>
                        <a:t>Moving the test logic could</a:t>
                      </a:r>
                    </a:p>
                    <a:p>
                      <a:pPr>
                        <a:lnSpc>
                          <a:spcPct val="100000"/>
                        </a:lnSpc>
                      </a:pPr>
                      <a:r>
                        <a:rPr sz="700" b="1">
                          <a:solidFill>
                            <a:srgbClr val="334155"/>
                          </a:solidFill>
                          <a:latin typeface="Segoe UI"/>
                        </a:rPr>
                        <a:t>introduce errors</a:t>
                      </a:r>
                    </a:p>
                  </a:txBody>
                  <a:tcPr marL="50292" marR="41148" marT="20116" marB="20116" anchor="ctr">
                    <a:solidFill>
                      <a:srgbClr val="F6F8FB"/>
                    </a:solidFill>
                  </a:tcPr>
                </a:tc>
                <a:tc>
                  <a:txBody>
                    <a:bodyPr/>
                    <a:lstStyle/>
                    <a:p>
                      <a:pPr algn="ctr">
                        <a:lnSpc>
                          <a:spcPct val="100000"/>
                        </a:lnSpc>
                      </a:pPr>
                      <a:r>
                        <a:rPr sz="750" b="1">
                          <a:solidFill>
                            <a:srgbClr val="FFFFFF"/>
                          </a:solidFill>
                          <a:latin typeface="Segoe UI"/>
                        </a:rPr>
                        <a:t>MED</a:t>
                      </a:r>
                    </a:p>
                  </a:txBody>
                  <a:tcPr marL="50292" marR="41148" marT="20116" marB="20116" anchor="ctr">
                    <a:solidFill>
                      <a:srgbClr val="B47A14"/>
                    </a:solidFill>
                  </a:tcPr>
                </a:tc>
                <a:tc>
                  <a:txBody>
                    <a:bodyPr/>
                    <a:lstStyle/>
                    <a:p>
                      <a:pPr>
                        <a:lnSpc>
                          <a:spcPct val="100000"/>
                        </a:lnSpc>
                      </a:pPr>
                      <a:r>
                        <a:rPr sz="700" b="0">
                          <a:solidFill>
                            <a:srgbClr val="334155"/>
                          </a:solidFill>
                          <a:latin typeface="Segoe UI"/>
                        </a:rPr>
                        <a:t>A mature, well-proven test engine must be reproduced exactly</a:t>
                      </a:r>
                    </a:p>
                  </a:txBody>
                  <a:tcPr marL="50292" marR="41148" marT="20116" marB="20116" anchor="ctr">
                    <a:solidFill>
                      <a:srgbClr val="F6F8FB"/>
                    </a:solidFill>
                  </a:tcPr>
                </a:tc>
                <a:tc>
                  <a:txBody>
                    <a:bodyPr/>
                    <a:lstStyle/>
                    <a:p>
                      <a:pPr>
                        <a:lnSpc>
                          <a:spcPct val="100000"/>
                        </a:lnSpc>
                      </a:pPr>
                      <a:r>
                        <a:rPr sz="700" b="0">
                          <a:solidFill>
                            <a:srgbClr val="334155"/>
                          </a:solidFill>
                          <a:latin typeface="Segoe UI"/>
                        </a:rPr>
                        <a:t>Port the existing logic rather than rewriting it. Build a comparison harness that runs identical sequences on both platforms and checks the results match step by step.</a:t>
                      </a:r>
                    </a:p>
                  </a:txBody>
                  <a:tcPr marL="50292" marR="41148" marT="20116" marB="20116" anchor="ctr">
                    <a:solidFill>
                      <a:srgbClr val="F6F8FB"/>
                    </a:solidFill>
                  </a:tcPr>
                </a:tc>
              </a:tr>
            </a:tbl>
          </a:graphicData>
        </a:graphic>
      </p:graphicFrame>
      <p:sp>
        <p:nvSpPr>
          <p:cNvPr id="8" name="Rounded Rectangle 7"/>
          <p:cNvSpPr/>
          <p:nvPr/>
        </p:nvSpPr>
        <p:spPr>
          <a:xfrm>
            <a:off x="502920" y="5961888"/>
            <a:ext cx="11183112" cy="457200"/>
          </a:xfrm>
          <a:prstGeom prst="roundRect">
            <a:avLst>
              <a:gd name="adj" fmla="val 20000"/>
            </a:avLst>
          </a:prstGeom>
          <a:solidFill>
            <a:srgbClr val="E9EEF6"/>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6035040"/>
            <a:ext cx="10698480" cy="274320"/>
          </a:xfrm>
          <a:prstGeom prst="rect">
            <a:avLst/>
          </a:prstGeom>
          <a:noFill/>
        </p:spPr>
        <p:txBody>
          <a:bodyPr wrap="square" anchor="t" lIns="18288" rIns="18288" tIns="0" bIns="0">
            <a:spAutoFit/>
          </a:bodyPr>
          <a:lstStyle/>
          <a:p>
            <a:pPr algn="l">
              <a:lnSpc>
                <a:spcPct val="100000"/>
              </a:lnSpc>
            </a:pPr>
            <a:r>
              <a:rPr sz="900" b="1" i="0">
                <a:solidFill>
                  <a:srgbClr val="142A47"/>
                </a:solidFill>
                <a:latin typeface="Segoe UI"/>
              </a:rPr>
              <a:t>R1 and R2 stem from centralising the intelligence, and both are mitigated by keeping protection local to each Secondary. R3 and R3a stem from the 1 ms data rate, and both are mitigated by CAN FD with grouped readings.</a:t>
            </a:r>
          </a:p>
        </p:txBody>
      </p:sp>
      <p:sp>
        <p:nvSpPr>
          <p:cNvPr id="10" name="Rectangle 9"/>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12" name="TextBox 11"/>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969264"/>
            <a:ext cx="12191695" cy="41148"/>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46304"/>
            <a:ext cx="7315200" cy="219456"/>
          </a:xfrm>
          <a:prstGeom prst="rect">
            <a:avLst/>
          </a:prstGeom>
          <a:noFill/>
        </p:spPr>
        <p:txBody>
          <a:bodyPr wrap="square" anchor="t" lIns="18288" rIns="18288" tIns="0" bIns="0">
            <a:spAutoFit/>
          </a:bodyPr>
          <a:lstStyle/>
          <a:p>
            <a:pPr algn="l">
              <a:lnSpc>
                <a:spcPct val="100000"/>
              </a:lnSpc>
            </a:pPr>
            <a:r>
              <a:rPr sz="850" b="1" i="0">
                <a:solidFill>
                  <a:srgbClr val="7FC9C6"/>
                </a:solidFill>
                <a:latin typeface="Segoe UI"/>
              </a:rPr>
              <a:t>09 · OPEN DECISIONS</a:t>
            </a:r>
          </a:p>
        </p:txBody>
      </p:sp>
      <p:sp>
        <p:nvSpPr>
          <p:cNvPr id="5" name="TextBox 4"/>
          <p:cNvSpPr txBox="1"/>
          <p:nvPr/>
        </p:nvSpPr>
        <p:spPr>
          <a:xfrm>
            <a:off x="502920" y="338328"/>
            <a:ext cx="10607040" cy="402336"/>
          </a:xfrm>
          <a:prstGeom prst="rect">
            <a:avLst/>
          </a:prstGeom>
          <a:noFill/>
        </p:spPr>
        <p:txBody>
          <a:bodyPr wrap="square" anchor="t" lIns="18288" rIns="18288" tIns="0" bIns="0">
            <a:spAutoFit/>
          </a:bodyPr>
          <a:lstStyle/>
          <a:p>
            <a:pPr algn="l">
              <a:lnSpc>
                <a:spcPct val="100000"/>
              </a:lnSpc>
            </a:pPr>
            <a:r>
              <a:rPr sz="2100" b="1" i="0">
                <a:solidFill>
                  <a:srgbClr val="FFFFFF"/>
                </a:solidFill>
                <a:latin typeface="Segoe UI Light"/>
              </a:rPr>
              <a:t>Where CAN should sit on the Primary, plus eight decisions that gate the start of work</a:t>
            </a:r>
          </a:p>
        </p:txBody>
      </p:sp>
      <p:sp>
        <p:nvSpPr>
          <p:cNvPr id="6" name="TextBox 5"/>
          <p:cNvSpPr txBox="1"/>
          <p:nvPr/>
        </p:nvSpPr>
        <p:spPr>
          <a:xfrm>
            <a:off x="502920" y="722376"/>
            <a:ext cx="10972800" cy="219456"/>
          </a:xfrm>
          <a:prstGeom prst="rect">
            <a:avLst/>
          </a:prstGeom>
          <a:noFill/>
        </p:spPr>
        <p:txBody>
          <a:bodyPr wrap="square" anchor="t" lIns="18288" rIns="18288" tIns="0" bIns="0">
            <a:spAutoFit/>
          </a:bodyPr>
          <a:lstStyle/>
          <a:p>
            <a:pPr algn="l">
              <a:lnSpc>
                <a:spcPct val="100000"/>
              </a:lnSpc>
            </a:pPr>
            <a:r>
              <a:rPr sz="950" b="0" i="0">
                <a:solidFill>
                  <a:srgbClr val="B6C6D8"/>
                </a:solidFill>
                <a:latin typeface="Segoe UI"/>
              </a:rPr>
              <a:t>These require answers before schematic or firmware work can begin. D2 and D3 are on the critical path.</a:t>
            </a:r>
          </a:p>
        </p:txBody>
      </p:sp>
      <p:sp>
        <p:nvSpPr>
          <p:cNvPr id="7" name="TextBox 6"/>
          <p:cNvSpPr txBox="1"/>
          <p:nvPr/>
        </p:nvSpPr>
        <p:spPr>
          <a:xfrm>
            <a:off x="502920" y="1170432"/>
            <a:ext cx="7315200" cy="237744"/>
          </a:xfrm>
          <a:prstGeom prst="rect">
            <a:avLst/>
          </a:prstGeom>
          <a:noFill/>
        </p:spPr>
        <p:txBody>
          <a:bodyPr wrap="square" anchor="t" lIns="18288" rIns="18288" tIns="0" bIns="0">
            <a:spAutoFit/>
          </a:bodyPr>
          <a:lstStyle/>
          <a:p>
            <a:pPr algn="l">
              <a:lnSpc>
                <a:spcPct val="100000"/>
              </a:lnSpc>
            </a:pPr>
            <a:r>
              <a:rPr sz="1000" b="1" i="0">
                <a:solidFill>
                  <a:srgbClr val="142A47"/>
                </a:solidFill>
                <a:latin typeface="Segoe UI"/>
              </a:rPr>
              <a:t>DECISION D1  ·  WHERE SHOULD CAN SIT ON THE PRIMARY?</a:t>
            </a:r>
          </a:p>
        </p:txBody>
      </p:sp>
      <p:sp>
        <p:nvSpPr>
          <p:cNvPr id="8" name="Rounded Rectangle 7"/>
          <p:cNvSpPr/>
          <p:nvPr/>
        </p:nvSpPr>
        <p:spPr>
          <a:xfrm>
            <a:off x="502920" y="1444752"/>
            <a:ext cx="3611880" cy="2286000"/>
          </a:xfrm>
          <a:prstGeom prst="roundRect">
            <a:avLst>
              <a:gd name="adj" fmla="val 6000"/>
            </a:avLst>
          </a:prstGeom>
          <a:solidFill>
            <a:srgbClr val="FFFFFF"/>
          </a:solidFill>
          <a:ln w="9525">
            <a:solidFill>
              <a:srgbClr val="246B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02920" y="1444752"/>
            <a:ext cx="3611880" cy="4572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9224" y="1591056"/>
            <a:ext cx="274320" cy="274320"/>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Segoe UI"/>
              </a:rPr>
              <a:t>A</a:t>
            </a:r>
          </a:p>
        </p:txBody>
      </p:sp>
      <p:sp>
        <p:nvSpPr>
          <p:cNvPr id="11" name="TextBox 10"/>
          <p:cNvSpPr txBox="1"/>
          <p:nvPr/>
        </p:nvSpPr>
        <p:spPr>
          <a:xfrm>
            <a:off x="1005840" y="1591056"/>
            <a:ext cx="2926080" cy="438912"/>
          </a:xfrm>
          <a:prstGeom prst="rect">
            <a:avLst/>
          </a:prstGeom>
          <a:noFill/>
        </p:spPr>
        <p:txBody>
          <a:bodyPr wrap="square" anchor="t" lIns="18288" rIns="18288" tIns="0" bIns="0">
            <a:spAutoFit/>
          </a:bodyPr>
          <a:lstStyle/>
          <a:p>
            <a:pPr algn="l">
              <a:lnSpc>
                <a:spcPct val="105000"/>
              </a:lnSpc>
            </a:pPr>
            <a:r>
              <a:rPr sz="950" b="1" i="0">
                <a:solidFill>
                  <a:srgbClr val="246B4D"/>
                </a:solidFill>
                <a:latin typeface="Segoe UI"/>
              </a:rPr>
              <a:t>Use the CAN interfaces already inside the Primary processor</a:t>
            </a:r>
          </a:p>
        </p:txBody>
      </p:sp>
      <p:sp>
        <p:nvSpPr>
          <p:cNvPr id="12" name="TextBox 11"/>
          <p:cNvSpPr txBox="1"/>
          <p:nvPr/>
        </p:nvSpPr>
        <p:spPr>
          <a:xfrm>
            <a:off x="649224" y="2103120"/>
            <a:ext cx="3319272" cy="182880"/>
          </a:xfrm>
          <a:prstGeom prst="rect">
            <a:avLst/>
          </a:prstGeom>
          <a:noFill/>
        </p:spPr>
        <p:txBody>
          <a:bodyPr wrap="square" anchor="t" lIns="18288" rIns="18288" tIns="0" bIns="0">
            <a:spAutoFit/>
          </a:bodyPr>
          <a:lstStyle/>
          <a:p>
            <a:pPr algn="l">
              <a:lnSpc>
                <a:spcPct val="100000"/>
              </a:lnSpc>
            </a:pPr>
            <a:r>
              <a:rPr sz="750" b="1" i="0">
                <a:solidFill>
                  <a:srgbClr val="2E6F4F"/>
                </a:solidFill>
                <a:latin typeface="Segoe UI"/>
              </a:rPr>
              <a:t>ADVANTAGES</a:t>
            </a:r>
          </a:p>
        </p:txBody>
      </p:sp>
      <p:sp>
        <p:nvSpPr>
          <p:cNvPr id="13" name="TextBox 12"/>
          <p:cNvSpPr txBox="1"/>
          <p:nvPr/>
        </p:nvSpPr>
        <p:spPr>
          <a:xfrm>
            <a:off x="649224" y="2286000"/>
            <a:ext cx="3319272" cy="56692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The silicon capability is already present.</a:t>
            </a:r>
          </a:p>
          <a:p>
            <a:pPr algn="l">
              <a:lnSpc>
                <a:spcPct val="120000"/>
              </a:lnSpc>
            </a:pPr>
            <a:r>
              <a:rPr sz="850" b="0" i="0">
                <a:solidFill>
                  <a:srgbClr val="334155"/>
                </a:solidFill>
                <a:latin typeface="Segoe UI"/>
              </a:rPr>
              <a:t>The COM controller can be removed entirely.</a:t>
            </a:r>
          </a:p>
          <a:p>
            <a:pPr algn="l">
              <a:lnSpc>
                <a:spcPct val="120000"/>
              </a:lnSpc>
            </a:pPr>
            <a:r>
              <a:rPr sz="850" b="0" i="0">
                <a:solidFill>
                  <a:srgbClr val="334155"/>
                </a:solidFill>
                <a:latin typeface="Segoe UI"/>
              </a:rPr>
              <a:t>Lowest material cost of the three.</a:t>
            </a:r>
          </a:p>
        </p:txBody>
      </p:sp>
      <p:sp>
        <p:nvSpPr>
          <p:cNvPr id="14" name="TextBox 13"/>
          <p:cNvSpPr txBox="1"/>
          <p:nvPr/>
        </p:nvSpPr>
        <p:spPr>
          <a:xfrm>
            <a:off x="649224" y="2926080"/>
            <a:ext cx="3319272" cy="182880"/>
          </a:xfrm>
          <a:prstGeom prst="rect">
            <a:avLst/>
          </a:prstGeom>
          <a:noFill/>
        </p:spPr>
        <p:txBody>
          <a:bodyPr wrap="square" anchor="t" lIns="18288" rIns="18288" tIns="0" bIns="0">
            <a:spAutoFit/>
          </a:bodyPr>
          <a:lstStyle/>
          <a:p>
            <a:pPr algn="l">
              <a:lnSpc>
                <a:spcPct val="100000"/>
              </a:lnSpc>
            </a:pPr>
            <a:r>
              <a:rPr sz="750" b="1" i="0">
                <a:solidFill>
                  <a:srgbClr val="9B2C35"/>
                </a:solidFill>
                <a:latin typeface="Segoe UI"/>
              </a:rPr>
              <a:t>DISADVANTAGES</a:t>
            </a:r>
          </a:p>
        </p:txBody>
      </p:sp>
      <p:sp>
        <p:nvSpPr>
          <p:cNvPr id="15" name="TextBox 14"/>
          <p:cNvSpPr txBox="1"/>
          <p:nvPr/>
        </p:nvSpPr>
        <p:spPr>
          <a:xfrm>
            <a:off x="649224" y="3108960"/>
            <a:ext cx="3319272" cy="56692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The driver software is new work.</a:t>
            </a:r>
          </a:p>
          <a:p>
            <a:pPr algn="l">
              <a:lnSpc>
                <a:spcPct val="120000"/>
              </a:lnSpc>
            </a:pPr>
            <a:r>
              <a:rPr sz="850" b="0" i="0">
                <a:solidFill>
                  <a:srgbClr val="334155"/>
                </a:solidFill>
                <a:latin typeface="Segoe UI"/>
              </a:rPr>
              <a:t>The board needs pin routing and a</a:t>
            </a:r>
          </a:p>
          <a:p>
            <a:pPr algn="l">
              <a:lnSpc>
                <a:spcPct val="120000"/>
              </a:lnSpc>
            </a:pPr>
            <a:r>
              <a:rPr sz="850" b="0" i="0">
                <a:solidFill>
                  <a:srgbClr val="334155"/>
                </a:solidFill>
                <a:latin typeface="Segoe UI"/>
              </a:rPr>
              <a:t>transceiver to be added.</a:t>
            </a:r>
          </a:p>
        </p:txBody>
      </p:sp>
      <p:sp>
        <p:nvSpPr>
          <p:cNvPr id="16" name="Rounded Rectangle 15"/>
          <p:cNvSpPr/>
          <p:nvPr/>
        </p:nvSpPr>
        <p:spPr>
          <a:xfrm>
            <a:off x="4288536" y="1444752"/>
            <a:ext cx="3611880" cy="228600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288536" y="1444752"/>
            <a:ext cx="3611880" cy="4572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434840" y="1591056"/>
            <a:ext cx="274320" cy="274320"/>
          </a:xfrm>
          <a:prstGeom prst="roundRect">
            <a:avLst>
              <a:gd name="adj" fmla="val 50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Segoe UI"/>
              </a:rPr>
              <a:t>B</a:t>
            </a:r>
          </a:p>
        </p:txBody>
      </p:sp>
      <p:sp>
        <p:nvSpPr>
          <p:cNvPr id="19" name="TextBox 18"/>
          <p:cNvSpPr txBox="1"/>
          <p:nvPr/>
        </p:nvSpPr>
        <p:spPr>
          <a:xfrm>
            <a:off x="4791456" y="1591056"/>
            <a:ext cx="2926080" cy="438912"/>
          </a:xfrm>
          <a:prstGeom prst="rect">
            <a:avLst/>
          </a:prstGeom>
          <a:noFill/>
        </p:spPr>
        <p:txBody>
          <a:bodyPr wrap="square" anchor="t" lIns="18288" rIns="18288" tIns="0" bIns="0">
            <a:spAutoFit/>
          </a:bodyPr>
          <a:lstStyle/>
          <a:p>
            <a:pPr algn="l">
              <a:lnSpc>
                <a:spcPct val="105000"/>
              </a:lnSpc>
            </a:pPr>
            <a:r>
              <a:rPr sz="950" b="1" i="0">
                <a:solidFill>
                  <a:srgbClr val="B47A14"/>
                </a:solidFill>
                <a:latin typeface="Segoe UI"/>
              </a:rPr>
              <a:t>Repurpose the COM controller as a CAN gateway</a:t>
            </a:r>
          </a:p>
        </p:txBody>
      </p:sp>
      <p:sp>
        <p:nvSpPr>
          <p:cNvPr id="20" name="TextBox 19"/>
          <p:cNvSpPr txBox="1"/>
          <p:nvPr/>
        </p:nvSpPr>
        <p:spPr>
          <a:xfrm>
            <a:off x="4434840" y="2103120"/>
            <a:ext cx="3319272" cy="182880"/>
          </a:xfrm>
          <a:prstGeom prst="rect">
            <a:avLst/>
          </a:prstGeom>
          <a:noFill/>
        </p:spPr>
        <p:txBody>
          <a:bodyPr wrap="square" anchor="t" lIns="18288" rIns="18288" tIns="0" bIns="0">
            <a:spAutoFit/>
          </a:bodyPr>
          <a:lstStyle/>
          <a:p>
            <a:pPr algn="l">
              <a:lnSpc>
                <a:spcPct val="100000"/>
              </a:lnSpc>
            </a:pPr>
            <a:r>
              <a:rPr sz="750" b="1" i="0">
                <a:solidFill>
                  <a:srgbClr val="2E6F4F"/>
                </a:solidFill>
                <a:latin typeface="Segoe UI"/>
              </a:rPr>
              <a:t>ADVANTAGES</a:t>
            </a:r>
          </a:p>
        </p:txBody>
      </p:sp>
      <p:sp>
        <p:nvSpPr>
          <p:cNvPr id="21" name="TextBox 20"/>
          <p:cNvSpPr txBox="1"/>
          <p:nvPr/>
        </p:nvSpPr>
        <p:spPr>
          <a:xfrm>
            <a:off x="4434840" y="2286000"/>
            <a:ext cx="3319272" cy="56692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Its CAN interfaces and database handling</a:t>
            </a:r>
          </a:p>
          <a:p>
            <a:pPr algn="l">
              <a:lnSpc>
                <a:spcPct val="120000"/>
              </a:lnSpc>
            </a:pPr>
            <a:r>
              <a:rPr sz="850" b="0" i="0">
                <a:solidFill>
                  <a:srgbClr val="334155"/>
                </a:solidFill>
                <a:latin typeface="Segoe UI"/>
              </a:rPr>
              <a:t>already work and are proven in the field.</a:t>
            </a:r>
          </a:p>
          <a:p>
            <a:pPr algn="l">
              <a:lnSpc>
                <a:spcPct val="120000"/>
              </a:lnSpc>
            </a:pPr>
            <a:r>
              <a:rPr sz="850" b="0" i="0">
                <a:solidFill>
                  <a:srgbClr val="334155"/>
                </a:solidFill>
                <a:latin typeface="Segoe UI"/>
              </a:rPr>
              <a:t>Keeps the BMS logging feature intact.</a:t>
            </a:r>
          </a:p>
        </p:txBody>
      </p:sp>
      <p:sp>
        <p:nvSpPr>
          <p:cNvPr id="22" name="TextBox 21"/>
          <p:cNvSpPr txBox="1"/>
          <p:nvPr/>
        </p:nvSpPr>
        <p:spPr>
          <a:xfrm>
            <a:off x="4434840" y="2926080"/>
            <a:ext cx="3319272" cy="182880"/>
          </a:xfrm>
          <a:prstGeom prst="rect">
            <a:avLst/>
          </a:prstGeom>
          <a:noFill/>
        </p:spPr>
        <p:txBody>
          <a:bodyPr wrap="square" anchor="t" lIns="18288" rIns="18288" tIns="0" bIns="0">
            <a:spAutoFit/>
          </a:bodyPr>
          <a:lstStyle/>
          <a:p>
            <a:pPr algn="l">
              <a:lnSpc>
                <a:spcPct val="100000"/>
              </a:lnSpc>
            </a:pPr>
            <a:r>
              <a:rPr sz="750" b="1" i="0">
                <a:solidFill>
                  <a:srgbClr val="9B2C35"/>
                </a:solidFill>
                <a:latin typeface="Segoe UI"/>
              </a:rPr>
              <a:t>DISADVANTAGES</a:t>
            </a:r>
          </a:p>
        </p:txBody>
      </p:sp>
      <p:sp>
        <p:nvSpPr>
          <p:cNvPr id="23" name="TextBox 22"/>
          <p:cNvSpPr txBox="1"/>
          <p:nvPr/>
        </p:nvSpPr>
        <p:spPr>
          <a:xfrm>
            <a:off x="4434840" y="3108960"/>
            <a:ext cx="3319272" cy="56692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A third board type is retained.</a:t>
            </a:r>
          </a:p>
          <a:p>
            <a:pPr algn="l">
              <a:lnSpc>
                <a:spcPct val="120000"/>
              </a:lnSpc>
            </a:pPr>
            <a:r>
              <a:rPr sz="850" b="0" i="0">
                <a:solidFill>
                  <a:srgbClr val="334155"/>
                </a:solidFill>
                <a:latin typeface="Segoe UI"/>
              </a:rPr>
              <a:t>Adds an extra hop, lengthening the</a:t>
            </a:r>
          </a:p>
          <a:p>
            <a:pPr algn="l">
              <a:lnSpc>
                <a:spcPct val="120000"/>
              </a:lnSpc>
            </a:pPr>
            <a:r>
              <a:rPr sz="850" b="0" i="0">
                <a:solidFill>
                  <a:srgbClr val="334155"/>
                </a:solidFill>
                <a:latin typeface="Segoe UI"/>
              </a:rPr>
              <a:t>path measurements must travel.</a:t>
            </a:r>
          </a:p>
        </p:txBody>
      </p:sp>
      <p:sp>
        <p:nvSpPr>
          <p:cNvPr id="24" name="Rounded Rectangle 23"/>
          <p:cNvSpPr/>
          <p:nvPr/>
        </p:nvSpPr>
        <p:spPr>
          <a:xfrm>
            <a:off x="8074152" y="1444752"/>
            <a:ext cx="3611880" cy="2286000"/>
          </a:xfrm>
          <a:prstGeom prst="roundRect">
            <a:avLst>
              <a:gd name="adj" fmla="val 6000"/>
            </a:avLst>
          </a:prstGeom>
          <a:solidFill>
            <a:srgbClr val="FFFFFF"/>
          </a:solidFill>
          <a:ln w="9525">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074152" y="1444752"/>
            <a:ext cx="3611880" cy="45720"/>
          </a:xfrm>
          <a:prstGeom prst="rect">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8220456" y="1591056"/>
            <a:ext cx="274320" cy="274320"/>
          </a:xfrm>
          <a:prstGeom prst="roundRect">
            <a:avLst>
              <a:gd name="adj" fmla="val 50000"/>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000" b="1">
                <a:solidFill>
                  <a:srgbClr val="FFFFFF"/>
                </a:solidFill>
                <a:latin typeface="Segoe UI"/>
              </a:rPr>
              <a:t>C</a:t>
            </a:r>
          </a:p>
        </p:txBody>
      </p:sp>
      <p:sp>
        <p:nvSpPr>
          <p:cNvPr id="27" name="TextBox 26"/>
          <p:cNvSpPr txBox="1"/>
          <p:nvPr/>
        </p:nvSpPr>
        <p:spPr>
          <a:xfrm>
            <a:off x="8577072" y="1591056"/>
            <a:ext cx="2926080" cy="438912"/>
          </a:xfrm>
          <a:prstGeom prst="rect">
            <a:avLst/>
          </a:prstGeom>
          <a:noFill/>
        </p:spPr>
        <p:txBody>
          <a:bodyPr wrap="square" anchor="t" lIns="18288" rIns="18288" tIns="0" bIns="0">
            <a:spAutoFit/>
          </a:bodyPr>
          <a:lstStyle/>
          <a:p>
            <a:pPr algn="l">
              <a:lnSpc>
                <a:spcPct val="105000"/>
              </a:lnSpc>
            </a:pPr>
            <a:r>
              <a:rPr sz="950" b="1" i="0">
                <a:solidFill>
                  <a:srgbClr val="0A6E6A"/>
                </a:solidFill>
                <a:latin typeface="Segoe UI"/>
              </a:rPr>
              <a:t>Primary CAN for the test bus, COM board for the BMS bus</a:t>
            </a:r>
          </a:p>
        </p:txBody>
      </p:sp>
      <p:sp>
        <p:nvSpPr>
          <p:cNvPr id="28" name="TextBox 27"/>
          <p:cNvSpPr txBox="1"/>
          <p:nvPr/>
        </p:nvSpPr>
        <p:spPr>
          <a:xfrm>
            <a:off x="8220456" y="2103120"/>
            <a:ext cx="3319272" cy="182880"/>
          </a:xfrm>
          <a:prstGeom prst="rect">
            <a:avLst/>
          </a:prstGeom>
          <a:noFill/>
        </p:spPr>
        <p:txBody>
          <a:bodyPr wrap="square" anchor="t" lIns="18288" rIns="18288" tIns="0" bIns="0">
            <a:spAutoFit/>
          </a:bodyPr>
          <a:lstStyle/>
          <a:p>
            <a:pPr algn="l">
              <a:lnSpc>
                <a:spcPct val="100000"/>
              </a:lnSpc>
            </a:pPr>
            <a:r>
              <a:rPr sz="750" b="1" i="0">
                <a:solidFill>
                  <a:srgbClr val="2E6F4F"/>
                </a:solidFill>
                <a:latin typeface="Segoe UI"/>
              </a:rPr>
              <a:t>ADVANTAGES</a:t>
            </a:r>
          </a:p>
        </p:txBody>
      </p:sp>
      <p:sp>
        <p:nvSpPr>
          <p:cNvPr id="29" name="TextBox 28"/>
          <p:cNvSpPr txBox="1"/>
          <p:nvPr/>
        </p:nvSpPr>
        <p:spPr>
          <a:xfrm>
            <a:off x="8220456" y="2286000"/>
            <a:ext cx="3319272" cy="56692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Cleanly separates the safety-relevant</a:t>
            </a:r>
          </a:p>
          <a:p>
            <a:pPr algn="l">
              <a:lnSpc>
                <a:spcPct val="120000"/>
              </a:lnSpc>
            </a:pPr>
            <a:r>
              <a:rPr sz="850" b="0" i="0">
                <a:solidFill>
                  <a:srgbClr val="334155"/>
                </a:solidFill>
                <a:latin typeface="Segoe UI"/>
              </a:rPr>
              <a:t>test bus from the customer's BMS</a:t>
            </a:r>
          </a:p>
          <a:p>
            <a:pPr algn="l">
              <a:lnSpc>
                <a:spcPct val="120000"/>
              </a:lnSpc>
            </a:pPr>
            <a:r>
              <a:rPr sz="850" b="0" i="0">
                <a:solidFill>
                  <a:srgbClr val="334155"/>
                </a:solidFill>
                <a:latin typeface="Segoe UI"/>
              </a:rPr>
              <a:t>network. Best of both.</a:t>
            </a:r>
          </a:p>
        </p:txBody>
      </p:sp>
      <p:sp>
        <p:nvSpPr>
          <p:cNvPr id="30" name="TextBox 29"/>
          <p:cNvSpPr txBox="1"/>
          <p:nvPr/>
        </p:nvSpPr>
        <p:spPr>
          <a:xfrm>
            <a:off x="8220456" y="2926080"/>
            <a:ext cx="3319272" cy="182880"/>
          </a:xfrm>
          <a:prstGeom prst="rect">
            <a:avLst/>
          </a:prstGeom>
          <a:noFill/>
        </p:spPr>
        <p:txBody>
          <a:bodyPr wrap="square" anchor="t" lIns="18288" rIns="18288" tIns="0" bIns="0">
            <a:spAutoFit/>
          </a:bodyPr>
          <a:lstStyle/>
          <a:p>
            <a:pPr algn="l">
              <a:lnSpc>
                <a:spcPct val="100000"/>
              </a:lnSpc>
            </a:pPr>
            <a:r>
              <a:rPr sz="750" b="1" i="0">
                <a:solidFill>
                  <a:srgbClr val="9B2C35"/>
                </a:solidFill>
                <a:latin typeface="Segoe UI"/>
              </a:rPr>
              <a:t>DISADVANTAGES</a:t>
            </a:r>
          </a:p>
        </p:txBody>
      </p:sp>
      <p:sp>
        <p:nvSpPr>
          <p:cNvPr id="31" name="TextBox 30"/>
          <p:cNvSpPr txBox="1"/>
          <p:nvPr/>
        </p:nvSpPr>
        <p:spPr>
          <a:xfrm>
            <a:off x="8220456" y="3108960"/>
            <a:ext cx="3319272" cy="566928"/>
          </a:xfrm>
          <a:prstGeom prst="rect">
            <a:avLst/>
          </a:prstGeom>
          <a:noFill/>
        </p:spPr>
        <p:txBody>
          <a:bodyPr wrap="square" anchor="t" lIns="18288" rIns="18288" tIns="0" bIns="0">
            <a:spAutoFit/>
          </a:bodyPr>
          <a:lstStyle/>
          <a:p>
            <a:pPr algn="l">
              <a:lnSpc>
                <a:spcPct val="120000"/>
              </a:lnSpc>
            </a:pPr>
            <a:r>
              <a:rPr sz="850" b="0" i="0">
                <a:solidFill>
                  <a:srgbClr val="334155"/>
                </a:solidFill>
                <a:latin typeface="Segoe UI"/>
              </a:rPr>
              <a:t>Two board types are retained.</a:t>
            </a:r>
          </a:p>
          <a:p>
            <a:pPr algn="l">
              <a:lnSpc>
                <a:spcPct val="120000"/>
              </a:lnSpc>
            </a:pPr>
            <a:r>
              <a:rPr sz="850" b="0" i="0">
                <a:solidFill>
                  <a:srgbClr val="334155"/>
                </a:solidFill>
                <a:latin typeface="Segoe UI"/>
              </a:rPr>
              <a:t>Highest material cost of the three</a:t>
            </a:r>
          </a:p>
          <a:p>
            <a:pPr algn="l">
              <a:lnSpc>
                <a:spcPct val="120000"/>
              </a:lnSpc>
            </a:pPr>
            <a:r>
              <a:rPr sz="850" b="0" i="0">
                <a:solidFill>
                  <a:srgbClr val="334155"/>
                </a:solidFill>
                <a:latin typeface="Segoe UI"/>
              </a:rPr>
              <a:t>options.</a:t>
            </a:r>
          </a:p>
        </p:txBody>
      </p:sp>
      <p:sp>
        <p:nvSpPr>
          <p:cNvPr id="32" name="Rounded Rectangle 31"/>
          <p:cNvSpPr/>
          <p:nvPr/>
        </p:nvSpPr>
        <p:spPr>
          <a:xfrm>
            <a:off x="502920" y="3840480"/>
            <a:ext cx="11183112" cy="548640"/>
          </a:xfrm>
          <a:prstGeom prst="roundRect">
            <a:avLst>
              <a:gd name="adj" fmla="val 17000"/>
            </a:avLst>
          </a:prstGeom>
          <a:solidFill>
            <a:srgbClr val="E4EFEC"/>
          </a:solidFill>
          <a:ln w="12700">
            <a:solidFill>
              <a:srgbClr val="0D8B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02920" y="3840480"/>
            <a:ext cx="64008" cy="548640"/>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7240" y="3931920"/>
            <a:ext cx="10744200" cy="411480"/>
          </a:xfrm>
          <a:prstGeom prst="rect">
            <a:avLst/>
          </a:prstGeom>
          <a:noFill/>
        </p:spPr>
        <p:txBody>
          <a:bodyPr wrap="square" anchor="t" lIns="0" rIns="0" tIns="0" bIns="0">
            <a:spAutoFit/>
          </a:bodyPr>
          <a:lstStyle/>
          <a:p>
            <a:pPr algn="l">
              <a:lnSpc>
                <a:spcPct val="105000"/>
              </a:lnSpc>
              <a:spcBef>
                <a:spcPts val="0"/>
              </a:spcBef>
            </a:pPr>
            <a:r>
              <a:rPr sz="1000" b="1">
                <a:solidFill>
                  <a:srgbClr val="0A6E6A"/>
                </a:solidFill>
                <a:latin typeface="Segoe UI"/>
              </a:rPr>
              <a:t>OUR RECOMMENDATION      Option A for the test bus, retaining the COM controller only on variants that require BMS logging.</a:t>
            </a:r>
          </a:p>
          <a:p>
            <a:pPr algn="l">
              <a:lnSpc>
                <a:spcPct val="105000"/>
              </a:lnSpc>
              <a:spcBef>
                <a:spcPts val="300"/>
              </a:spcBef>
            </a:pPr>
            <a:r>
              <a:rPr sz="850" b="0">
                <a:solidFill>
                  <a:srgbClr val="334155"/>
                </a:solidFill>
                <a:latin typeface="Segoe UI"/>
              </a:rPr>
              <a:t>In effect this is Option C offered as a paid option rather than as standard fitment. It keeps the safety-relevant test bus on the shortest possible path while preserving the logging feature for customers who buy it.</a:t>
            </a:r>
          </a:p>
        </p:txBody>
      </p:sp>
      <p:graphicFrame>
        <p:nvGraphicFramePr>
          <p:cNvPr id="35" name="Table 34"/>
          <p:cNvGraphicFramePr>
            <a:graphicFrameLocks noGrp="1"/>
          </p:cNvGraphicFramePr>
          <p:nvPr/>
        </p:nvGraphicFramePr>
        <p:xfrm>
          <a:off x="502920" y="4517136"/>
          <a:ext cx="11183111" cy="1810512"/>
        </p:xfrm>
        <a:graphic>
          <a:graphicData uri="http://schemas.openxmlformats.org/drawingml/2006/table">
            <a:tbl>
              <a:tblPr firstRow="1">
                <a:tableStyleId>{5C22544A-7EE6-4342-B048-85BDC9FD1C3A}</a:tableStyleId>
              </a:tblPr>
              <a:tblGrid>
                <a:gridCol w="457200"/>
                <a:gridCol w="3931920"/>
                <a:gridCol w="2103119"/>
                <a:gridCol w="4690872"/>
              </a:tblGrid>
              <a:tr h="201168">
                <a:tc>
                  <a:txBody>
                    <a:bodyPr/>
                    <a:lstStyle/>
                    <a:p>
                      <a:pPr>
                        <a:lnSpc>
                          <a:spcPct val="100000"/>
                        </a:lnSpc>
                      </a:pPr>
                      <a:r>
                        <a:rPr sz="900" b="1">
                          <a:solidFill>
                            <a:srgbClr val="FFFFFF"/>
                          </a:solidFill>
                          <a:latin typeface="Segoe UI"/>
                        </a:rPr>
                        <a:t>#</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Decision</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Owner</a:t>
                      </a:r>
                    </a:p>
                  </a:txBody>
                  <a:tcPr marL="50292" marR="41148" marT="20116" marB="20116" anchor="ctr">
                    <a:solidFill>
                      <a:srgbClr val="1E3A5F"/>
                    </a:solidFill>
                  </a:tcPr>
                </a:tc>
                <a:tc>
                  <a:txBody>
                    <a:bodyPr/>
                    <a:lstStyle/>
                    <a:p>
                      <a:pPr>
                        <a:lnSpc>
                          <a:spcPct val="100000"/>
                        </a:lnSpc>
                      </a:pPr>
                      <a:r>
                        <a:rPr sz="900" b="1">
                          <a:solidFill>
                            <a:srgbClr val="FFFFFF"/>
                          </a:solidFill>
                          <a:latin typeface="Segoe UI"/>
                        </a:rPr>
                        <a:t>Why it must be settled first</a:t>
                      </a:r>
                    </a:p>
                  </a:txBody>
                  <a:tcPr marL="50292" marR="41148" marT="20116" marB="20116" anchor="ctr">
                    <a:solidFill>
                      <a:srgbClr val="1E3A5F"/>
                    </a:solidFill>
                  </a:tcPr>
                </a:tc>
              </a:tr>
              <a:tr h="201168">
                <a:tc>
                  <a:txBody>
                    <a:bodyPr/>
                    <a:lstStyle/>
                    <a:p>
                      <a:pPr algn="ctr">
                        <a:lnSpc>
                          <a:spcPct val="100000"/>
                        </a:lnSpc>
                      </a:pPr>
                      <a:r>
                        <a:rPr sz="800" b="1">
                          <a:solidFill>
                            <a:srgbClr val="1E3A5F"/>
                          </a:solidFill>
                          <a:latin typeface="Segoe UI"/>
                        </a:rPr>
                        <a:t>D2</a:t>
                      </a:r>
                    </a:p>
                  </a:txBody>
                  <a:tcPr marL="50292" marR="41148" marT="20116" marB="20116" anchor="ctr">
                    <a:solidFill>
                      <a:srgbClr val="FDF3DF"/>
                    </a:solidFill>
                  </a:tcPr>
                </a:tc>
                <a:tc>
                  <a:txBody>
                    <a:bodyPr/>
                    <a:lstStyle/>
                    <a:p>
                      <a:pPr>
                        <a:lnSpc>
                          <a:spcPct val="100000"/>
                        </a:lnSpc>
                      </a:pPr>
                      <a:r>
                        <a:rPr sz="800" b="1">
                          <a:solidFill>
                            <a:srgbClr val="334155"/>
                          </a:solidFill>
                          <a:latin typeface="Segoe UI"/>
                        </a:rPr>
                        <a:t>CAN FD at the full 1 ms rate, or standard CAN at a reduced 2 ms rate</a:t>
                      </a:r>
                    </a:p>
                  </a:txBody>
                  <a:tcPr marL="50292" marR="41148" marT="20116" marB="20116" anchor="ctr">
                    <a:solidFill>
                      <a:srgbClr val="FDF3DF"/>
                    </a:solidFill>
                  </a:tcPr>
                </a:tc>
                <a:tc>
                  <a:txBody>
                    <a:bodyPr/>
                    <a:lstStyle/>
                    <a:p>
                      <a:pPr>
                        <a:lnSpc>
                          <a:spcPct val="100000"/>
                        </a:lnSpc>
                      </a:pPr>
                      <a:r>
                        <a:rPr sz="800" b="0">
                          <a:solidFill>
                            <a:srgbClr val="334155"/>
                          </a:solidFill>
                          <a:latin typeface="Segoe UI"/>
                        </a:rPr>
                        <a:t>Product Mgmt, with Firmware and Hardware</a:t>
                      </a:r>
                    </a:p>
                  </a:txBody>
                  <a:tcPr marL="50292" marR="41148" marT="20116" marB="20116" anchor="ctr">
                    <a:solidFill>
                      <a:srgbClr val="FDF3DF"/>
                    </a:solidFill>
                  </a:tcPr>
                </a:tc>
                <a:tc>
                  <a:txBody>
                    <a:bodyPr/>
                    <a:lstStyle/>
                    <a:p>
                      <a:pPr>
                        <a:lnSpc>
                          <a:spcPct val="100000"/>
                        </a:lnSpc>
                      </a:pPr>
                      <a:r>
                        <a:rPr sz="800" b="0">
                          <a:solidFill>
                            <a:srgbClr val="334155"/>
                          </a:solidFill>
                          <a:latin typeface="Segoe UI"/>
                        </a:rPr>
                        <a:t>The decision on the critical path — it selects the controller and transceiver, and cannot be reversed cheaply after hardware design</a:t>
                      </a:r>
                    </a:p>
                  </a:txBody>
                  <a:tcPr marL="50292" marR="41148" marT="20116" marB="20116" anchor="ctr">
                    <a:solidFill>
                      <a:srgbClr val="FDF3DF"/>
                    </a:solidFill>
                  </a:tcPr>
                </a:tc>
              </a:tr>
              <a:tr h="201168">
                <a:tc>
                  <a:txBody>
                    <a:bodyPr/>
                    <a:lstStyle/>
                    <a:p>
                      <a:pPr algn="ctr">
                        <a:lnSpc>
                          <a:spcPct val="100000"/>
                        </a:lnSpc>
                      </a:pPr>
                      <a:r>
                        <a:rPr sz="800" b="1">
                          <a:solidFill>
                            <a:srgbClr val="1E3A5F"/>
                          </a:solidFill>
                          <a:latin typeface="Segoe UI"/>
                        </a:rPr>
                        <a:t>D3</a:t>
                      </a:r>
                    </a:p>
                  </a:txBody>
                  <a:tcPr marL="50292" marR="41148" marT="20116" marB="20116" anchor="ctr">
                    <a:solidFill>
                      <a:srgbClr val="FDF3DF"/>
                    </a:solidFill>
                  </a:tcPr>
                </a:tc>
                <a:tc>
                  <a:txBody>
                    <a:bodyPr/>
                    <a:lstStyle/>
                    <a:p>
                      <a:pPr>
                        <a:lnSpc>
                          <a:spcPct val="100000"/>
                        </a:lnSpc>
                      </a:pPr>
                      <a:r>
                        <a:rPr sz="800" b="1">
                          <a:solidFill>
                            <a:srgbClr val="334155"/>
                          </a:solidFill>
                          <a:latin typeface="Segoe UI"/>
                        </a:rPr>
                        <a:t>Is a stored reading required for every millisecond?</a:t>
                      </a:r>
                    </a:p>
                  </a:txBody>
                  <a:tcPr marL="50292" marR="41148" marT="20116" marB="20116" anchor="ctr">
                    <a:solidFill>
                      <a:srgbClr val="FDF3DF"/>
                    </a:solidFill>
                  </a:tcPr>
                </a:tc>
                <a:tc>
                  <a:txBody>
                    <a:bodyPr/>
                    <a:lstStyle/>
                    <a:p>
                      <a:pPr>
                        <a:lnSpc>
                          <a:spcPct val="100000"/>
                        </a:lnSpc>
                      </a:pPr>
                      <a:r>
                        <a:rPr sz="800" b="0">
                          <a:solidFill>
                            <a:srgbClr val="334155"/>
                          </a:solidFill>
                          <a:latin typeface="Segoe UI"/>
                        </a:rPr>
                        <a:t>Product Management</a:t>
                      </a:r>
                    </a:p>
                  </a:txBody>
                  <a:tcPr marL="50292" marR="41148" marT="20116" marB="20116" anchor="ctr">
                    <a:solidFill>
                      <a:srgbClr val="FDF3DF"/>
                    </a:solidFill>
                  </a:tcPr>
                </a:tc>
                <a:tc>
                  <a:txBody>
                    <a:bodyPr/>
                    <a:lstStyle/>
                    <a:p>
                      <a:pPr>
                        <a:lnSpc>
                          <a:spcPct val="100000"/>
                        </a:lnSpc>
                      </a:pPr>
                      <a:r>
                        <a:rPr sz="800" b="0">
                          <a:solidFill>
                            <a:srgbClr val="334155"/>
                          </a:solidFill>
                          <a:latin typeface="Segoe UI"/>
                        </a:rPr>
                        <a:t>Closely linked to D2. If 2 ms is acceptable for storage, it is likely acceptable for the bus too</a:t>
                      </a:r>
                    </a:p>
                  </a:txBody>
                  <a:tcPr marL="50292" marR="41148" marT="20116" marB="20116" anchor="ctr">
                    <a:solidFill>
                      <a:srgbClr val="FDF3DF"/>
                    </a:solidFill>
                  </a:tcPr>
                </a:tc>
              </a:tr>
              <a:tr h="201168">
                <a:tc>
                  <a:txBody>
                    <a:bodyPr/>
                    <a:lstStyle/>
                    <a:p>
                      <a:pPr algn="ctr">
                        <a:lnSpc>
                          <a:spcPct val="100000"/>
                        </a:lnSpc>
                      </a:pPr>
                      <a:r>
                        <a:rPr sz="800" b="1">
                          <a:solidFill>
                            <a:srgbClr val="1E3A5F"/>
                          </a:solidFill>
                          <a:latin typeface="Segoe UI"/>
                        </a:rPr>
                        <a:t>D3a</a:t>
                      </a:r>
                    </a:p>
                  </a:txBody>
                  <a:tcPr marL="50292" marR="41148" marT="20116" marB="20116" anchor="ctr">
                    <a:solidFill>
                      <a:srgbClr val="FDF3DF"/>
                    </a:solidFill>
                  </a:tcPr>
                </a:tc>
                <a:tc>
                  <a:txBody>
                    <a:bodyPr/>
                    <a:lstStyle/>
                    <a:p>
                      <a:pPr>
                        <a:lnSpc>
                          <a:spcPct val="100000"/>
                        </a:lnSpc>
                      </a:pPr>
                      <a:r>
                        <a:rPr sz="800" b="1">
                          <a:solidFill>
                            <a:srgbClr val="334155"/>
                          </a:solidFill>
                          <a:latin typeface="Segoe UI"/>
                        </a:rPr>
                        <a:t>How should the eight transmit timers be staggered?</a:t>
                      </a:r>
                    </a:p>
                  </a:txBody>
                  <a:tcPr marL="50292" marR="41148" marT="20116" marB="20116" anchor="ctr">
                    <a:solidFill>
                      <a:srgbClr val="FDF3DF"/>
                    </a:solidFill>
                  </a:tcPr>
                </a:tc>
                <a:tc>
                  <a:txBody>
                    <a:bodyPr/>
                    <a:lstStyle/>
                    <a:p>
                      <a:pPr>
                        <a:lnSpc>
                          <a:spcPct val="100000"/>
                        </a:lnSpc>
                      </a:pPr>
                      <a:r>
                        <a:rPr sz="800" b="0">
                          <a:solidFill>
                            <a:srgbClr val="334155"/>
                          </a:solidFill>
                          <a:latin typeface="Segoe UI"/>
                        </a:rPr>
                        <a:t>Firmware</a:t>
                      </a:r>
                    </a:p>
                  </a:txBody>
                  <a:tcPr marL="50292" marR="41148" marT="20116" marB="20116" anchor="ctr">
                    <a:solidFill>
                      <a:srgbClr val="FDF3DF"/>
                    </a:solidFill>
                  </a:tcPr>
                </a:tc>
                <a:tc>
                  <a:txBody>
                    <a:bodyPr/>
                    <a:lstStyle/>
                    <a:p>
                      <a:pPr>
                        <a:lnSpc>
                          <a:spcPct val="100000"/>
                        </a:lnSpc>
                      </a:pPr>
                      <a:r>
                        <a:rPr sz="800" b="0">
                          <a:solidFill>
                            <a:srgbClr val="334155"/>
                          </a:solidFill>
                          <a:latin typeface="Segoe UI"/>
                        </a:rPr>
                        <a:t>Prevents all eight bursting in the same millisecond — cheap now, awkward to retrofit</a:t>
                      </a:r>
                    </a:p>
                  </a:txBody>
                  <a:tcPr marL="50292" marR="41148" marT="20116" marB="20116" anchor="ctr">
                    <a:solidFill>
                      <a:srgbClr val="FDF3DF"/>
                    </a:solidFill>
                  </a:tcPr>
                </a:tc>
              </a:tr>
              <a:tr h="201168">
                <a:tc>
                  <a:txBody>
                    <a:bodyPr/>
                    <a:lstStyle/>
                    <a:p>
                      <a:pPr algn="ctr">
                        <a:lnSpc>
                          <a:spcPct val="100000"/>
                        </a:lnSpc>
                      </a:pPr>
                      <a:r>
                        <a:rPr sz="800" b="1">
                          <a:solidFill>
                            <a:srgbClr val="1E3A5F"/>
                          </a:solidFill>
                          <a:latin typeface="Segoe UI"/>
                        </a:rPr>
                        <a:t>D4</a:t>
                      </a:r>
                    </a:p>
                  </a:txBody>
                  <a:tcPr marL="50292" marR="41148" marT="20116" marB="20116" anchor="ctr">
                    <a:solidFill>
                      <a:srgbClr val="F6F8FB"/>
                    </a:solidFill>
                  </a:tcPr>
                </a:tc>
                <a:tc>
                  <a:txBody>
                    <a:bodyPr/>
                    <a:lstStyle/>
                    <a:p>
                      <a:pPr>
                        <a:lnSpc>
                          <a:spcPct val="100000"/>
                        </a:lnSpc>
                      </a:pPr>
                      <a:r>
                        <a:rPr sz="800" b="1">
                          <a:solidFill>
                            <a:srgbClr val="334155"/>
                          </a:solidFill>
                          <a:latin typeface="Segoe UI"/>
                        </a:rPr>
                        <a:t>Maximum acceptable reaction time for protection</a:t>
                      </a:r>
                    </a:p>
                  </a:txBody>
                  <a:tcPr marL="50292" marR="41148" marT="20116" marB="20116" anchor="ctr">
                    <a:solidFill>
                      <a:srgbClr val="F6F8FB"/>
                    </a:solidFill>
                  </a:tcPr>
                </a:tc>
                <a:tc>
                  <a:txBody>
                    <a:bodyPr/>
                    <a:lstStyle/>
                    <a:p>
                      <a:pPr>
                        <a:lnSpc>
                          <a:spcPct val="100000"/>
                        </a:lnSpc>
                      </a:pPr>
                      <a:r>
                        <a:rPr sz="800" b="0">
                          <a:solidFill>
                            <a:srgbClr val="334155"/>
                          </a:solidFill>
                          <a:latin typeface="Segoe UI"/>
                        </a:rPr>
                        <a:t>Product and Safety</a:t>
                      </a:r>
                    </a:p>
                  </a:txBody>
                  <a:tcPr marL="50292" marR="41148" marT="20116" marB="20116" anchor="ctr">
                    <a:solidFill>
                      <a:srgbClr val="F6F8FB"/>
                    </a:solidFill>
                  </a:tcPr>
                </a:tc>
                <a:tc>
                  <a:txBody>
                    <a:bodyPr/>
                    <a:lstStyle/>
                    <a:p>
                      <a:pPr>
                        <a:lnSpc>
                          <a:spcPct val="100000"/>
                        </a:lnSpc>
                      </a:pPr>
                      <a:r>
                        <a:rPr sz="800" b="0">
                          <a:solidFill>
                            <a:srgbClr val="334155"/>
                          </a:solidFill>
                          <a:latin typeface="Segoe UI"/>
                        </a:rPr>
                        <a:t>Confirms whether local limits on the Secondary are mandatory — we believe they are</a:t>
                      </a:r>
                    </a:p>
                  </a:txBody>
                  <a:tcPr marL="50292" marR="41148" marT="20116" marB="20116" anchor="ctr">
                    <a:solidFill>
                      <a:srgbClr val="F6F8FB"/>
                    </a:solidFill>
                  </a:tcPr>
                </a:tc>
              </a:tr>
              <a:tr h="201168">
                <a:tc>
                  <a:txBody>
                    <a:bodyPr/>
                    <a:lstStyle/>
                    <a:p>
                      <a:pPr algn="ctr">
                        <a:lnSpc>
                          <a:spcPct val="100000"/>
                        </a:lnSpc>
                      </a:pPr>
                      <a:r>
                        <a:rPr sz="800" b="1">
                          <a:solidFill>
                            <a:srgbClr val="1E3A5F"/>
                          </a:solidFill>
                          <a:latin typeface="Segoe UI"/>
                        </a:rPr>
                        <a:t>D5</a:t>
                      </a:r>
                    </a:p>
                  </a:txBody>
                  <a:tcPr marL="50292" marR="41148" marT="20116" marB="20116" anchor="ctr">
                    <a:solidFill>
                      <a:srgbClr val="FFFFFF"/>
                    </a:solidFill>
                  </a:tcPr>
                </a:tc>
                <a:tc>
                  <a:txBody>
                    <a:bodyPr/>
                    <a:lstStyle/>
                    <a:p>
                      <a:pPr>
                        <a:lnSpc>
                          <a:spcPct val="100000"/>
                        </a:lnSpc>
                      </a:pPr>
                      <a:r>
                        <a:rPr sz="800" b="1">
                          <a:solidFill>
                            <a:srgbClr val="334155"/>
                          </a:solidFill>
                          <a:latin typeface="Segoe UI"/>
                        </a:rPr>
                        <a:t>Storage device and maximum programme size</a:t>
                      </a:r>
                    </a:p>
                  </a:txBody>
                  <a:tcPr marL="50292" marR="41148" marT="20116" marB="20116" anchor="ctr">
                    <a:solidFill>
                      <a:srgbClr val="FFFFFF"/>
                    </a:solidFill>
                  </a:tcPr>
                </a:tc>
                <a:tc>
                  <a:txBody>
                    <a:bodyPr/>
                    <a:lstStyle/>
                    <a:p>
                      <a:pPr>
                        <a:lnSpc>
                          <a:spcPct val="100000"/>
                        </a:lnSpc>
                      </a:pPr>
                      <a:r>
                        <a:rPr sz="800" b="0">
                          <a:solidFill>
                            <a:srgbClr val="334155"/>
                          </a:solidFill>
                          <a:latin typeface="Segoe UI"/>
                        </a:rPr>
                        <a:t>Hardware and Firmware</a:t>
                      </a:r>
                    </a:p>
                  </a:txBody>
                  <a:tcPr marL="50292" marR="41148" marT="20116" marB="20116" anchor="ctr">
                    <a:solidFill>
                      <a:srgbClr val="FFFFFF"/>
                    </a:solidFill>
                  </a:tcPr>
                </a:tc>
                <a:tc>
                  <a:txBody>
                    <a:bodyPr/>
                    <a:lstStyle/>
                    <a:p>
                      <a:pPr>
                        <a:lnSpc>
                          <a:spcPct val="100000"/>
                        </a:lnSpc>
                      </a:pPr>
                      <a:r>
                        <a:rPr sz="800" b="0">
                          <a:solidFill>
                            <a:srgbClr val="334155"/>
                          </a:solidFill>
                          <a:latin typeface="Segoe UI"/>
                        </a:rPr>
                        <a:t>Blocks the memory layout and the board layout</a:t>
                      </a:r>
                    </a:p>
                  </a:txBody>
                  <a:tcPr marL="50292" marR="41148" marT="20116" marB="20116" anchor="ctr">
                    <a:solidFill>
                      <a:srgbClr val="FFFFFF"/>
                    </a:solidFill>
                  </a:tcPr>
                </a:tc>
              </a:tr>
              <a:tr h="201168">
                <a:tc>
                  <a:txBody>
                    <a:bodyPr/>
                    <a:lstStyle/>
                    <a:p>
                      <a:pPr algn="ctr">
                        <a:lnSpc>
                          <a:spcPct val="100000"/>
                        </a:lnSpc>
                      </a:pPr>
                      <a:r>
                        <a:rPr sz="800" b="1">
                          <a:solidFill>
                            <a:srgbClr val="1E3A5F"/>
                          </a:solidFill>
                          <a:latin typeface="Segoe UI"/>
                        </a:rPr>
                        <a:t>D6</a:t>
                      </a:r>
                    </a:p>
                  </a:txBody>
                  <a:tcPr marL="50292" marR="41148" marT="20116" marB="20116" anchor="ctr">
                    <a:solidFill>
                      <a:srgbClr val="F6F8FB"/>
                    </a:solidFill>
                  </a:tcPr>
                </a:tc>
                <a:tc>
                  <a:txBody>
                    <a:bodyPr/>
                    <a:lstStyle/>
                    <a:p>
                      <a:pPr>
                        <a:lnSpc>
                          <a:spcPct val="100000"/>
                        </a:lnSpc>
                      </a:pPr>
                      <a:r>
                        <a:rPr sz="800" b="1">
                          <a:solidFill>
                            <a:srgbClr val="334155"/>
                          </a:solidFill>
                          <a:latin typeface="Segoe UI"/>
                        </a:rPr>
                        <a:t>Is ME a new product line or an upgrade for installed systems?</a:t>
                      </a:r>
                    </a:p>
                  </a:txBody>
                  <a:tcPr marL="50292" marR="41148" marT="20116" marB="20116" anchor="ctr">
                    <a:solidFill>
                      <a:srgbClr val="F6F8FB"/>
                    </a:solidFill>
                  </a:tcPr>
                </a:tc>
                <a:tc>
                  <a:txBody>
                    <a:bodyPr/>
                    <a:lstStyle/>
                    <a:p>
                      <a:pPr>
                        <a:lnSpc>
                          <a:spcPct val="100000"/>
                        </a:lnSpc>
                      </a:pPr>
                      <a:r>
                        <a:rPr sz="800" b="0">
                          <a:solidFill>
                            <a:srgbClr val="334155"/>
                          </a:solidFill>
                          <a:latin typeface="Segoe UI"/>
                        </a:rPr>
                        <a:t>Product Management</a:t>
                      </a:r>
                    </a:p>
                  </a:txBody>
                  <a:tcPr marL="50292" marR="41148" marT="20116" marB="20116" anchor="ctr">
                    <a:solidFill>
                      <a:srgbClr val="F6F8FB"/>
                    </a:solidFill>
                  </a:tcPr>
                </a:tc>
                <a:tc>
                  <a:txBody>
                    <a:bodyPr/>
                    <a:lstStyle/>
                    <a:p>
                      <a:pPr>
                        <a:lnSpc>
                          <a:spcPct val="100000"/>
                        </a:lnSpc>
                      </a:pPr>
                      <a:r>
                        <a:rPr sz="800" b="0">
                          <a:solidFill>
                            <a:srgbClr val="334155"/>
                          </a:solidFill>
                          <a:latin typeface="Segoe UI"/>
                        </a:rPr>
                        <a:t>Existing Secondaries have no CAN interface, so an upgrade implies hardware rework</a:t>
                      </a:r>
                    </a:p>
                  </a:txBody>
                  <a:tcPr marL="50292" marR="41148" marT="20116" marB="20116" anchor="ctr">
                    <a:solidFill>
                      <a:srgbClr val="F6F8FB"/>
                    </a:solidFill>
                  </a:tcPr>
                </a:tc>
              </a:tr>
              <a:tr h="201168">
                <a:tc>
                  <a:txBody>
                    <a:bodyPr/>
                    <a:lstStyle/>
                    <a:p>
                      <a:pPr algn="ctr">
                        <a:lnSpc>
                          <a:spcPct val="100000"/>
                        </a:lnSpc>
                      </a:pPr>
                      <a:r>
                        <a:rPr sz="800" b="1">
                          <a:solidFill>
                            <a:srgbClr val="1E3A5F"/>
                          </a:solidFill>
                          <a:latin typeface="Segoe UI"/>
                        </a:rPr>
                        <a:t>D7</a:t>
                      </a:r>
                    </a:p>
                  </a:txBody>
                  <a:tcPr marL="50292" marR="41148" marT="20116" marB="20116" anchor="ctr">
                    <a:solidFill>
                      <a:srgbClr val="FFFFFF"/>
                    </a:solidFill>
                  </a:tcPr>
                </a:tc>
                <a:tc>
                  <a:txBody>
                    <a:bodyPr/>
                    <a:lstStyle/>
                    <a:p>
                      <a:pPr>
                        <a:lnSpc>
                          <a:spcPct val="100000"/>
                        </a:lnSpc>
                      </a:pPr>
                      <a:r>
                        <a:rPr sz="800" b="1">
                          <a:solidFill>
                            <a:srgbClr val="334155"/>
                          </a:solidFill>
                          <a:latin typeface="Segoe UI"/>
                        </a:rPr>
                        <a:t>Does the BMS CAN logging feature carry forward?</a:t>
                      </a:r>
                    </a:p>
                  </a:txBody>
                  <a:tcPr marL="50292" marR="41148" marT="20116" marB="20116" anchor="ctr">
                    <a:solidFill>
                      <a:srgbClr val="FFFFFF"/>
                    </a:solidFill>
                  </a:tcPr>
                </a:tc>
                <a:tc>
                  <a:txBody>
                    <a:bodyPr/>
                    <a:lstStyle/>
                    <a:p>
                      <a:pPr>
                        <a:lnSpc>
                          <a:spcPct val="100000"/>
                        </a:lnSpc>
                      </a:pPr>
                      <a:r>
                        <a:rPr sz="800" b="0">
                          <a:solidFill>
                            <a:srgbClr val="334155"/>
                          </a:solidFill>
                          <a:latin typeface="Segoe UI"/>
                        </a:rPr>
                        <a:t>Product Management</a:t>
                      </a:r>
                    </a:p>
                  </a:txBody>
                  <a:tcPr marL="50292" marR="41148" marT="20116" marB="20116" anchor="ctr">
                    <a:solidFill>
                      <a:srgbClr val="FFFFFF"/>
                    </a:solidFill>
                  </a:tcPr>
                </a:tc>
                <a:tc>
                  <a:txBody>
                    <a:bodyPr/>
                    <a:lstStyle/>
                    <a:p>
                      <a:pPr>
                        <a:lnSpc>
                          <a:spcPct val="100000"/>
                        </a:lnSpc>
                      </a:pPr>
                      <a:r>
                        <a:rPr sz="800" b="0">
                          <a:solidFill>
                            <a:srgbClr val="334155"/>
                          </a:solidFill>
                          <a:latin typeface="Segoe UI"/>
                        </a:rPr>
                        <a:t>Determines whether the COM controller board survives</a:t>
                      </a:r>
                    </a:p>
                  </a:txBody>
                  <a:tcPr marL="50292" marR="41148" marT="20116" marB="20116" anchor="ctr">
                    <a:solidFill>
                      <a:srgbClr val="FFFFFF"/>
                    </a:solidFill>
                  </a:tcPr>
                </a:tc>
              </a:tr>
              <a:tr h="201168">
                <a:tc>
                  <a:txBody>
                    <a:bodyPr/>
                    <a:lstStyle/>
                    <a:p>
                      <a:pPr algn="ctr">
                        <a:lnSpc>
                          <a:spcPct val="100000"/>
                        </a:lnSpc>
                      </a:pPr>
                      <a:r>
                        <a:rPr sz="800" b="1">
                          <a:solidFill>
                            <a:srgbClr val="1E3A5F"/>
                          </a:solidFill>
                          <a:latin typeface="Segoe UI"/>
                        </a:rPr>
                        <a:t>D8</a:t>
                      </a:r>
                    </a:p>
                  </a:txBody>
                  <a:tcPr marL="50292" marR="41148" marT="20116" marB="20116" anchor="ctr">
                    <a:solidFill>
                      <a:srgbClr val="F6F8FB"/>
                    </a:solidFill>
                  </a:tcPr>
                </a:tc>
                <a:tc>
                  <a:txBody>
                    <a:bodyPr/>
                    <a:lstStyle/>
                    <a:p>
                      <a:pPr>
                        <a:lnSpc>
                          <a:spcPct val="100000"/>
                        </a:lnSpc>
                      </a:pPr>
                      <a:r>
                        <a:rPr sz="800" b="1">
                          <a:solidFill>
                            <a:srgbClr val="334155"/>
                          </a:solidFill>
                          <a:latin typeface="Segoe UI"/>
                        </a:rPr>
                        <a:t>Must all eight channels run different sequences at once?</a:t>
                      </a:r>
                    </a:p>
                  </a:txBody>
                  <a:tcPr marL="50292" marR="41148" marT="20116" marB="20116" anchor="ctr">
                    <a:solidFill>
                      <a:srgbClr val="F6F8FB"/>
                    </a:solidFill>
                  </a:tcPr>
                </a:tc>
                <a:tc>
                  <a:txBody>
                    <a:bodyPr/>
                    <a:lstStyle/>
                    <a:p>
                      <a:pPr>
                        <a:lnSpc>
                          <a:spcPct val="100000"/>
                        </a:lnSpc>
                      </a:pPr>
                      <a:r>
                        <a:rPr sz="800" b="0">
                          <a:solidFill>
                            <a:srgbClr val="334155"/>
                          </a:solidFill>
                          <a:latin typeface="Segoe UI"/>
                        </a:rPr>
                        <a:t>Product Management</a:t>
                      </a:r>
                    </a:p>
                  </a:txBody>
                  <a:tcPr marL="50292" marR="41148" marT="20116" marB="20116" anchor="ctr">
                    <a:solidFill>
                      <a:srgbClr val="F6F8FB"/>
                    </a:solidFill>
                  </a:tcPr>
                </a:tc>
                <a:tc>
                  <a:txBody>
                    <a:bodyPr/>
                    <a:lstStyle/>
                    <a:p>
                      <a:pPr>
                        <a:lnSpc>
                          <a:spcPct val="100000"/>
                        </a:lnSpc>
                      </a:pPr>
                      <a:r>
                        <a:rPr sz="800" b="0">
                          <a:solidFill>
                            <a:srgbClr val="334155"/>
                          </a:solidFill>
                          <a:latin typeface="Segoe UI"/>
                        </a:rPr>
                        <a:t>Has a large effect on the processing capacity the Primary requires</a:t>
                      </a:r>
                    </a:p>
                  </a:txBody>
                  <a:tcPr marL="50292" marR="41148" marT="20116" marB="20116" anchor="ctr">
                    <a:solidFill>
                      <a:srgbClr val="F6F8FB"/>
                    </a:solidFill>
                  </a:tcPr>
                </a:tc>
              </a:tr>
            </a:tbl>
          </a:graphicData>
        </a:graphic>
      </p:graphicFrame>
      <p:sp>
        <p:nvSpPr>
          <p:cNvPr id="36" name="Rectangle 35"/>
          <p:cNvSpPr/>
          <p:nvPr/>
        </p:nvSpPr>
        <p:spPr>
          <a:xfrm>
            <a:off x="0" y="6547104"/>
            <a:ext cx="12191695" cy="310896"/>
          </a:xfrm>
          <a:prstGeom prst="rect">
            <a:avLst/>
          </a:prstGeom>
          <a:solidFill>
            <a:srgbClr val="E4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02920" y="6597396"/>
            <a:ext cx="8961120" cy="201168"/>
          </a:xfrm>
          <a:prstGeom prst="rect">
            <a:avLst/>
          </a:prstGeom>
          <a:noFill/>
        </p:spPr>
        <p:txBody>
          <a:bodyPr wrap="square" anchor="t" lIns="18288" rIns="18288" tIns="0" bIns="0">
            <a:spAutoFit/>
          </a:bodyPr>
          <a:lstStyle/>
          <a:p>
            <a:pPr algn="l">
              <a:lnSpc>
                <a:spcPct val="100000"/>
              </a:lnSpc>
            </a:pPr>
            <a:r>
              <a:rPr sz="750" b="0" i="0">
                <a:solidFill>
                  <a:srgbClr val="64748B"/>
                </a:solidFill>
                <a:latin typeface="Segoe UI"/>
              </a:rPr>
              <a:t>BTS-CMP-ME-001 v3.0  ·  OLD BTS vs NEW ME  ·  Firmware Engineering  ·  31 July 2026</a:t>
            </a:r>
          </a:p>
        </p:txBody>
      </p:sp>
      <p:sp>
        <p:nvSpPr>
          <p:cNvPr id="38" name="TextBox 37"/>
          <p:cNvSpPr txBox="1"/>
          <p:nvPr/>
        </p:nvSpPr>
        <p:spPr>
          <a:xfrm>
            <a:off x="11247120" y="6597396"/>
            <a:ext cx="502920" cy="201168"/>
          </a:xfrm>
          <a:prstGeom prst="rect">
            <a:avLst/>
          </a:prstGeom>
          <a:noFill/>
        </p:spPr>
        <p:txBody>
          <a:bodyPr wrap="square" anchor="t" lIns="18288" rIns="18288" tIns="0" bIns="0">
            <a:spAutoFit/>
          </a:bodyPr>
          <a:lstStyle/>
          <a:p>
            <a:pPr algn="r">
              <a:lnSpc>
                <a:spcPct val="100000"/>
              </a:lnSpc>
            </a:pPr>
            <a:r>
              <a:rPr sz="750" b="1" i="0">
                <a:solidFill>
                  <a:srgbClr val="1E3A5F"/>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1F4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18872" cy="6858000"/>
          </a:xfrm>
          <a:prstGeom prst="rect">
            <a:avLst/>
          </a:prstGeom>
          <a:solidFill>
            <a:srgbClr val="0D8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595360" y="-1828800"/>
            <a:ext cx="5852160" cy="5852160"/>
          </a:xfrm>
          <a:prstGeom prst="ellipse">
            <a:avLst/>
          </a:prstGeom>
          <a:solidFill>
            <a:srgbClr val="18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7315200" cy="256032"/>
          </a:xfrm>
          <a:prstGeom prst="rect">
            <a:avLst/>
          </a:prstGeom>
          <a:noFill/>
        </p:spPr>
        <p:txBody>
          <a:bodyPr wrap="square" anchor="t" lIns="18288" rIns="18288" tIns="0" bIns="0">
            <a:spAutoFit/>
          </a:bodyPr>
          <a:lstStyle/>
          <a:p>
            <a:pPr algn="l">
              <a:lnSpc>
                <a:spcPct val="100000"/>
              </a:lnSpc>
            </a:pPr>
            <a:r>
              <a:rPr sz="1000" b="1" i="0">
                <a:solidFill>
                  <a:srgbClr val="0D8B86"/>
                </a:solidFill>
                <a:latin typeface="Segoe UI"/>
              </a:rPr>
              <a:t>CONCLUSION</a:t>
            </a:r>
          </a:p>
        </p:txBody>
      </p:sp>
      <p:sp>
        <p:nvSpPr>
          <p:cNvPr id="6" name="TextBox 5"/>
          <p:cNvSpPr txBox="1"/>
          <p:nvPr/>
        </p:nvSpPr>
        <p:spPr>
          <a:xfrm>
            <a:off x="731520" y="621792"/>
            <a:ext cx="10058400" cy="502920"/>
          </a:xfrm>
          <a:prstGeom prst="rect">
            <a:avLst/>
          </a:prstGeom>
          <a:noFill/>
        </p:spPr>
        <p:txBody>
          <a:bodyPr wrap="square" anchor="t" lIns="18288" rIns="18288" tIns="0" bIns="0">
            <a:spAutoFit/>
          </a:bodyPr>
          <a:lstStyle/>
          <a:p>
            <a:pPr algn="l">
              <a:lnSpc>
                <a:spcPct val="100000"/>
              </a:lnSpc>
            </a:pPr>
            <a:r>
              <a:rPr sz="2400" b="1" i="0">
                <a:solidFill>
                  <a:srgbClr val="FFFFFF"/>
                </a:solidFill>
                <a:latin typeface="Segoe UI Light"/>
              </a:rPr>
              <a:t>Five questions, five answers</a:t>
            </a:r>
          </a:p>
        </p:txBody>
      </p:sp>
      <p:sp>
        <p:nvSpPr>
          <p:cNvPr id="7" name="Rounded Rectangle 6"/>
          <p:cNvSpPr/>
          <p:nvPr/>
        </p:nvSpPr>
        <p:spPr>
          <a:xfrm>
            <a:off x="731520" y="1280160"/>
            <a:ext cx="10744200" cy="914400"/>
          </a:xfrm>
          <a:prstGeom prst="roundRect">
            <a:avLst>
              <a:gd name="adj" fmla="val 10000"/>
            </a:avLst>
          </a:prstGeom>
          <a:solidFill>
            <a:srgbClr val="1B3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31520" y="1280160"/>
            <a:ext cx="54864" cy="91440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1362456"/>
            <a:ext cx="5486400" cy="256032"/>
          </a:xfrm>
          <a:prstGeom prst="rect">
            <a:avLst/>
          </a:prstGeom>
          <a:noFill/>
        </p:spPr>
        <p:txBody>
          <a:bodyPr wrap="square" anchor="t" lIns="18288" rIns="18288" tIns="0" bIns="0">
            <a:spAutoFit/>
          </a:bodyPr>
          <a:lstStyle/>
          <a:p>
            <a:pPr algn="l">
              <a:lnSpc>
                <a:spcPct val="100000"/>
              </a:lnSpc>
            </a:pPr>
            <a:r>
              <a:rPr sz="1100" b="1" i="0">
                <a:solidFill>
                  <a:srgbClr val="FFFFFF"/>
                </a:solidFill>
                <a:latin typeface="Segoe UI"/>
              </a:rPr>
              <a:t>Is the ME architecture the right direction?</a:t>
            </a:r>
          </a:p>
        </p:txBody>
      </p:sp>
      <p:sp>
        <p:nvSpPr>
          <p:cNvPr id="10" name="Rounded Rectangle 9"/>
          <p:cNvSpPr/>
          <p:nvPr/>
        </p:nvSpPr>
        <p:spPr>
          <a:xfrm>
            <a:off x="6720840" y="1344168"/>
            <a:ext cx="2697480" cy="265176"/>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Segoe UI"/>
              </a:rPr>
              <a:t>YES</a:t>
            </a:r>
          </a:p>
        </p:txBody>
      </p:sp>
      <p:sp>
        <p:nvSpPr>
          <p:cNvPr id="11" name="TextBox 10"/>
          <p:cNvSpPr txBox="1"/>
          <p:nvPr/>
        </p:nvSpPr>
        <p:spPr>
          <a:xfrm>
            <a:off x="960120" y="1655063"/>
            <a:ext cx="10241280" cy="502920"/>
          </a:xfrm>
          <a:prstGeom prst="rect">
            <a:avLst/>
          </a:prstGeom>
          <a:noFill/>
        </p:spPr>
        <p:txBody>
          <a:bodyPr wrap="square" anchor="t" lIns="18288" rIns="18288" tIns="0" bIns="0">
            <a:spAutoFit/>
          </a:bodyPr>
          <a:lstStyle/>
          <a:p>
            <a:pPr algn="l">
              <a:lnSpc>
                <a:spcPct val="120000"/>
              </a:lnSpc>
            </a:pPr>
            <a:r>
              <a:rPr sz="850" b="0" i="0">
                <a:solidFill>
                  <a:srgbClr val="AFC2D8"/>
                </a:solidFill>
                <a:latin typeface="Segoe UI"/>
              </a:rPr>
              <a:t>Centralising the test intelligence and moving to a shared bus converts a one-channel-per-controller product into an eight-channel-per-controller product. That is a structural improvement in unit economics and in maintainability, not an incremental one.</a:t>
            </a:r>
          </a:p>
        </p:txBody>
      </p:sp>
      <p:sp>
        <p:nvSpPr>
          <p:cNvPr id="12" name="Rounded Rectangle 11"/>
          <p:cNvSpPr/>
          <p:nvPr/>
        </p:nvSpPr>
        <p:spPr>
          <a:xfrm>
            <a:off x="731520" y="2286000"/>
            <a:ext cx="10744200" cy="914400"/>
          </a:xfrm>
          <a:prstGeom prst="roundRect">
            <a:avLst>
              <a:gd name="adj" fmla="val 10000"/>
            </a:avLst>
          </a:prstGeom>
          <a:solidFill>
            <a:srgbClr val="1B3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31520" y="2286000"/>
            <a:ext cx="54864" cy="914400"/>
          </a:xfrm>
          <a:prstGeom prst="rect">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2368296"/>
            <a:ext cx="5486400" cy="256032"/>
          </a:xfrm>
          <a:prstGeom prst="rect">
            <a:avLst/>
          </a:prstGeom>
          <a:noFill/>
        </p:spPr>
        <p:txBody>
          <a:bodyPr wrap="square" anchor="t" lIns="18288" rIns="18288" tIns="0" bIns="0">
            <a:spAutoFit/>
          </a:bodyPr>
          <a:lstStyle/>
          <a:p>
            <a:pPr algn="l">
              <a:lnSpc>
                <a:spcPct val="100000"/>
              </a:lnSpc>
            </a:pPr>
            <a:r>
              <a:rPr sz="1100" b="1" i="0">
                <a:solidFill>
                  <a:srgbClr val="FFFFFF"/>
                </a:solidFill>
                <a:latin typeface="Segoe UI"/>
              </a:rPr>
              <a:t>Can the 1 ms live data requirement be met?</a:t>
            </a:r>
          </a:p>
        </p:txBody>
      </p:sp>
      <p:sp>
        <p:nvSpPr>
          <p:cNvPr id="15" name="Rounded Rectangle 14"/>
          <p:cNvSpPr/>
          <p:nvPr/>
        </p:nvSpPr>
        <p:spPr>
          <a:xfrm>
            <a:off x="6720840" y="2350008"/>
            <a:ext cx="2697480" cy="265176"/>
          </a:xfrm>
          <a:prstGeom prst="roundRect">
            <a:avLst>
              <a:gd name="adj" fmla="val 50000"/>
            </a:avLst>
          </a:prstGeom>
          <a:solidFill>
            <a:srgbClr val="B4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Segoe UI"/>
              </a:rPr>
              <a:t>YES — BUT ONLY WITH CAN FD</a:t>
            </a:r>
          </a:p>
        </p:txBody>
      </p:sp>
      <p:sp>
        <p:nvSpPr>
          <p:cNvPr id="16" name="TextBox 15"/>
          <p:cNvSpPr txBox="1"/>
          <p:nvPr/>
        </p:nvSpPr>
        <p:spPr>
          <a:xfrm>
            <a:off x="960120" y="2660904"/>
            <a:ext cx="10241280" cy="502920"/>
          </a:xfrm>
          <a:prstGeom prst="rect">
            <a:avLst/>
          </a:prstGeom>
          <a:noFill/>
        </p:spPr>
        <p:txBody>
          <a:bodyPr wrap="square" anchor="t" lIns="18288" rIns="18288" tIns="0" bIns="0">
            <a:spAutoFit/>
          </a:bodyPr>
          <a:lstStyle/>
          <a:p>
            <a:pPr algn="l">
              <a:lnSpc>
                <a:spcPct val="120000"/>
              </a:lnSpc>
            </a:pPr>
            <a:r>
              <a:rPr sz="850" b="0" i="0">
                <a:solidFill>
                  <a:srgbClr val="AFC2D8"/>
                </a:solidFill>
                <a:latin typeface="Segoe UI"/>
              </a:rPr>
              <a:t>Eight nodes reporting 8 bytes every millisecond demand exactly 1 Mbit/s — the entire capacity of a standard CAN bus. Standard CAN therefore fails at any speed. With CAN FD and grouped readings, every reading reaches the database and the bus runs at about 30 % of capacity.</a:t>
            </a:r>
          </a:p>
        </p:txBody>
      </p:sp>
      <p:sp>
        <p:nvSpPr>
          <p:cNvPr id="17" name="Rounded Rectangle 16"/>
          <p:cNvSpPr/>
          <p:nvPr/>
        </p:nvSpPr>
        <p:spPr>
          <a:xfrm>
            <a:off x="731520" y="3291840"/>
            <a:ext cx="10744200" cy="914400"/>
          </a:xfrm>
          <a:prstGeom prst="roundRect">
            <a:avLst>
              <a:gd name="adj" fmla="val 10000"/>
            </a:avLst>
          </a:prstGeom>
          <a:solidFill>
            <a:srgbClr val="1B3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1520" y="3291840"/>
            <a:ext cx="54864" cy="914400"/>
          </a:xfrm>
          <a:prstGeom prst="rect">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3374136"/>
            <a:ext cx="5486400" cy="256032"/>
          </a:xfrm>
          <a:prstGeom prst="rect">
            <a:avLst/>
          </a:prstGeom>
          <a:noFill/>
        </p:spPr>
        <p:txBody>
          <a:bodyPr wrap="square" anchor="t" lIns="18288" rIns="18288" tIns="0" bIns="0">
            <a:spAutoFit/>
          </a:bodyPr>
          <a:lstStyle/>
          <a:p>
            <a:pPr algn="l">
              <a:lnSpc>
                <a:spcPct val="100000"/>
              </a:lnSpc>
            </a:pPr>
            <a:r>
              <a:rPr sz="1100" b="1" i="0">
                <a:solidFill>
                  <a:srgbClr val="FFFFFF"/>
                </a:solidFill>
                <a:latin typeface="Segoe UI"/>
              </a:rPr>
              <a:t>Is the change free?</a:t>
            </a:r>
          </a:p>
        </p:txBody>
      </p:sp>
      <p:sp>
        <p:nvSpPr>
          <p:cNvPr id="20" name="Rounded Rectangle 19"/>
          <p:cNvSpPr/>
          <p:nvPr/>
        </p:nvSpPr>
        <p:spPr>
          <a:xfrm>
            <a:off x="6720840" y="3355848"/>
            <a:ext cx="2697480" cy="265176"/>
          </a:xfrm>
          <a:prstGeom prst="roundRect">
            <a:avLst>
              <a:gd name="adj" fmla="val 50000"/>
            </a:avLst>
          </a:prstGeom>
          <a:solidFill>
            <a:srgbClr val="9B2C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Segoe UI"/>
              </a:rPr>
              <a:t>NO</a:t>
            </a:r>
          </a:p>
        </p:txBody>
      </p:sp>
      <p:sp>
        <p:nvSpPr>
          <p:cNvPr id="21" name="TextBox 20"/>
          <p:cNvSpPr txBox="1"/>
          <p:nvPr/>
        </p:nvSpPr>
        <p:spPr>
          <a:xfrm>
            <a:off x="960120" y="3666744"/>
            <a:ext cx="10241280" cy="502920"/>
          </a:xfrm>
          <a:prstGeom prst="rect">
            <a:avLst/>
          </a:prstGeom>
          <a:noFill/>
        </p:spPr>
        <p:txBody>
          <a:bodyPr wrap="square" anchor="t" lIns="18288" rIns="18288" tIns="0" bIns="0">
            <a:spAutoFit/>
          </a:bodyPr>
          <a:lstStyle/>
          <a:p>
            <a:pPr algn="l">
              <a:lnSpc>
                <a:spcPct val="120000"/>
              </a:lnSpc>
            </a:pPr>
            <a:r>
              <a:rPr sz="850" b="0" i="0">
                <a:solidFill>
                  <a:srgbClr val="AFC2D8"/>
                </a:solidFill>
                <a:latin typeface="Segoe UI"/>
              </a:rPr>
              <a:t>It reduces fault isolation, because one Primary fault now affects eight channels instead of one, and it makes the shared bus a resource that must be budgeted. These are real costs against the shipping product.</a:t>
            </a:r>
          </a:p>
        </p:txBody>
      </p:sp>
      <p:sp>
        <p:nvSpPr>
          <p:cNvPr id="22" name="Rounded Rectangle 21"/>
          <p:cNvSpPr/>
          <p:nvPr/>
        </p:nvSpPr>
        <p:spPr>
          <a:xfrm>
            <a:off x="731520" y="4297680"/>
            <a:ext cx="10744200" cy="914400"/>
          </a:xfrm>
          <a:prstGeom prst="roundRect">
            <a:avLst>
              <a:gd name="adj" fmla="val 10000"/>
            </a:avLst>
          </a:prstGeom>
          <a:solidFill>
            <a:srgbClr val="1B3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520" y="4297680"/>
            <a:ext cx="54864" cy="914400"/>
          </a:xfrm>
          <a:prstGeom prst="rect">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 y="4379976"/>
            <a:ext cx="5486400" cy="256032"/>
          </a:xfrm>
          <a:prstGeom prst="rect">
            <a:avLst/>
          </a:prstGeom>
          <a:noFill/>
        </p:spPr>
        <p:txBody>
          <a:bodyPr wrap="square" anchor="t" lIns="18288" rIns="18288" tIns="0" bIns="0">
            <a:spAutoFit/>
          </a:bodyPr>
          <a:lstStyle/>
          <a:p>
            <a:pPr algn="l">
              <a:lnSpc>
                <a:spcPct val="100000"/>
              </a:lnSpc>
            </a:pPr>
            <a:r>
              <a:rPr sz="1100" b="1" i="0">
                <a:solidFill>
                  <a:srgbClr val="FFFFFF"/>
                </a:solidFill>
                <a:latin typeface="Segoe UI"/>
              </a:rPr>
              <a:t>Can the trade be made safely?</a:t>
            </a:r>
          </a:p>
        </p:txBody>
      </p:sp>
      <p:sp>
        <p:nvSpPr>
          <p:cNvPr id="25" name="Rounded Rectangle 24"/>
          <p:cNvSpPr/>
          <p:nvPr/>
        </p:nvSpPr>
        <p:spPr>
          <a:xfrm>
            <a:off x="6720840" y="4361688"/>
            <a:ext cx="2697480" cy="265176"/>
          </a:xfrm>
          <a:prstGeom prst="roundRect">
            <a:avLst>
              <a:gd name="adj" fmla="val 50000"/>
            </a:avLst>
          </a:prstGeom>
          <a:solidFill>
            <a:srgbClr val="246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Segoe UI"/>
              </a:rPr>
              <a:t>YES — WITH THREE CONDITIONS</a:t>
            </a:r>
          </a:p>
        </p:txBody>
      </p:sp>
      <p:sp>
        <p:nvSpPr>
          <p:cNvPr id="26" name="TextBox 25"/>
          <p:cNvSpPr txBox="1"/>
          <p:nvPr/>
        </p:nvSpPr>
        <p:spPr>
          <a:xfrm>
            <a:off x="960120" y="4672584"/>
            <a:ext cx="10241280" cy="502920"/>
          </a:xfrm>
          <a:prstGeom prst="rect">
            <a:avLst/>
          </a:prstGeom>
          <a:noFill/>
        </p:spPr>
        <p:txBody>
          <a:bodyPr wrap="square" anchor="t" lIns="18288" rIns="18288" tIns="0" bIns="0">
            <a:spAutoFit/>
          </a:bodyPr>
          <a:lstStyle/>
          <a:p>
            <a:pPr algn="l">
              <a:lnSpc>
                <a:spcPct val="120000"/>
              </a:lnSpc>
            </a:pPr>
            <a:r>
              <a:rPr sz="850" b="0" i="0">
                <a:solidFill>
                  <a:srgbClr val="AFC2D8"/>
                </a:solidFill>
                <a:latin typeface="Segoe UI"/>
              </a:rPr>
              <a:t>A · Keep the 1 ms regulation loop on the Secondary.      B · Keep protection limits on the Secondary, acting independently of the bus.      C · Specify CAN FD rather than standard CAN.</a:t>
            </a:r>
          </a:p>
        </p:txBody>
      </p:sp>
      <p:sp>
        <p:nvSpPr>
          <p:cNvPr id="27" name="Rounded Rectangle 26"/>
          <p:cNvSpPr/>
          <p:nvPr/>
        </p:nvSpPr>
        <p:spPr>
          <a:xfrm>
            <a:off x="731520" y="5340096"/>
            <a:ext cx="10744200" cy="1024128"/>
          </a:xfrm>
          <a:prstGeom prst="roundRect">
            <a:avLst>
              <a:gd name="adj" fmla="val 9000"/>
            </a:avLst>
          </a:prstGeom>
          <a:solidFill>
            <a:srgbClr val="0A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0120" y="5449824"/>
            <a:ext cx="8229600" cy="256032"/>
          </a:xfrm>
          <a:prstGeom prst="rect">
            <a:avLst/>
          </a:prstGeom>
          <a:noFill/>
        </p:spPr>
        <p:txBody>
          <a:bodyPr wrap="square" anchor="t" lIns="18288" rIns="18288" tIns="0" bIns="0">
            <a:spAutoFit/>
          </a:bodyPr>
          <a:lstStyle/>
          <a:p>
            <a:pPr algn="l">
              <a:lnSpc>
                <a:spcPct val="100000"/>
              </a:lnSpc>
            </a:pPr>
            <a:r>
              <a:rPr sz="950" b="1" i="0">
                <a:solidFill>
                  <a:srgbClr val="B2E8E5"/>
                </a:solidFill>
                <a:latin typeface="Segoe UI"/>
              </a:rPr>
              <a:t>WHAT IS THE SINGLE MOST IMPORTANT THING TO GET RIGHT?</a:t>
            </a:r>
          </a:p>
        </p:txBody>
      </p:sp>
      <p:sp>
        <p:nvSpPr>
          <p:cNvPr id="29" name="TextBox 28"/>
          <p:cNvSpPr txBox="1"/>
          <p:nvPr/>
        </p:nvSpPr>
        <p:spPr>
          <a:xfrm>
            <a:off x="960120" y="5705856"/>
            <a:ext cx="10241280" cy="603504"/>
          </a:xfrm>
          <a:prstGeom prst="rect">
            <a:avLst/>
          </a:prstGeom>
          <a:noFill/>
        </p:spPr>
        <p:txBody>
          <a:bodyPr wrap="square" anchor="t" lIns="0" rIns="0" tIns="0" bIns="0">
            <a:spAutoFit/>
          </a:bodyPr>
          <a:lstStyle/>
          <a:p>
            <a:pPr algn="l">
              <a:lnSpc>
                <a:spcPct val="105000"/>
              </a:lnSpc>
              <a:spcBef>
                <a:spcPts val="0"/>
              </a:spcBef>
            </a:pPr>
            <a:r>
              <a:rPr sz="1400" b="1">
                <a:solidFill>
                  <a:srgbClr val="FFFFFF"/>
                </a:solidFill>
                <a:latin typeface="Segoe UI"/>
              </a:rPr>
              <a:t>Keeping protection local to each Secondary.</a:t>
            </a:r>
          </a:p>
          <a:p>
            <a:pPr algn="l">
              <a:lnSpc>
                <a:spcPct val="105000"/>
              </a:lnSpc>
              <a:spcBef>
                <a:spcPts val="400"/>
              </a:spcBef>
            </a:pPr>
            <a:r>
              <a:rPr sz="900" b="0">
                <a:solidFill>
                  <a:srgbClr val="CFECEA"/>
                </a:solidFill>
                <a:latin typeface="Segoe UI"/>
              </a:rPr>
              <a:t>Everything else in this proposal is an engineering trade-off with a cost attached. This one is a safety requirement — and it is inexpensive to honour, because the capability already exists on the board.</a:t>
            </a:r>
          </a:p>
        </p:txBody>
      </p:sp>
      <p:sp>
        <p:nvSpPr>
          <p:cNvPr id="30" name="TextBox 29"/>
          <p:cNvSpPr txBox="1"/>
          <p:nvPr/>
        </p:nvSpPr>
        <p:spPr>
          <a:xfrm>
            <a:off x="731520" y="6437376"/>
            <a:ext cx="10744200" cy="219456"/>
          </a:xfrm>
          <a:prstGeom prst="rect">
            <a:avLst/>
          </a:prstGeom>
          <a:noFill/>
        </p:spPr>
        <p:txBody>
          <a:bodyPr wrap="square" anchor="t" lIns="18288" rIns="18288" tIns="0" bIns="0">
            <a:spAutoFit/>
          </a:bodyPr>
          <a:lstStyle/>
          <a:p>
            <a:pPr algn="l">
              <a:lnSpc>
                <a:spcPct val="100000"/>
              </a:lnSpc>
            </a:pPr>
            <a:r>
              <a:rPr sz="750" b="0" i="0">
                <a:solidFill>
                  <a:srgbClr val="6C829E"/>
                </a:solidFill>
                <a:latin typeface="Segoe UI"/>
              </a:rPr>
              <a:t>BTS-CMP-ME-001 v2.0  ·  Firmware Engineering  ·  31 July 2026  ·  Full analysis in OLD_BTS_vs_NEW_ME_Comparison.md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