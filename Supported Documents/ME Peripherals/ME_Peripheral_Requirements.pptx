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0D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0058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7FC9C6"/>
                </a:solidFill>
                <a:latin typeface="Segoe UI"/>
              </a:rPr>
              <a:t>ME PROJECT  ·  PERIPHERAL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 Light"/>
              </a:rPr>
              <a:t>Primary Board — Required Peripherals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6C6D8"/>
                </a:solidFill>
                <a:latin typeface="Segoe UI"/>
              </a:rPr>
              <a:t>What the Primary board must provide. Digital input and output counts were read from the existing firmware, not estimated.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429000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97687" y="1371600"/>
            <a:ext cx="271576" cy="877824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5760" y="1591056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37943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144475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A6E6A"/>
                </a:solidFill>
                <a:latin typeface="Segoe UI"/>
              </a:rPr>
              <a:t>ETHERNET  10/100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1636776"/>
            <a:ext cx="2587752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Communicate with the web application. TCP/IP carries the test sequence down; UDP carries live and session data 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029967"/>
            <a:ext cx="25877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Needs an external PHY and isolated connector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340864"/>
            <a:ext cx="3429000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65760" y="2340864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7687" y="2340864"/>
            <a:ext cx="271576" cy="877824"/>
          </a:xfrm>
          <a:prstGeom prst="rect">
            <a:avLst/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5760" y="256032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07208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2414016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B2C35"/>
                </a:solidFill>
                <a:latin typeface="Segoe UI"/>
              </a:rPr>
              <a:t>CAN FD  —  TEST BUS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2606040"/>
            <a:ext cx="2587752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Communicate with up to eight Secondary boards. Sends target current and voltage; receives grouped measurements.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2999232"/>
            <a:ext cx="25877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CAN FD  ·  1 Mbit/s arbitration  ·  2 Mbit/s data  ·  64-byte payload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310128"/>
            <a:ext cx="3429000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365760" y="3310128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97687" y="3310128"/>
            <a:ext cx="271576" cy="877824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65760" y="3529583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776472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338328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7A14"/>
                </a:solidFill>
                <a:latin typeface="Segoe UI"/>
              </a:rPr>
              <a:t>CAN  —  BMS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3575304"/>
            <a:ext cx="2587752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Communicate with the BMS network, interpreted through the CAN database uploaded from the web application.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3968496"/>
            <a:ext cx="25877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Separate physical port from the test bus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79392"/>
            <a:ext cx="3429000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65760" y="4279392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97687" y="4279392"/>
            <a:ext cx="271576" cy="877824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65760" y="4498848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745736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" y="4352544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7A14"/>
                </a:solidFill>
                <a:latin typeface="Segoe UI"/>
              </a:rPr>
              <a:t>CAN  —  EXTERNAL SENSORS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" y="4544568"/>
            <a:ext cx="2587752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Read data from external sensors mounted around the test bench.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" y="4937759"/>
            <a:ext cx="25877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Separate physical port from the test bus and the BMS bus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248655"/>
            <a:ext cx="3429000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65760" y="5248655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97687" y="5248655"/>
            <a:ext cx="271576" cy="87782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5760" y="5468111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714999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" y="5321807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4B8A"/>
                </a:solidFill>
                <a:latin typeface="Segoe UI"/>
              </a:rPr>
              <a:t>RS-485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" y="5513831"/>
            <a:ext cx="2587752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Modbus communication. Two independent ports.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" y="5907023"/>
            <a:ext cx="25877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Each needs its own transceiver, biasing and termination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60920" y="1371600"/>
            <a:ext cx="4462272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11219688" y="1371600"/>
            <a:ext cx="603504" cy="987552"/>
          </a:xfrm>
          <a:prstGeom prst="roundRect">
            <a:avLst>
              <a:gd name="adj" fmla="val 11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1219688" y="1371600"/>
            <a:ext cx="271576" cy="9875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1219688" y="164592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19688" y="1892807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INPUTS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9792" y="1444752"/>
            <a:ext cx="3621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3A5F"/>
                </a:solidFill>
                <a:latin typeface="Segoe UI"/>
              </a:rPr>
              <a:t>DIGITAL INPUTS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9792" y="1636776"/>
            <a:ext cx="3621024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Interlocks and status contacts. All four are active low, and their states are reported to the web application.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9792" y="2139696"/>
            <a:ext cx="36210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PC2 / J9   ·   PC3 / J10   ·   PC6 / J8   ·   PC7 / J11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60920" y="2450592"/>
            <a:ext cx="4462272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1219688" y="2450592"/>
            <a:ext cx="603504" cy="987552"/>
          </a:xfrm>
          <a:prstGeom prst="roundRect">
            <a:avLst>
              <a:gd name="adj" fmla="val 11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1219688" y="2450592"/>
            <a:ext cx="271576" cy="9875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219688" y="2724912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19688" y="2971800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OUTPUTS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9792" y="2523744"/>
            <a:ext cx="3621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3A5F"/>
                </a:solidFill>
                <a:latin typeface="Segoe UI"/>
              </a:rPr>
              <a:t>DIGITAL OUTPUTS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79792" y="2715768"/>
            <a:ext cx="3621024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Contactor and indicator control. Each is driven from one bit of a control byte the web application can set.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79792" y="3218688"/>
            <a:ext cx="36210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PC17 / J10   ·   PC31 / J11   ·   PC18 / J12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60920" y="3529584"/>
            <a:ext cx="4462272" cy="859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11219688" y="3529584"/>
            <a:ext cx="603504" cy="859536"/>
          </a:xfrm>
          <a:prstGeom prst="roundRect">
            <a:avLst>
              <a:gd name="adj" fmla="val 11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1219688" y="3529584"/>
            <a:ext cx="271576" cy="85953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1219688" y="3739896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19688" y="3986784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UNIT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79792" y="3602736"/>
            <a:ext cx="3621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B4B8A"/>
                </a:solidFill>
                <a:latin typeface="Segoe UI"/>
              </a:rPr>
              <a:t>REAL-TIME CLOCK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79792" y="3794760"/>
            <a:ext cx="3621024" cy="356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Keep correct time across a power loss, without depending on the PC. Records are timestamped to 1 ms.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79792" y="4169664"/>
            <a:ext cx="36210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Requires a battery or supercapacitor backup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60920" y="4480560"/>
            <a:ext cx="4462272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11219688" y="4480560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11219688" y="4480560"/>
            <a:ext cx="271576" cy="877824"/>
          </a:xfrm>
          <a:prstGeom prst="rect">
            <a:avLst/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1219688" y="4700016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19688" y="4946904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DEVICE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79792" y="4553712"/>
            <a:ext cx="3621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46B4D"/>
                </a:solidFill>
                <a:latin typeface="Segoe UI"/>
              </a:rPr>
              <a:t>NON-VOLATILE MEMORY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79792" y="4745736"/>
            <a:ext cx="3621024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Store EIGHT test sequences, battery and channel configuration, calibration, and power-fail recovery data.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79792" y="5138928"/>
            <a:ext cx="36210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Capacity set by the maximum size allowed per sequence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60920" y="5449824"/>
            <a:ext cx="4462272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11219688" y="5449824"/>
            <a:ext cx="603504" cy="676656"/>
          </a:xfrm>
          <a:prstGeom prst="roundRect">
            <a:avLst>
              <a:gd name="adj" fmla="val 11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11219688" y="5449824"/>
            <a:ext cx="271576" cy="67665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1219688" y="5568696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19688" y="5815584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UNIT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79792" y="5522976"/>
            <a:ext cx="3621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WATCHDOG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79792" y="5715000"/>
            <a:ext cx="3621024" cy="173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Reset the board automatically if the firmware stops servicing it.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77639" y="1371600"/>
            <a:ext cx="32004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3977639" y="1371600"/>
            <a:ext cx="3200400" cy="566928"/>
          </a:xfrm>
          <a:prstGeom prst="roundRect">
            <a:avLst>
              <a:gd name="adj" fmla="val 9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3977639" y="1810512"/>
            <a:ext cx="3200400" cy="12801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4123944" y="1444752"/>
            <a:ext cx="2907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PRIMARY BOARD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23944" y="1673352"/>
            <a:ext cx="2907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D8E4F0"/>
                </a:solidFill>
                <a:latin typeface="Segoe UI"/>
              </a:rPr>
              <a:t>the test engine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42231" y="2084832"/>
            <a:ext cx="28712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334155"/>
                </a:solidFill>
                <a:latin typeface="Segoe UI"/>
              </a:rPr>
              <a:t>Stores and executes eight test sequences, monitors every cutoff condition, and drives eight power stages over one bus.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42231" y="2798064"/>
            <a:ext cx="28712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 spc="40">
                <a:solidFill>
                  <a:srgbClr val="64748B"/>
                </a:solidFill>
                <a:latin typeface="Segoe UI"/>
              </a:rPr>
              <a:t>REQUIRED PORT AND CHANNEL COUNT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78807" y="3072384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4306824" y="3154679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Ethernet ports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91655" y="312724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A6E6A"/>
                </a:solidFill>
                <a:latin typeface="Segoe UI Light"/>
              </a:rPr>
              <a:t>1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178807" y="3456432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4306824" y="3538727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CAN ports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91655" y="3511296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9B2C35"/>
                </a:solidFill>
                <a:latin typeface="Segoe UI Light"/>
              </a:rPr>
              <a:t>3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178807" y="3840480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4306824" y="3922776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RS-485 ports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91655" y="3895344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5B4B8A"/>
                </a:solidFill>
                <a:latin typeface="Segoe UI Light"/>
              </a:rPr>
              <a:t>2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178807" y="4224528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4306824" y="4306824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Digital inputs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91655" y="427939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E3A5F"/>
                </a:solidFill>
                <a:latin typeface="Segoe UI Light"/>
              </a:rPr>
              <a:t>4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178807" y="4608576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4306824" y="469087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Digital outputs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91655" y="466344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E3A5F"/>
                </a:solidFill>
                <a:latin typeface="Segoe UI Light"/>
              </a:rPr>
              <a:t>3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178807" y="4992624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4306824" y="5074920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Real-time clock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91655" y="504748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5B4B8A"/>
                </a:solidFill>
                <a:latin typeface="Segoe UI Light"/>
              </a:rPr>
              <a:t>1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178807" y="5376672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4306824" y="5458968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Non-volatile memory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91655" y="5431536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246B4D"/>
                </a:solidFill>
                <a:latin typeface="Segoe UI Light"/>
              </a:rPr>
              <a:t>1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3794760" y="1810512"/>
            <a:ext cx="182879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94760" y="2779776"/>
            <a:ext cx="182879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94760" y="3749039"/>
            <a:ext cx="182879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94760" y="4718304"/>
            <a:ext cx="182879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4760" y="5687568"/>
            <a:ext cx="182879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178040" y="1865376"/>
            <a:ext cx="182880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178040" y="2944368"/>
            <a:ext cx="182880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178040" y="3959352"/>
            <a:ext cx="182880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178040" y="4919472"/>
            <a:ext cx="182880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178040" y="5788152"/>
            <a:ext cx="182880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365760" y="6633972"/>
            <a:ext cx="9875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4748B"/>
                </a:solidFill>
                <a:latin typeface="Segoe UI"/>
              </a:rPr>
              <a:t>BTS-ME-PER-001 v3.0  ·  ME Peripheral Requirements  ·  PRIMARY BOARD  ·  Firmware Engineering  ·  31 July 2026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292840" y="663397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1E3A5F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0D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00584"/>
            <a:ext cx="7772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7FC9C6"/>
                </a:solidFill>
                <a:latin typeface="Segoe UI"/>
              </a:rPr>
              <a:t>ME PROJECT  ·  PERIPHERAL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 Light"/>
              </a:rPr>
              <a:t>Secondary Board — Required Peripherals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6C6D8"/>
                </a:solidFill>
                <a:latin typeface="Segoe UI"/>
              </a:rPr>
              <a:t>What each Secondary power stage must provide. Analog and digital counts were read from the existing firmware, not estimated.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429000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97687" y="1371600"/>
            <a:ext cx="271576" cy="877824"/>
          </a:xfrm>
          <a:prstGeom prst="rect">
            <a:avLst/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5760" y="1591056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37943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1444752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B2C35"/>
                </a:solidFill>
                <a:latin typeface="Segoe UI"/>
              </a:rPr>
              <a:t>CAN FD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1636776"/>
            <a:ext cx="2587752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The only link to the Primary. Receives targets, returns grouped readings.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029967"/>
            <a:ext cx="25877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CAN FD  ·  unique node address 1 to 8  ·  needs termination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340864"/>
            <a:ext cx="3429000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65760" y="2340864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7687" y="2340864"/>
            <a:ext cx="271576" cy="87782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5760" y="256032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07208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2414016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3A5F"/>
                </a:solidFill>
                <a:latin typeface="Segoe UI"/>
              </a:rPr>
              <a:t>DIGITAL 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2606040"/>
            <a:ext cx="2587752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Interlocks and status contacts.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2999232"/>
            <a:ext cx="25877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All four interrupt-capable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310128"/>
            <a:ext cx="3429000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365760" y="3310128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97687" y="3310128"/>
            <a:ext cx="271576" cy="87782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65760" y="3529583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776472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338328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3A5F"/>
                </a:solidFill>
                <a:latin typeface="Segoe UI"/>
              </a:rPr>
              <a:t>DIGITAL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3575304"/>
            <a:ext cx="2587752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Contactor, fan and indicator control.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3968496"/>
            <a:ext cx="25877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All eight default to OFF at reset and at power-up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79392"/>
            <a:ext cx="3429000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65760" y="4279392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97687" y="4279392"/>
            <a:ext cx="271576" cy="877824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65760" y="4498848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745736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" y="4352544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7A14"/>
                </a:solidFill>
                <a:latin typeface="Segoe UI"/>
              </a:rPr>
              <a:t>CURRENT-DIRECTION SELECT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" y="4544568"/>
            <a:ext cx="2587752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Select the charge or discharge current path.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" y="4937759"/>
            <a:ext cx="25877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Defaults to a safe state at reset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248655"/>
            <a:ext cx="3429000" cy="8778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65760" y="5248655"/>
            <a:ext cx="603504" cy="877824"/>
          </a:xfrm>
          <a:prstGeom prst="roundRect">
            <a:avLst>
              <a:gd name="adj" fmla="val 11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97687" y="5248655"/>
            <a:ext cx="271576" cy="87782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5760" y="5468111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714999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UNIT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" y="5321807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WATCHDOG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" y="5513831"/>
            <a:ext cx="2587752" cy="374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Reset the board if the firmware stops servicing it.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" y="5907023"/>
            <a:ext cx="25877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Active in every operating mode, including calibration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60920" y="1371600"/>
            <a:ext cx="4462272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11219688" y="1371600"/>
            <a:ext cx="603504" cy="1325880"/>
          </a:xfrm>
          <a:prstGeom prst="roundRect">
            <a:avLst>
              <a:gd name="adj" fmla="val 11000"/>
            </a:avLst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1219688" y="1371600"/>
            <a:ext cx="271576" cy="132588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1219688" y="1815084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19688" y="2061972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CHANNELS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9792" y="1444752"/>
            <a:ext cx="3621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A6E6A"/>
                </a:solidFill>
                <a:latin typeface="Segoe UI"/>
              </a:rPr>
              <a:t>HIGH-RESOLUTION ADC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9792" y="1636776"/>
            <a:ext cx="3621024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1 · Battery voltage        2 · Reverse-polarity voltage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3 · Battery current, main range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4 · Battery current, second scaled range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9792" y="2478024"/>
            <a:ext cx="36210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24-bit  ·  up to 30 kSPS  ·  dedicated SPI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60920" y="2788920"/>
            <a:ext cx="4462272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1219688" y="2788920"/>
            <a:ext cx="603504" cy="1325880"/>
          </a:xfrm>
          <a:prstGeom prst="roundRect">
            <a:avLst>
              <a:gd name="adj" fmla="val 11000"/>
            </a:avLst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1219688" y="2788920"/>
            <a:ext cx="271576" cy="132588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219688" y="3232404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19688" y="3479292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CHANNELS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9792" y="2862072"/>
            <a:ext cx="3621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A6E6A"/>
                </a:solidFill>
                <a:latin typeface="Segoe UI"/>
              </a:rPr>
              <a:t>GENERAL-PURPOSE ADC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79792" y="3054096"/>
            <a:ext cx="3621024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1 · ZnT signal voltage  (PC4)        2 · Battery temperature, PT100  (PA0)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3 · LnT signal voltage  (PA6)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4 · Heatsink temperature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79792" y="3895344"/>
            <a:ext cx="36210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16-bit  ·  read continuously by DMA  ·  sensor-presence detection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60920" y="4206240"/>
            <a:ext cx="4462272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11219688" y="4206240"/>
            <a:ext cx="603504" cy="987552"/>
          </a:xfrm>
          <a:prstGeom prst="roundRect">
            <a:avLst>
              <a:gd name="adj" fmla="val 11000"/>
            </a:avLst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1219688" y="4206240"/>
            <a:ext cx="271576" cy="987552"/>
          </a:xfrm>
          <a:prstGeom prst="rect">
            <a:avLst/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1219688" y="4480559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19688" y="4727448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UNIT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79792" y="4279392"/>
            <a:ext cx="3621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B2C35"/>
                </a:solidFill>
                <a:latin typeface="Segoe UI"/>
              </a:rPr>
              <a:t>DAC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79792" y="4471416"/>
            <a:ext cx="3621024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Sets the transistor bank drive level. The 1 ms control loop writes to it on every cycle.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79792" y="4974336"/>
            <a:ext cx="36210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20-bit  ·  dedicated SPI  ·  zero code means zero drive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60920" y="5285231"/>
            <a:ext cx="4462272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11219688" y="5285231"/>
            <a:ext cx="603504" cy="841248"/>
          </a:xfrm>
          <a:prstGeom prst="roundRect">
            <a:avLst>
              <a:gd name="adj" fmla="val 11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11219688" y="5285231"/>
            <a:ext cx="271576" cy="841248"/>
          </a:xfrm>
          <a:prstGeom prst="rect">
            <a:avLst/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1219688" y="5486399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19688" y="5733288"/>
            <a:ext cx="6035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D8E4F0"/>
                </a:solidFill>
                <a:latin typeface="Segoe UI"/>
              </a:rPr>
              <a:t>DEVICE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79792" y="5358383"/>
            <a:ext cx="3621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46B4D"/>
                </a:solidFill>
                <a:latin typeface="Segoe UI"/>
              </a:rPr>
              <a:t>CONFIGURATION STORAGE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79792" y="5550407"/>
            <a:ext cx="3621024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334155"/>
                </a:solidFill>
                <a:latin typeface="Segoe UI"/>
              </a:rPr>
              <a:t>Hold calibration constants and board settings.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79792" y="5907023"/>
            <a:ext cx="36210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64748B"/>
                </a:solidFill>
                <a:latin typeface="Segoe UI"/>
              </a:rPr>
              <a:t>Small — the test sequence is held on the Primary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977639" y="1371600"/>
            <a:ext cx="32004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246B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3977639" y="1371600"/>
            <a:ext cx="3200400" cy="566928"/>
          </a:xfrm>
          <a:prstGeom prst="roundRect">
            <a:avLst>
              <a:gd name="adj" fmla="val 9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977639" y="1810512"/>
            <a:ext cx="3200400" cy="128016"/>
          </a:xfrm>
          <a:prstGeom prst="rect">
            <a:avLst/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123944" y="1444752"/>
            <a:ext cx="2907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SECONDARY BOARD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23944" y="1673352"/>
            <a:ext cx="2907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D8E4F0"/>
                </a:solidFill>
                <a:latin typeface="Segoe UI"/>
              </a:rPr>
              <a:t>one per battery  ·  eight on the bus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42231" y="2084832"/>
            <a:ext cx="28712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334155"/>
                </a:solidFill>
                <a:latin typeface="Segoe UI"/>
              </a:rPr>
              <a:t>Receives a target from the Primary, regulates current and voltage to it every millisecond, and reports what it measures.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42231" y="2798064"/>
            <a:ext cx="28712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 spc="40">
                <a:solidFill>
                  <a:srgbClr val="64748B"/>
                </a:solidFill>
                <a:latin typeface="Segoe UI"/>
              </a:rPr>
              <a:t>REQUIRED PORT AND CHANNEL COUNT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178807" y="3072384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4306824" y="3154679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CAN FD ports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91655" y="312724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9B2C35"/>
                </a:solidFill>
                <a:latin typeface="Segoe UI Light"/>
              </a:rPr>
              <a:t>1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178807" y="3456432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4306824" y="3538727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Digital inputs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91655" y="3511296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E3A5F"/>
                </a:solidFill>
                <a:latin typeface="Segoe UI Light"/>
              </a:rPr>
              <a:t>4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78807" y="3840480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4306824" y="3922776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Digital outputs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91655" y="3895344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E3A5F"/>
                </a:solidFill>
                <a:latin typeface="Segoe UI Light"/>
              </a:rPr>
              <a:t>8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178807" y="4224528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4306824" y="4306824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Analog inputs, total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91655" y="427939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A6E6A"/>
                </a:solidFill>
                <a:latin typeface="Segoe UI Light"/>
              </a:rPr>
              <a:t>8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178807" y="4608576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4306824" y="469087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— high resolution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91655" y="466344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A6E6A"/>
                </a:solidFill>
                <a:latin typeface="Segoe UI Light"/>
              </a:rPr>
              <a:t>4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178807" y="4992624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4306824" y="5074920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— general purpose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91655" y="504748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A6E6A"/>
                </a:solidFill>
                <a:latin typeface="Segoe UI Light"/>
              </a:rPr>
              <a:t>4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178807" y="5376672"/>
            <a:ext cx="2798064" cy="310896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4306824" y="5458968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334155"/>
                </a:solidFill>
                <a:latin typeface="Segoe UI"/>
              </a:rPr>
              <a:t>Analog output (DAC)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91655" y="5431536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9B2C35"/>
                </a:solidFill>
                <a:latin typeface="Segoe UI Light"/>
              </a:rPr>
              <a:t>1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3794760" y="1810512"/>
            <a:ext cx="182879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794760" y="2779776"/>
            <a:ext cx="182879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794760" y="3749039"/>
            <a:ext cx="182879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794760" y="4718304"/>
            <a:ext cx="182879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794760" y="5687568"/>
            <a:ext cx="182879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178040" y="2034540"/>
            <a:ext cx="182880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178040" y="3451860"/>
            <a:ext cx="182880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178040" y="4700016"/>
            <a:ext cx="182880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178040" y="5705855"/>
            <a:ext cx="182880" cy="0"/>
          </a:xfrm>
          <a:prstGeom prst="line">
            <a:avLst/>
          </a:prstGeom>
          <a:ln w="17780">
            <a:solidFill>
              <a:srgbClr val="D3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365760" y="6633972"/>
            <a:ext cx="9875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4748B"/>
                </a:solidFill>
                <a:latin typeface="Segoe UI"/>
              </a:rPr>
              <a:t>BTS-ME-PER-001 v3.0  ·  ME Peripheral Requirements  ·  SECONDARY BOARD  ·  Firmware Engineering  ·  31 July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292840" y="663397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1E3A5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