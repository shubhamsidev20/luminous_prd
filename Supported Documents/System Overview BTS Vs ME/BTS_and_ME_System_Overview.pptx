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36576"/>
          </a:xfrm>
          <a:prstGeom prst="rect">
            <a:avLst/>
          </a:prstGeom>
          <a:solidFill>
            <a:srgbClr val="0D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10058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60">
                <a:solidFill>
                  <a:srgbClr val="7FC9C6"/>
                </a:solidFill>
                <a:latin typeface="Segoe UI"/>
              </a:rPr>
              <a:t>OLD BTS  ·  CURRENT PRODUCTION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7863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Segoe UI Light"/>
              </a:rPr>
              <a:t>Complete System and Code Functionality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6C6D8"/>
                </a:solidFill>
                <a:latin typeface="Segoe UI"/>
              </a:rPr>
              <a:t>Three boards per test channel. Every functional block that exists in the shipping product, grouped by responsibility.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256032"/>
            <a:ext cx="1764792" cy="256032"/>
          </a:xfrm>
          <a:prstGeom prst="roundRect">
            <a:avLst>
              <a:gd name="adj" fmla="val 50000"/>
            </a:avLst>
          </a:prstGeom>
          <a:solidFill>
            <a:srgbClr val="8A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ONE TEST CHANNEL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32688"/>
            <a:ext cx="11457432" cy="548640"/>
          </a:xfrm>
          <a:prstGeom prst="roundRect">
            <a:avLst>
              <a:gd name="adj" fmla="val 8000"/>
            </a:avLst>
          </a:prstGeom>
          <a:solidFill>
            <a:srgbClr val="E7ECF5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2920" y="987552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50">
                <a:solidFill>
                  <a:srgbClr val="142A47"/>
                </a:solidFill>
                <a:latin typeface="Segoe UI"/>
              </a:rPr>
              <a:t>INTERFACES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72768" y="982980"/>
            <a:ext cx="29260" cy="44805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664208" y="982980"/>
            <a:ext cx="2377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334155"/>
                </a:solidFill>
                <a:latin typeface="Segoe UI"/>
              </a:rPr>
              <a:t>PC  ⟷  PRIMARY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1147572"/>
            <a:ext cx="23957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60" b="0" i="0">
                <a:solidFill>
                  <a:srgbClr val="334155"/>
                </a:solidFill>
                <a:latin typeface="Segoe UI"/>
              </a:rPr>
              <a:t>Ethernet.  TCP/IP carries the programme</a:t>
            </a:r>
          </a:p>
          <a:p>
            <a:pPr algn="l">
              <a:lnSpc>
                <a:spcPct val="112000"/>
              </a:lnSpc>
            </a:pPr>
            <a:r>
              <a:rPr sz="660" b="0" i="0">
                <a:solidFill>
                  <a:srgbClr val="334155"/>
                </a:solidFill>
                <a:latin typeface="Segoe UI"/>
              </a:rPr>
              <a:t>and commands; UDP carries live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23944" y="982980"/>
            <a:ext cx="29260" cy="44805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15383" y="982980"/>
            <a:ext cx="2377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1E3A5F"/>
                </a:solidFill>
                <a:latin typeface="Segoe UI"/>
              </a:rPr>
              <a:t>PRIMARY  →  SECONDARY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5383" y="1147572"/>
            <a:ext cx="23957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60" b="0" i="0">
                <a:solidFill>
                  <a:srgbClr val="334155"/>
                </a:solidFill>
                <a:latin typeface="Segoe UI"/>
              </a:rPr>
              <a:t>UART.  One test step at a time,</a:t>
            </a:r>
          </a:p>
          <a:p>
            <a:pPr algn="l">
              <a:lnSpc>
                <a:spcPct val="112000"/>
              </a:lnSpc>
            </a:pPr>
            <a:r>
              <a:rPr sz="660" b="0" i="0">
                <a:solidFill>
                  <a:srgbClr val="334155"/>
                </a:solidFill>
                <a:latin typeface="Segoe UI"/>
              </a:rPr>
              <a:t>plus start / stop / pause commands.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982980"/>
            <a:ext cx="29260" cy="448056"/>
          </a:xfrm>
          <a:prstGeom prst="rect">
            <a:avLst/>
          </a:prstGeom>
          <a:solidFill>
            <a:srgbClr val="8A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66559" y="982980"/>
            <a:ext cx="2377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8A3A48"/>
                </a:solidFill>
                <a:latin typeface="Segoe UI"/>
              </a:rPr>
              <a:t>SECONDARY  →  PRIMARY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1147572"/>
            <a:ext cx="23957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60" b="0" i="0">
                <a:solidFill>
                  <a:srgbClr val="334155"/>
                </a:solidFill>
                <a:latin typeface="Segoe UI"/>
              </a:rPr>
              <a:t>UART.  Measured current, voltage,</a:t>
            </a:r>
          </a:p>
          <a:p>
            <a:pPr algn="l">
              <a:lnSpc>
                <a:spcPct val="112000"/>
              </a:lnSpc>
            </a:pPr>
            <a:r>
              <a:rPr sz="660" b="0" i="0">
                <a:solidFill>
                  <a:srgbClr val="334155"/>
                </a:solidFill>
                <a:latin typeface="Segoe UI"/>
              </a:rPr>
              <a:t>temperature and step status.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26296" y="982980"/>
            <a:ext cx="29260" cy="448056"/>
          </a:xfrm>
          <a:prstGeom prst="rect">
            <a:avLst/>
          </a:prstGeom>
          <a:solidFill>
            <a:srgbClr val="B4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17736" y="982980"/>
            <a:ext cx="2377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47A14"/>
                </a:solidFill>
                <a:latin typeface="Segoe UI"/>
              </a:rPr>
              <a:t>PRIMARY  ⟷  COM 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1147572"/>
            <a:ext cx="23957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60" b="0" i="0">
                <a:solidFill>
                  <a:srgbClr val="334155"/>
                </a:solidFill>
                <a:latin typeface="Segoe UI"/>
              </a:rPr>
              <a:t>UART.  Carries the CAN database down</a:t>
            </a:r>
          </a:p>
          <a:p>
            <a:pPr algn="l">
              <a:lnSpc>
                <a:spcPct val="112000"/>
              </a:lnSpc>
            </a:pPr>
            <a:r>
              <a:rPr sz="660" b="0" i="0">
                <a:solidFill>
                  <a:srgbClr val="334155"/>
                </a:solidFill>
                <a:latin typeface="Segoe UI"/>
              </a:rPr>
              <a:t>and decoded BMS signals back up.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1645920"/>
            <a:ext cx="2926080" cy="4224528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365760" y="1645920"/>
            <a:ext cx="2926080" cy="475488"/>
          </a:xfrm>
          <a:prstGeom prst="roundRect">
            <a:avLst>
              <a:gd name="adj" fmla="val 11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65760" y="2011680"/>
            <a:ext cx="2926080" cy="10972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84632" y="1709928"/>
            <a:ext cx="2688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WEB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1901952"/>
            <a:ext cx="26883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D8E4F0"/>
                </a:solidFill>
                <a:latin typeface="Segoe UI"/>
              </a:rPr>
              <a:t>PC / Server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" y="2281428"/>
            <a:ext cx="32004" cy="10058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66928" y="2249424"/>
            <a:ext cx="26060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64748B"/>
                </a:solidFill>
                <a:latin typeface="Segoe UI"/>
              </a:rPr>
              <a:t>USER 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414016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Segoe U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2414016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Test-sequence editor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2546604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Segoe U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2546604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Battery and programme setup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2679192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Segoe U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2679192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Live data dashboard and charts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811780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Segoe U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" y="2811780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Calibration screens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2944368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Segoe U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" y="2944368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Reports and spreadsheet export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" y="3180283"/>
            <a:ext cx="32004" cy="10058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66928" y="3148279"/>
            <a:ext cx="26060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64748B"/>
                </a:solidFill>
                <a:latin typeface="Segoe UI"/>
              </a:rPr>
              <a:t>PROGRAMME PREPARATION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3312871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Segoe U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" y="3312871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Encode the sequence into packets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445459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Segoe UI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" y="3445459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Attach the battery information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3578047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Segoe UI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" y="3578047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Encode the CAN database (optional)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4632" y="3813962"/>
            <a:ext cx="32004" cy="100584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566928" y="3781958"/>
            <a:ext cx="26060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0A6E6A"/>
                </a:solidFill>
                <a:latin typeface="Segoe UI"/>
              </a:rPr>
              <a:t>COMMUNICATION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3946550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A6E6A"/>
                </a:solidFill>
                <a:latin typeface="Segoe UI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" y="3946550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Find devices on the network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4079138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A6E6A"/>
                </a:solidFill>
                <a:latin typeface="Segoe UI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" y="4079138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TCP/IP client — programme, commands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4211726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A6E6A"/>
                </a:solidFill>
                <a:latin typeface="Segoe UI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" y="4211726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UDP listener — live measurements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4344314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A6E6A"/>
                </a:solidFill>
                <a:latin typeface="Segoe UI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" y="4344314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UDP listener — session records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4476902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A6E6A"/>
                </a:solidFill>
                <a:latin typeface="Segoe UI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" y="4476902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Decode packets and check integrity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4632" y="4712817"/>
            <a:ext cx="32004" cy="1005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66928" y="4680813"/>
            <a:ext cx="26060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1E3A5F"/>
                </a:solidFill>
                <a:latin typeface="Segoe UI"/>
              </a:rPr>
              <a:t>DATA STORAGE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4845405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1E3A5F"/>
                </a:solidFill>
                <a:latin typeface="Segoe UI"/>
              </a:rPr>
              <a:t>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4944" y="4845405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Main application database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4977993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1E3A5F"/>
                </a:solidFill>
                <a:latin typeface="Segoe UI"/>
              </a:rPr>
              <a:t>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4944" y="4977993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One database per test session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5110581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1E3A5F"/>
                </a:solidFill>
                <a:latin typeface="Segoe UI"/>
              </a:rPr>
              <a:t>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" y="5110581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Background writer queue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566160" y="1645920"/>
            <a:ext cx="2926080" cy="4224528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ounded Rectangle 67"/>
          <p:cNvSpPr/>
          <p:nvPr/>
        </p:nvSpPr>
        <p:spPr>
          <a:xfrm>
            <a:off x="3566160" y="1645920"/>
            <a:ext cx="2926080" cy="475488"/>
          </a:xfrm>
          <a:prstGeom prst="roundRect">
            <a:avLst>
              <a:gd name="adj" fmla="val 11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3566160" y="2011680"/>
            <a:ext cx="2926080" cy="1097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3685032" y="1709928"/>
            <a:ext cx="2688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PRIMARY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85032" y="1901952"/>
            <a:ext cx="26883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D8E4F0"/>
                </a:solidFill>
                <a:latin typeface="Segoe UI"/>
              </a:rPr>
              <a:t>SAM9X60  ·  real-time operating system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85032" y="2281428"/>
            <a:ext cx="32004" cy="100584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3767328" y="2249424"/>
            <a:ext cx="26060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0A6E6A"/>
                </a:solidFill>
                <a:latin typeface="Segoe UI"/>
              </a:rPr>
              <a:t>NETWORK SERVICES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67328" y="2414016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A6E6A"/>
                </a:solidFill>
                <a:latin typeface="Segoe UI"/>
              </a:rPr>
              <a:t>•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95344" y="2414016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TCP/IP server — receive programme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67328" y="2546604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A6E6A"/>
                </a:solidFill>
                <a:latin typeface="Segoe UI"/>
              </a:rPr>
              <a:t>•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95344" y="2546604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UDP sender — live measurements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67328" y="2679192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A6E6A"/>
                </a:solidFill>
                <a:latin typeface="Segoe UI"/>
              </a:rPr>
              <a:t>•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95344" y="2679192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UDP sender — session records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767328" y="2811780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A6E6A"/>
                </a:solidFill>
                <a:latin typeface="Segoe UI"/>
              </a:rPr>
              <a:t>•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95344" y="2811780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Answer discovery, sync the clock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85032" y="3047695"/>
            <a:ext cx="32004" cy="100584"/>
          </a:xfrm>
          <a:prstGeom prst="rect">
            <a:avLst/>
          </a:prstGeom>
          <a:solidFill>
            <a:srgbClr val="2E5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767328" y="3015691"/>
            <a:ext cx="26060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2E5482"/>
                </a:solidFill>
                <a:latin typeface="Segoe UI"/>
              </a:rPr>
              <a:t>PROGRAMME STORAGE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67328" y="3180283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5482"/>
                </a:solidFill>
                <a:latin typeface="Segoe UI"/>
              </a:rPr>
              <a:t>•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95344" y="3180283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Write the programme to memory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67328" y="3312871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5482"/>
                </a:solidFill>
                <a:latin typeface="Segoe UI"/>
              </a:rPr>
              <a:t>•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95344" y="3312871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Fixed map — room for ONE programme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67328" y="3445459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5482"/>
                </a:solidFill>
                <a:latin typeface="Segoe UI"/>
              </a:rPr>
              <a:t>•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95344" y="3445459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Store configuration and calibration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85032" y="3681374"/>
            <a:ext cx="32004" cy="100584"/>
          </a:xfrm>
          <a:prstGeom prst="rect">
            <a:avLst/>
          </a:prstGeom>
          <a:solidFill>
            <a:srgbClr val="B4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3767328" y="3649370"/>
            <a:ext cx="26060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B47A14"/>
                </a:solidFill>
                <a:latin typeface="Segoe UI"/>
              </a:rPr>
              <a:t>TEST FLOW  —  RELAY ONLY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67328" y="3813962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47A14"/>
                </a:solidFill>
                <a:latin typeface="Segoe UI"/>
              </a:rPr>
              <a:t>•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95344" y="3813962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Read the programme back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767328" y="3946550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47A14"/>
                </a:solidFill>
                <a:latin typeface="Segoe UI"/>
              </a:rPr>
              <a:t>•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95344" y="3946550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Extract ONE step at a time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767328" y="4079138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47A14"/>
                </a:solidFill>
                <a:latin typeface="Segoe UI"/>
              </a:rPr>
              <a:t>•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895344" y="4079138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Send that step to the Secondary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767328" y="4211726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47A14"/>
                </a:solidFill>
                <a:latin typeface="Segoe UI"/>
              </a:rPr>
              <a:t>•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95344" y="4211726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Pass measurements up to the PC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767328" y="4344314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47A14"/>
                </a:solidFill>
                <a:latin typeface="Segoe UI"/>
              </a:rPr>
              <a:t>•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895344" y="4344314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Does NOT interpret the test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685032" y="4580229"/>
            <a:ext cx="32004" cy="100584"/>
          </a:xfrm>
          <a:prstGeom prst="rect">
            <a:avLst/>
          </a:prstGeom>
          <a:solidFill>
            <a:srgbClr val="8A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3767328" y="4548225"/>
            <a:ext cx="26060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8A3A48"/>
                </a:solidFill>
                <a:latin typeface="Segoe UI"/>
              </a:rPr>
              <a:t>BOARD LINKS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767328" y="4712817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8A3A48"/>
                </a:solidFill>
                <a:latin typeface="Segoe UI"/>
              </a:rPr>
              <a:t>•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95344" y="4712817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UART out — steps and commands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767328" y="4845405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8A3A48"/>
                </a:solidFill>
                <a:latin typeface="Segoe UI"/>
              </a:rPr>
              <a:t>•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895344" y="4845405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UART in — measurements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767328" y="4977993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8A3A48"/>
                </a:solidFill>
                <a:latin typeface="Segoe UI"/>
              </a:rPr>
              <a:t>•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95344" y="4977993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UART — CAN database to COM board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685032" y="5213908"/>
            <a:ext cx="32004" cy="10058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3767328" y="5181904"/>
            <a:ext cx="26060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64748B"/>
                </a:solidFill>
                <a:latin typeface="Segoe UI"/>
              </a:rPr>
              <a:t>SYSTEM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767328" y="5346496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Segoe UI"/>
              </a:rPr>
              <a:t>•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895344" y="5346496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Detect power loss, save and restore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767328" y="5479084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Segoe UI"/>
              </a:rPr>
              <a:t>•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895344" y="5479084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Watchdog and data-integrity checks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766560" y="1645920"/>
            <a:ext cx="2926080" cy="4224528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ounded Rectangle 116"/>
          <p:cNvSpPr/>
          <p:nvPr/>
        </p:nvSpPr>
        <p:spPr>
          <a:xfrm>
            <a:off x="6766560" y="1645920"/>
            <a:ext cx="2926080" cy="475488"/>
          </a:xfrm>
          <a:prstGeom prst="roundRect">
            <a:avLst>
              <a:gd name="adj" fmla="val 11000"/>
            </a:avLst>
          </a:prstGeom>
          <a:solidFill>
            <a:srgbClr val="8A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6766560" y="2011680"/>
            <a:ext cx="2926080" cy="109728"/>
          </a:xfrm>
          <a:prstGeom prst="rect">
            <a:avLst/>
          </a:prstGeom>
          <a:solidFill>
            <a:srgbClr val="8A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6885432" y="1709928"/>
            <a:ext cx="2688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SECONDARY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85432" y="1901952"/>
            <a:ext cx="26883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D8E4F0"/>
                </a:solidFill>
                <a:latin typeface="Segoe UI"/>
              </a:rPr>
              <a:t>STM32H723  ·  bare metal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885432" y="2281428"/>
            <a:ext cx="32004" cy="10058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6967728" y="2249424"/>
            <a:ext cx="26060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64748B"/>
                </a:solidFill>
                <a:latin typeface="Segoe UI"/>
              </a:rPr>
              <a:t>COMMAND INTERFACE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967728" y="2414016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Segoe UI"/>
              </a:rPr>
              <a:t>•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095744" y="2414016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Receive and unpack UART frames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967728" y="2546604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Segoe UI"/>
              </a:rPr>
              <a:t>•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095744" y="2546604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Act on start / stop / pause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967728" y="2679192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Segoe UI"/>
              </a:rPr>
              <a:t>•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095744" y="2679192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Build the measurement frame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885432" y="2915107"/>
            <a:ext cx="32004" cy="100584"/>
          </a:xfrm>
          <a:prstGeom prst="rect">
            <a:avLst/>
          </a:prstGeom>
          <a:solidFill>
            <a:srgbClr val="9B2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6967728" y="2883103"/>
            <a:ext cx="26060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9B2C35"/>
                </a:solidFill>
                <a:latin typeface="Segoe UI"/>
              </a:rPr>
              <a:t>TEST ENGINE  —  ALL THE INTELLIGENCE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967728" y="3047695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9B2C35"/>
                </a:solidFill>
                <a:latin typeface="Segoe UI"/>
              </a:rPr>
              <a:t>•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095744" y="3047695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Decode the step and its operator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967728" y="3180283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9B2C35"/>
                </a:solidFill>
                <a:latin typeface="Segoe UI"/>
              </a:rPr>
              <a:t>•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095744" y="3180283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Evaluate cutoff conditions (1 ms)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67728" y="3312871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9B2C35"/>
                </a:solidFill>
                <a:latin typeface="Segoe UI"/>
              </a:rPr>
              <a:t>•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095744" y="3312871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Cycle, nesting and jump engine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967728" y="3445459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9B2C35"/>
                </a:solidFill>
                <a:latin typeface="Segoe UI"/>
              </a:rPr>
              <a:t>•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095744" y="3445459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Decide when to advance a step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967728" y="3578047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9B2C35"/>
                </a:solidFill>
                <a:latin typeface="Segoe UI"/>
              </a:rPr>
              <a:t>•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095744" y="3578047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Control the recording rate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885432" y="3813962"/>
            <a:ext cx="32004" cy="100584"/>
          </a:xfrm>
          <a:prstGeom prst="rect">
            <a:avLst/>
          </a:prstGeom>
          <a:solidFill>
            <a:srgbClr val="24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6967728" y="3781958"/>
            <a:ext cx="26060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246B4D"/>
                </a:solidFill>
                <a:latin typeface="Segoe UI"/>
              </a:rPr>
              <a:t>CONTROL LOOP  —  EVERY 1 ms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967728" y="3946550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46B4D"/>
                </a:solidFill>
                <a:latin typeface="Segoe UI"/>
              </a:rPr>
              <a:t>•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095744" y="3946550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Read the 24-bit measurement input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67728" y="4079138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46B4D"/>
                </a:solidFill>
                <a:latin typeface="Segoe UI"/>
              </a:rPr>
              <a:t>•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095744" y="4079138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PID regulation — six modes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967728" y="4211726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46B4D"/>
                </a:solidFill>
                <a:latin typeface="Segoe UI"/>
              </a:rPr>
              <a:t>•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095744" y="4211726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Write the 20-bit drive output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967728" y="4344314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46B4D"/>
                </a:solidFill>
                <a:latin typeface="Segoe UI"/>
              </a:rPr>
              <a:t>•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095744" y="4344314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Select the measurement range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885432" y="4580229"/>
            <a:ext cx="32004" cy="100584"/>
          </a:xfrm>
          <a:prstGeom prst="rect">
            <a:avLst/>
          </a:prstGeom>
          <a:solidFill>
            <a:srgbClr val="9B2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6967728" y="4548225"/>
            <a:ext cx="26060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9B2C35"/>
                </a:solidFill>
                <a:latin typeface="Segoe UI"/>
              </a:rPr>
              <a:t>PROTECTION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967728" y="4712817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9B2C35"/>
                </a:solidFill>
                <a:latin typeface="Segoe UI"/>
              </a:rPr>
              <a:t>•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095744" y="4712817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Over-voltage, current, temperature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67728" y="4845405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9B2C35"/>
                </a:solidFill>
                <a:latin typeface="Segoe UI"/>
              </a:rPr>
              <a:t>•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095744" y="4845405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Error actions and safe shutdown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967728" y="4977993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9B2C35"/>
                </a:solidFill>
                <a:latin typeface="Segoe UI"/>
              </a:rPr>
              <a:t>•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095744" y="4977993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Watchdog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885432" y="5213908"/>
            <a:ext cx="32004" cy="10058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6967728" y="5181904"/>
            <a:ext cx="26060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64748B"/>
                </a:solidFill>
                <a:latin typeface="Segoe UI"/>
              </a:rPr>
              <a:t>CALIBRATION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967728" y="5346496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Segoe UI"/>
              </a:rPr>
              <a:t>•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095744" y="5346496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Two-point calibration engine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967728" y="5479084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Segoe UI"/>
              </a:rPr>
              <a:t>•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095744" y="5479084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Store the calibration constants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9966960" y="1645920"/>
            <a:ext cx="1856231" cy="4224528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Rounded Rectangle 165"/>
          <p:cNvSpPr/>
          <p:nvPr/>
        </p:nvSpPr>
        <p:spPr>
          <a:xfrm>
            <a:off x="9966960" y="1645920"/>
            <a:ext cx="1856231" cy="475488"/>
          </a:xfrm>
          <a:prstGeom prst="roundRect">
            <a:avLst>
              <a:gd name="adj" fmla="val 11000"/>
            </a:avLst>
          </a:prstGeom>
          <a:solidFill>
            <a:srgbClr val="B4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Rectangle 166"/>
          <p:cNvSpPr/>
          <p:nvPr/>
        </p:nvSpPr>
        <p:spPr>
          <a:xfrm>
            <a:off x="9966960" y="2011680"/>
            <a:ext cx="1856231" cy="109728"/>
          </a:xfrm>
          <a:prstGeom prst="rect">
            <a:avLst/>
          </a:prstGeom>
          <a:solidFill>
            <a:srgbClr val="B4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10085832" y="1709928"/>
            <a:ext cx="161848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COM BOARD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085832" y="1901952"/>
            <a:ext cx="161848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D8E4F0"/>
                </a:solidFill>
                <a:latin typeface="Segoe UI"/>
              </a:rPr>
              <a:t>STM32H723 · bare metal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085832" y="2281428"/>
            <a:ext cx="32004" cy="100584"/>
          </a:xfrm>
          <a:prstGeom prst="rect">
            <a:avLst/>
          </a:prstGeom>
          <a:solidFill>
            <a:srgbClr val="B4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TextBox 170"/>
          <p:cNvSpPr txBox="1"/>
          <p:nvPr/>
        </p:nvSpPr>
        <p:spPr>
          <a:xfrm>
            <a:off x="10168128" y="2249424"/>
            <a:ext cx="1536191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B47A14"/>
                </a:solidFill>
                <a:latin typeface="Segoe UI"/>
              </a:rPr>
              <a:t>CAN SERVICES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0168128" y="2414016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47A14"/>
                </a:solidFill>
                <a:latin typeface="Segoe UI"/>
              </a:rPr>
              <a:t>•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296144" y="2414016"/>
            <a:ext cx="1399031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Three CAN interfaces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168128" y="2546604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47A14"/>
                </a:solidFill>
                <a:latin typeface="Segoe UI"/>
              </a:rPr>
              <a:t>•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296144" y="2546604"/>
            <a:ext cx="1399031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Parse the CAN database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168128" y="2679192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47A14"/>
                </a:solidFill>
                <a:latin typeface="Segoe UI"/>
              </a:rPr>
              <a:t>•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0296144" y="2679192"/>
            <a:ext cx="1399031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Pack and unpack signals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168128" y="2811780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47A14"/>
                </a:solidFill>
                <a:latin typeface="Segoe UI"/>
              </a:rPr>
              <a:t>•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0296144" y="2811780"/>
            <a:ext cx="1399031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Poll devices periodically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168128" y="2944368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47A14"/>
                </a:solidFill>
                <a:latin typeface="Segoe UI"/>
              </a:rPr>
              <a:t>•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296144" y="2944368"/>
            <a:ext cx="1399031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Send signals up to the Primary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0085832" y="3180283"/>
            <a:ext cx="32004" cy="10058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TextBox 182"/>
          <p:cNvSpPr txBox="1"/>
          <p:nvPr/>
        </p:nvSpPr>
        <p:spPr>
          <a:xfrm>
            <a:off x="10168128" y="3148279"/>
            <a:ext cx="1536191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64748B"/>
                </a:solidFill>
                <a:latin typeface="Segoe UI"/>
              </a:rPr>
              <a:t>FIELDBUS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168128" y="3312871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Segoe UI"/>
              </a:rPr>
              <a:t>•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0296144" y="3312871"/>
            <a:ext cx="1399031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Industrial protocol slave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168128" y="3445459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Segoe UI"/>
              </a:rPr>
              <a:t>•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0296144" y="3445459"/>
            <a:ext cx="1399031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Serial line driver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0085832" y="3681374"/>
            <a:ext cx="32004" cy="10058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TextBox 188"/>
          <p:cNvSpPr txBox="1"/>
          <p:nvPr/>
        </p:nvSpPr>
        <p:spPr>
          <a:xfrm>
            <a:off x="10168128" y="3649370"/>
            <a:ext cx="1536191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64748B"/>
                </a:solidFill>
                <a:latin typeface="Segoe UI"/>
              </a:rPr>
              <a:t>CONNECTS TO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0168128" y="3813962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Segoe UI"/>
              </a:rPr>
              <a:t>•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296144" y="3813962"/>
            <a:ext cx="1399031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The customer's BMS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0168128" y="3946550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Segoe UI"/>
              </a:rPr>
              <a:t>•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0296144" y="3946550"/>
            <a:ext cx="1399031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Factory fieldbus equipment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10085832" y="4224528"/>
            <a:ext cx="1618488" cy="1463040"/>
          </a:xfrm>
          <a:prstGeom prst="roundRect">
            <a:avLst>
              <a:gd name="adj" fmla="val 5000"/>
            </a:avLst>
          </a:prstGeom>
          <a:solidFill>
            <a:srgbClr val="FDF3DF"/>
          </a:solidFill>
          <a:ln w="9525">
            <a:solidFill>
              <a:srgbClr val="B47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TextBox 194"/>
          <p:cNvSpPr txBox="1"/>
          <p:nvPr/>
        </p:nvSpPr>
        <p:spPr>
          <a:xfrm>
            <a:off x="10195560" y="4334256"/>
            <a:ext cx="13990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60" b="1" i="0">
                <a:solidFill>
                  <a:srgbClr val="B47A14"/>
                </a:solidFill>
                <a:latin typeface="Segoe UI"/>
              </a:rPr>
              <a:t>This board exists only</a:t>
            </a:r>
          </a:p>
          <a:p>
            <a:pPr algn="ctr">
              <a:lnSpc>
                <a:spcPct val="118000"/>
              </a:lnSpc>
            </a:pPr>
            <a:r>
              <a:rPr sz="660" b="1" i="0">
                <a:solidFill>
                  <a:srgbClr val="B47A14"/>
                </a:solidFill>
                <a:latin typeface="Segoe UI"/>
              </a:rPr>
              <a:t>to serve the customer's</a:t>
            </a:r>
          </a:p>
          <a:p>
            <a:pPr algn="ctr">
              <a:lnSpc>
                <a:spcPct val="118000"/>
              </a:lnSpc>
            </a:pPr>
            <a:r>
              <a:rPr sz="660" b="1" i="0">
                <a:solidFill>
                  <a:srgbClr val="B47A14"/>
                </a:solidFill>
                <a:latin typeface="Segoe UI"/>
              </a:rPr>
              <a:t>own CAN network.</a:t>
            </a:r>
          </a:p>
          <a:p>
            <a:pPr algn="ctr">
              <a:lnSpc>
                <a:spcPct val="118000"/>
              </a:lnSpc>
            </a:pPr>
            <a:r>
              <a:rPr sz="660" b="1" i="0">
                <a:solidFill>
                  <a:srgbClr val="B47A14"/>
                </a:solidFill>
                <a:latin typeface="Segoe UI"/>
              </a:rPr>
              <a:t/>
            </a:r>
          </a:p>
          <a:p>
            <a:pPr algn="ctr">
              <a:lnSpc>
                <a:spcPct val="118000"/>
              </a:lnSpc>
            </a:pPr>
            <a:r>
              <a:rPr sz="660" b="1" i="0">
                <a:solidFill>
                  <a:srgbClr val="B47A14"/>
                </a:solidFill>
                <a:latin typeface="Segoe UI"/>
              </a:rPr>
              <a:t>It plays no part in</a:t>
            </a:r>
          </a:p>
          <a:p>
            <a:pPr algn="ctr">
              <a:lnSpc>
                <a:spcPct val="118000"/>
              </a:lnSpc>
            </a:pPr>
            <a:r>
              <a:rPr sz="660" b="1" i="0">
                <a:solidFill>
                  <a:srgbClr val="B47A14"/>
                </a:solidFill>
                <a:latin typeface="Segoe UI"/>
              </a:rPr>
              <a:t>running the battery</a:t>
            </a:r>
          </a:p>
          <a:p>
            <a:pPr algn="ctr">
              <a:lnSpc>
                <a:spcPct val="118000"/>
              </a:lnSpc>
            </a:pPr>
            <a:r>
              <a:rPr sz="660" b="1" i="0">
                <a:solidFill>
                  <a:srgbClr val="B47A14"/>
                </a:solidFill>
                <a:latin typeface="Segoe UI"/>
              </a:rPr>
              <a:t>test itself.</a:t>
            </a:r>
          </a:p>
        </p:txBody>
      </p:sp>
      <p:cxnSp>
        <p:nvCxnSpPr>
          <p:cNvPr id="196" name="Connector 195"/>
          <p:cNvCxnSpPr/>
          <p:nvPr/>
        </p:nvCxnSpPr>
        <p:spPr>
          <a:xfrm>
            <a:off x="3310128" y="2487168"/>
            <a:ext cx="237744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H="1">
            <a:off x="3310128" y="3108960"/>
            <a:ext cx="237744" cy="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510528" y="2487168"/>
            <a:ext cx="237744" cy="0"/>
          </a:xfrm>
          <a:prstGeom prst="line">
            <a:avLst/>
          </a:prstGeom>
          <a:ln w="19050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H="1">
            <a:off x="6510528" y="3108960"/>
            <a:ext cx="237744" cy="0"/>
          </a:xfrm>
          <a:prstGeom prst="line">
            <a:avLst/>
          </a:prstGeom>
          <a:ln w="19050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5029200" y="1568196"/>
            <a:ext cx="0" cy="77724"/>
          </a:xfrm>
          <a:prstGeom prst="line">
            <a:avLst/>
          </a:prstGeom>
          <a:ln w="19050">
            <a:solidFill>
              <a:srgbClr val="B47A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5029200" y="1568196"/>
            <a:ext cx="5870448" cy="0"/>
          </a:xfrm>
          <a:prstGeom prst="line">
            <a:avLst/>
          </a:prstGeom>
          <a:ln w="19050">
            <a:solidFill>
              <a:srgbClr val="B47A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10899648" y="1568196"/>
            <a:ext cx="0" cy="77724"/>
          </a:xfrm>
          <a:prstGeom prst="line">
            <a:avLst/>
          </a:prstGeom>
          <a:ln w="19050">
            <a:solidFill>
              <a:srgbClr val="B47A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Oval 202"/>
          <p:cNvSpPr/>
          <p:nvPr/>
        </p:nvSpPr>
        <p:spPr>
          <a:xfrm>
            <a:off x="4988052" y="1604772"/>
            <a:ext cx="82296" cy="82296"/>
          </a:xfrm>
          <a:prstGeom prst="ellipse">
            <a:avLst/>
          </a:prstGeom>
          <a:solidFill>
            <a:srgbClr val="B4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Oval 203"/>
          <p:cNvSpPr/>
          <p:nvPr/>
        </p:nvSpPr>
        <p:spPr>
          <a:xfrm>
            <a:off x="10858500" y="1604772"/>
            <a:ext cx="82296" cy="82296"/>
          </a:xfrm>
          <a:prstGeom prst="ellipse">
            <a:avLst/>
          </a:prstGeom>
          <a:solidFill>
            <a:srgbClr val="B4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Rounded Rectangle 204"/>
          <p:cNvSpPr/>
          <p:nvPr/>
        </p:nvSpPr>
        <p:spPr>
          <a:xfrm>
            <a:off x="7242048" y="1497787"/>
            <a:ext cx="1481328" cy="1417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620" b="1">
                <a:solidFill>
                  <a:srgbClr val="B47A14"/>
                </a:solidFill>
                <a:latin typeface="Segoe UI"/>
              </a:rPr>
              <a:t>UART  ·  CAN database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365760" y="5943600"/>
            <a:ext cx="11457432" cy="530352"/>
          </a:xfrm>
          <a:prstGeom prst="roundRect">
            <a:avLst>
              <a:gd name="adj" fmla="val 14000"/>
            </a:avLst>
          </a:prstGeom>
          <a:solidFill>
            <a:srgbClr val="FBE9EA"/>
          </a:solidFill>
          <a:ln w="12700">
            <a:solidFill>
              <a:srgbClr val="8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Rectangle 206"/>
          <p:cNvSpPr/>
          <p:nvPr/>
        </p:nvSpPr>
        <p:spPr>
          <a:xfrm>
            <a:off x="365760" y="5943600"/>
            <a:ext cx="64008" cy="530352"/>
          </a:xfrm>
          <a:prstGeom prst="rect">
            <a:avLst/>
          </a:prstGeom>
          <a:solidFill>
            <a:srgbClr val="8A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TextBox 207"/>
          <p:cNvSpPr txBox="1"/>
          <p:nvPr/>
        </p:nvSpPr>
        <p:spPr>
          <a:xfrm>
            <a:off x="621792" y="6012180"/>
            <a:ext cx="10972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8A3A48"/>
                </a:solidFill>
                <a:latin typeface="Segoe UI"/>
              </a:rPr>
              <a:t>HOW TO READ THIS      All the test intelligence sits on the Secondary. The Primary only carries messages.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21792" y="6199632"/>
            <a:ext cx="10972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334155"/>
                </a:solidFill>
                <a:latin typeface="Segoe UI"/>
              </a:rPr>
              <a:t>The complete loop of measure, decide and act happens inside one microcontroller in about one millisecond — which is why it reacts quickly. But a whole three-board stack is needed for every single test channel, and any change to the test logic must be re-qualified and re-programmed on every Secondary already installed.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1" name="TextBox 210"/>
          <p:cNvSpPr txBox="1"/>
          <p:nvPr/>
        </p:nvSpPr>
        <p:spPr>
          <a:xfrm>
            <a:off x="365760" y="6633972"/>
            <a:ext cx="9601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4748B"/>
                </a:solidFill>
                <a:latin typeface="Segoe UI"/>
              </a:rPr>
              <a:t>BTS-CMP-ME-001 v3.0  ·  System and Code Functionality Map  ·  OLD BTS  ·  Firmware Engineering  ·  31 July 2026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1292840" y="663397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1E3A5F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36576"/>
          </a:xfrm>
          <a:prstGeom prst="rect">
            <a:avLst/>
          </a:prstGeom>
          <a:solidFill>
            <a:srgbClr val="0D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10058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60">
                <a:solidFill>
                  <a:srgbClr val="7FC9C6"/>
                </a:solidFill>
                <a:latin typeface="Segoe UI"/>
              </a:rPr>
              <a:t>NEW ME  ·  PROPOSED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7863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Segoe UI Light"/>
              </a:rPr>
              <a:t>Complete System and Code Functionality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6C6D8"/>
                </a:solidFill>
                <a:latin typeface="Segoe UI"/>
              </a:rPr>
              <a:t>One Primary drives up to eight power stages over a single CAN FD bus. Colour shows what changes.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60920" y="608076"/>
            <a:ext cx="100584" cy="100584"/>
          </a:xfrm>
          <a:prstGeom prst="rect">
            <a:avLst/>
          </a:prstGeom>
          <a:solidFill>
            <a:srgbClr val="2E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507224" y="566928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C2D2E4"/>
                </a:solidFill>
                <a:latin typeface="Segoe UI"/>
              </a:rPr>
              <a:t>unchanged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4444" y="608076"/>
            <a:ext cx="100584" cy="100584"/>
          </a:xfrm>
          <a:prstGeom prst="rect">
            <a:avLst/>
          </a:prstGeom>
          <a:solidFill>
            <a:srgbClr val="B4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70748" y="566928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C2D2E4"/>
                </a:solidFill>
                <a:latin typeface="Segoe UI"/>
              </a:rPr>
              <a:t>moved up from the Secondary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93224" y="608076"/>
            <a:ext cx="100584" cy="100584"/>
          </a:xfrm>
          <a:prstGeom prst="rect">
            <a:avLst/>
          </a:prstGeom>
          <a:solidFill>
            <a:srgbClr val="0D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939528" y="566928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C2D2E4"/>
                </a:solidFill>
                <a:latin typeface="Segoe UI"/>
              </a:rPr>
              <a:t>new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54996" y="608076"/>
            <a:ext cx="100584" cy="100584"/>
          </a:xfrm>
          <a:prstGeom prst="rect">
            <a:avLst/>
          </a:prstGeom>
          <a:solidFill>
            <a:srgbClr val="9B2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401300" y="566928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C2D2E4"/>
                </a:solidFill>
                <a:latin typeface="Segoe UI"/>
              </a:rPr>
              <a:t>retained for safety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521440" y="608076"/>
            <a:ext cx="100584" cy="100584"/>
          </a:xfrm>
          <a:prstGeom prst="rect">
            <a:avLst/>
          </a:prstGeom>
          <a:solidFill>
            <a:srgbClr val="9AA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667744" y="566928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>
                <a:solidFill>
                  <a:srgbClr val="C2D2E4"/>
                </a:solidFill>
                <a:latin typeface="Segoe UI"/>
              </a:rPr>
              <a:t>removed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256032"/>
            <a:ext cx="1764792" cy="256032"/>
          </a:xfrm>
          <a:prstGeom prst="roundRect">
            <a:avLst>
              <a:gd name="adj" fmla="val 50000"/>
            </a:avLst>
          </a:prstGeom>
          <a:solidFill>
            <a:srgbClr val="24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EIGHT TEST CHANNELS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932688"/>
            <a:ext cx="11457432" cy="548640"/>
          </a:xfrm>
          <a:prstGeom prst="roundRect">
            <a:avLst>
              <a:gd name="adj" fmla="val 8000"/>
            </a:avLst>
          </a:prstGeom>
          <a:solidFill>
            <a:srgbClr val="E7ECF5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2920" y="987552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50">
                <a:solidFill>
                  <a:srgbClr val="142A47"/>
                </a:solidFill>
                <a:latin typeface="Segoe UI"/>
              </a:rPr>
              <a:t>INTERFACES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72768" y="982980"/>
            <a:ext cx="29260" cy="448056"/>
          </a:xfrm>
          <a:prstGeom prst="rect">
            <a:avLst/>
          </a:prstGeom>
          <a:solidFill>
            <a:srgbClr val="2E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664208" y="982980"/>
            <a:ext cx="2377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PC  ⟷  PRIMARY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1147572"/>
            <a:ext cx="23957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60" b="0" i="0">
                <a:solidFill>
                  <a:srgbClr val="334155"/>
                </a:solidFill>
                <a:latin typeface="Segoe UI"/>
              </a:rPr>
              <a:t>Ethernet, UNCHANGED.  TCP/IP for the</a:t>
            </a:r>
          </a:p>
          <a:p>
            <a:pPr algn="l">
              <a:lnSpc>
                <a:spcPct val="112000"/>
              </a:lnSpc>
            </a:pPr>
            <a:r>
              <a:rPr sz="660" b="0" i="0">
                <a:solidFill>
                  <a:srgbClr val="334155"/>
                </a:solidFill>
                <a:latin typeface="Segoe UI"/>
              </a:rPr>
              <a:t>programme, UDP for live data.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23944" y="982980"/>
            <a:ext cx="29260" cy="448056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215383" y="982980"/>
            <a:ext cx="2377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A6E6A"/>
                </a:solidFill>
                <a:latin typeface="Segoe UI"/>
              </a:rPr>
              <a:t>PRIMARY  →  SECONDARIES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5383" y="1147572"/>
            <a:ext cx="23957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60" b="0" i="0">
                <a:solidFill>
                  <a:srgbClr val="334155"/>
                </a:solidFill>
                <a:latin typeface="Segoe UI"/>
              </a:rPr>
              <a:t>CAN FD.  Only the target current and</a:t>
            </a:r>
          </a:p>
          <a:p>
            <a:pPr algn="l">
              <a:lnSpc>
                <a:spcPct val="112000"/>
              </a:lnSpc>
            </a:pPr>
            <a:r>
              <a:rPr sz="660" b="0" i="0">
                <a:solidFill>
                  <a:srgbClr val="334155"/>
                </a:solidFill>
                <a:latin typeface="Segoe UI"/>
              </a:rPr>
              <a:t>voltage, addressed to one of 8 nodes.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982980"/>
            <a:ext cx="29260" cy="448056"/>
          </a:xfrm>
          <a:prstGeom prst="rect">
            <a:avLst/>
          </a:prstGeom>
          <a:solidFill>
            <a:srgbClr val="24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766559" y="982980"/>
            <a:ext cx="2377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46B4D"/>
                </a:solidFill>
                <a:latin typeface="Segoe UI"/>
              </a:rPr>
              <a:t>SECONDARIES  →  PRIMARY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59" y="1147572"/>
            <a:ext cx="23957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60" b="0" i="0">
                <a:solidFill>
                  <a:srgbClr val="334155"/>
                </a:solidFill>
                <a:latin typeface="Segoe UI"/>
              </a:rPr>
              <a:t>CAN FD.  Eight readings grouped into</a:t>
            </a:r>
          </a:p>
          <a:p>
            <a:pPr algn="l">
              <a:lnSpc>
                <a:spcPct val="112000"/>
              </a:lnSpc>
            </a:pPr>
            <a:r>
              <a:rPr sz="660" b="0" i="0">
                <a:solidFill>
                  <a:srgbClr val="334155"/>
                </a:solidFill>
                <a:latin typeface="Segoe UI"/>
              </a:rPr>
              <a:t>one message, plus priority alerts.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26296" y="982980"/>
            <a:ext cx="29260" cy="448056"/>
          </a:xfrm>
          <a:prstGeom prst="rect">
            <a:avLst/>
          </a:prstGeom>
          <a:solidFill>
            <a:srgbClr val="9B2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317736" y="982980"/>
            <a:ext cx="2377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9B2C35"/>
                </a:solidFill>
                <a:latin typeface="Segoe UI"/>
              </a:rPr>
              <a:t>SAFETY 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7736" y="1147572"/>
            <a:ext cx="23957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60" b="0" i="0">
                <a:solidFill>
                  <a:srgbClr val="334155"/>
                </a:solidFill>
                <a:latin typeface="Segoe UI"/>
              </a:rPr>
              <a:t>None.  Protection never leaves the</a:t>
            </a:r>
          </a:p>
          <a:p>
            <a:pPr algn="l">
              <a:lnSpc>
                <a:spcPct val="112000"/>
              </a:lnSpc>
            </a:pPr>
            <a:r>
              <a:rPr sz="660" b="0" i="0">
                <a:solidFill>
                  <a:srgbClr val="334155"/>
                </a:solidFill>
                <a:latin typeface="Segoe UI"/>
              </a:rPr>
              <a:t>Secondary board — it needs no bus.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1645920"/>
            <a:ext cx="2926080" cy="4224528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365760" y="1645920"/>
            <a:ext cx="2926080" cy="475488"/>
          </a:xfrm>
          <a:prstGeom prst="roundRect">
            <a:avLst>
              <a:gd name="adj" fmla="val 11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365760" y="2011680"/>
            <a:ext cx="2926080" cy="10972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4632" y="1709928"/>
            <a:ext cx="2688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WEB APPLICATION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" y="1901952"/>
            <a:ext cx="26883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D8E4F0"/>
                </a:solidFill>
                <a:latin typeface="Segoe UI"/>
              </a:rPr>
              <a:t>PC / Server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59152" y="1709928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620" b="1">
                <a:solidFill>
                  <a:srgbClr val="334155"/>
                </a:solidFill>
                <a:latin typeface="Segoe UI"/>
              </a:rPr>
              <a:t>UNCHANGED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" y="2281428"/>
            <a:ext cx="32004" cy="100584"/>
          </a:xfrm>
          <a:prstGeom prst="rect">
            <a:avLst/>
          </a:prstGeom>
          <a:solidFill>
            <a:srgbClr val="2E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6928" y="2249424"/>
            <a:ext cx="26060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2E6F4F"/>
                </a:solidFill>
                <a:latin typeface="Segoe UI"/>
              </a:rPr>
              <a:t>USER INTERFACE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2414016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" y="2414016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Test-sequence editor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546604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" y="2546604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Battery and programme setup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2679192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" y="2679192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Live dashboard — now eight channels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2811780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" y="2811780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Calibration screens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2944368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" y="2944368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Reports and spreadsheet export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4632" y="3180283"/>
            <a:ext cx="32004" cy="100584"/>
          </a:xfrm>
          <a:prstGeom prst="rect">
            <a:avLst/>
          </a:prstGeom>
          <a:solidFill>
            <a:srgbClr val="2E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66928" y="3148279"/>
            <a:ext cx="26060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2E6F4F"/>
                </a:solidFill>
                <a:latin typeface="Segoe UI"/>
              </a:rPr>
              <a:t>PROGRAMME PREPARATION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3312871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" y="3312871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Encode the sequence into packets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445459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" y="3445459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Attach the battery information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3578047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4944" y="3578047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Choose one of eight programme slots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4632" y="3813962"/>
            <a:ext cx="32004" cy="100584"/>
          </a:xfrm>
          <a:prstGeom prst="rect">
            <a:avLst/>
          </a:prstGeom>
          <a:solidFill>
            <a:srgbClr val="2E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566928" y="3781958"/>
            <a:ext cx="26060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2E6F4F"/>
                </a:solidFill>
                <a:latin typeface="Segoe UI"/>
              </a:rPr>
              <a:t>COMMUNICATION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3946550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944" y="3946550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Find devices on the network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4079138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944" y="4079138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TCP/IP client — programme, commands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" y="4211726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•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4944" y="4211726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UDP listener — live measurements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4344314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•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4944" y="4344314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UDP listener — session records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4476902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•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4944" y="4476902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Decode packets and check integrity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84632" y="4712817"/>
            <a:ext cx="32004" cy="100584"/>
          </a:xfrm>
          <a:prstGeom prst="rect">
            <a:avLst/>
          </a:prstGeom>
          <a:solidFill>
            <a:srgbClr val="B4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566928" y="4680813"/>
            <a:ext cx="26060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B47A14"/>
                </a:solidFill>
                <a:latin typeface="Segoe UI"/>
              </a:rPr>
              <a:t>DATA STORAGE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4845405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47A14"/>
                </a:solidFill>
                <a:latin typeface="Segoe UI"/>
              </a:rPr>
              <a:t>•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4944" y="4845405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Main application database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4977993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47A14"/>
                </a:solidFill>
                <a:latin typeface="Segoe UI"/>
              </a:rPr>
              <a:t>•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" y="4977993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One database per test session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928" y="5110581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47A14"/>
                </a:solidFill>
                <a:latin typeface="Segoe UI"/>
              </a:rPr>
              <a:t>•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4944" y="5110581"/>
            <a:ext cx="246888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Background writer — eight times the load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566160" y="1645920"/>
            <a:ext cx="3246120" cy="4224528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ounded Rectangle 78"/>
          <p:cNvSpPr/>
          <p:nvPr/>
        </p:nvSpPr>
        <p:spPr>
          <a:xfrm>
            <a:off x="3566160" y="1645920"/>
            <a:ext cx="3246120" cy="475488"/>
          </a:xfrm>
          <a:prstGeom prst="roundRect">
            <a:avLst>
              <a:gd name="adj" fmla="val 11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3566160" y="2011680"/>
            <a:ext cx="3246120" cy="1097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3685032" y="1709928"/>
            <a:ext cx="30083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PRIMARY  —  TEST ENGINE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85032" y="1901952"/>
            <a:ext cx="3008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D8E4F0"/>
                </a:solidFill>
                <a:latin typeface="Segoe UI"/>
              </a:rPr>
              <a:t>the brain of the system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85032" y="2281428"/>
            <a:ext cx="32004" cy="100584"/>
          </a:xfrm>
          <a:prstGeom prst="rect">
            <a:avLst/>
          </a:prstGeom>
          <a:solidFill>
            <a:srgbClr val="2E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3767328" y="2249424"/>
            <a:ext cx="292607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2E6F4F"/>
                </a:solidFill>
                <a:latin typeface="Segoe UI"/>
              </a:rPr>
              <a:t>NETWORK SERVICES  ·  unchanged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767328" y="2414016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•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95344" y="2414016"/>
            <a:ext cx="278892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TCP/IP server — receive programme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767328" y="2546604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•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895344" y="2546604"/>
            <a:ext cx="278892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UDP senders — live and session data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767328" y="2679192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•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95344" y="2679192"/>
            <a:ext cx="278892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Answer discovery, sync the clock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685032" y="2915107"/>
            <a:ext cx="32004" cy="100584"/>
          </a:xfrm>
          <a:prstGeom prst="rect">
            <a:avLst/>
          </a:prstGeom>
          <a:solidFill>
            <a:srgbClr val="B4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3767328" y="2883103"/>
            <a:ext cx="292607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B47A14"/>
                </a:solidFill>
                <a:latin typeface="Segoe UI"/>
              </a:rPr>
              <a:t>PROGRAMME STORAGE  ·  extended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767328" y="3047695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47A14"/>
                </a:solidFill>
                <a:latin typeface="Segoe UI"/>
              </a:rPr>
              <a:t>•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95344" y="3047695"/>
            <a:ext cx="278892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Store EIGHT programmes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67328" y="3180283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47A14"/>
                </a:solidFill>
                <a:latin typeface="Segoe UI"/>
              </a:rPr>
              <a:t>•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895344" y="3180283"/>
            <a:ext cx="278892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Slot manager and slot selection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767328" y="3312871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47A14"/>
                </a:solidFill>
                <a:latin typeface="Segoe UI"/>
              </a:rPr>
              <a:t>•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95344" y="3312871"/>
            <a:ext cx="278892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Store configuration and calibration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685032" y="3548786"/>
            <a:ext cx="32004" cy="100584"/>
          </a:xfrm>
          <a:prstGeom prst="rect">
            <a:avLst/>
          </a:prstGeom>
          <a:solidFill>
            <a:srgbClr val="B4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3767328" y="3516782"/>
            <a:ext cx="292607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B47A14"/>
                </a:solidFill>
                <a:latin typeface="Segoe UI"/>
              </a:rPr>
              <a:t>TEST ENGINE  ·  MOVED UP FROM THE SECONDARY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767328" y="3681374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47A14"/>
                </a:solidFill>
                <a:latin typeface="Segoe UI"/>
              </a:rPr>
              <a:t>•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895344" y="3681374"/>
            <a:ext cx="278892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Decode the step and its operator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767328" y="3813962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47A14"/>
                </a:solidFill>
                <a:latin typeface="Segoe UI"/>
              </a:rPr>
              <a:t>•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895344" y="3813962"/>
            <a:ext cx="278892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Run eight sequences at the same time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767328" y="3946550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47A14"/>
                </a:solidFill>
                <a:latin typeface="Segoe UI"/>
              </a:rPr>
              <a:t>•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895344" y="3946550"/>
            <a:ext cx="278892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Evaluate cutoff conditions  × 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767328" y="4079138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47A14"/>
                </a:solidFill>
                <a:latin typeface="Segoe UI"/>
              </a:rPr>
              <a:t>•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895344" y="4079138"/>
            <a:ext cx="278892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Cycle, nesting and jump engine  × 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767328" y="4211726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47A14"/>
                </a:solidFill>
                <a:latin typeface="Segoe UI"/>
              </a:rPr>
              <a:t>•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895344" y="4211726"/>
            <a:ext cx="278892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Control the recording rate  × 8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685032" y="4447641"/>
            <a:ext cx="32004" cy="100584"/>
          </a:xfrm>
          <a:prstGeom prst="rect">
            <a:avLst/>
          </a:prstGeom>
          <a:solidFill>
            <a:srgbClr val="0D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3767328" y="4415637"/>
            <a:ext cx="292607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0D8B86"/>
                </a:solidFill>
                <a:latin typeface="Segoe UI"/>
              </a:rPr>
              <a:t>CAN BUS MASTER  ·  NEW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767328" y="4580229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D8B86"/>
                </a:solidFill>
                <a:latin typeface="Segoe UI"/>
              </a:rPr>
              <a:t>•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895344" y="4580229"/>
            <a:ext cx="278892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CAN FD driver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767328" y="4712817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D8B86"/>
                </a:solidFill>
                <a:latin typeface="Segoe UI"/>
              </a:rPr>
              <a:t>•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895344" y="4712817"/>
            <a:ext cx="278892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Send targets to eight node addresses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767328" y="4845405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D8B86"/>
                </a:solidFill>
                <a:latin typeface="Segoe UI"/>
              </a:rPr>
              <a:t>•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95344" y="4845405"/>
            <a:ext cx="278892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Receive and unpack grouped readings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767328" y="4977993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D8B86"/>
                </a:solidFill>
                <a:latin typeface="Segoe UI"/>
              </a:rPr>
              <a:t>•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895344" y="4977993"/>
            <a:ext cx="278892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Handle priority fault alerts first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767328" y="5110581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D8B86"/>
                </a:solidFill>
                <a:latin typeface="Segoe UI"/>
              </a:rPr>
              <a:t>•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895344" y="5110581"/>
            <a:ext cx="278892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Measure and report the bus load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685032" y="5346496"/>
            <a:ext cx="32004" cy="100584"/>
          </a:xfrm>
          <a:prstGeom prst="rect">
            <a:avLst/>
          </a:prstGeom>
          <a:solidFill>
            <a:srgbClr val="2E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3767328" y="5314492"/>
            <a:ext cx="292607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2E6F4F"/>
                </a:solidFill>
                <a:latin typeface="Segoe UI"/>
              </a:rPr>
              <a:t>SYSTEM  ·  unchanged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767328" y="5479084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•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895344" y="5479084"/>
            <a:ext cx="278892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Detect power loss, save and restore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767328" y="5611672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•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895344" y="5611672"/>
            <a:ext cx="278892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Watchdog and data-integrity checks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967728" y="1737360"/>
            <a:ext cx="118872" cy="4041648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ounded Rectangle 129"/>
          <p:cNvSpPr/>
          <p:nvPr/>
        </p:nvSpPr>
        <p:spPr>
          <a:xfrm>
            <a:off x="6419088" y="1497787"/>
            <a:ext cx="1325880" cy="1417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/>
            <a:r>
              <a:rPr sz="640" b="1">
                <a:solidFill>
                  <a:srgbClr val="0A6E6A"/>
                </a:solidFill>
                <a:latin typeface="Segoe UI"/>
              </a:rPr>
              <a:t>ONE SHARED CAN FD BUS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6812280" y="2560320"/>
            <a:ext cx="155448" cy="0"/>
          </a:xfrm>
          <a:prstGeom prst="line">
            <a:avLst/>
          </a:prstGeom>
          <a:ln w="22860">
            <a:solidFill>
              <a:srgbClr val="2E5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086600" y="3383280"/>
            <a:ext cx="210312" cy="0"/>
          </a:xfrm>
          <a:prstGeom prst="line">
            <a:avLst/>
          </a:prstGeom>
          <a:ln w="22860">
            <a:solidFill>
              <a:srgbClr val="246B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/>
          <p:cNvSpPr/>
          <p:nvPr/>
        </p:nvSpPr>
        <p:spPr>
          <a:xfrm>
            <a:off x="7296912" y="1645920"/>
            <a:ext cx="3063240" cy="4224528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ounded Rectangle 133"/>
          <p:cNvSpPr/>
          <p:nvPr/>
        </p:nvSpPr>
        <p:spPr>
          <a:xfrm>
            <a:off x="7296912" y="1645920"/>
            <a:ext cx="3063240" cy="475488"/>
          </a:xfrm>
          <a:prstGeom prst="roundRect">
            <a:avLst>
              <a:gd name="adj" fmla="val 11000"/>
            </a:avLst>
          </a:prstGeom>
          <a:solidFill>
            <a:srgbClr val="24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ectangle 134"/>
          <p:cNvSpPr/>
          <p:nvPr/>
        </p:nvSpPr>
        <p:spPr>
          <a:xfrm>
            <a:off x="7296912" y="2011680"/>
            <a:ext cx="3063240" cy="109728"/>
          </a:xfrm>
          <a:prstGeom prst="rect">
            <a:avLst/>
          </a:prstGeom>
          <a:solidFill>
            <a:srgbClr val="24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7415784" y="1709928"/>
            <a:ext cx="28254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SECONDARY  —  POWER STAGE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415784" y="1901952"/>
            <a:ext cx="28254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D8E4F0"/>
                </a:solidFill>
                <a:latin typeface="Segoe UI"/>
              </a:rPr>
              <a:t>one per battery  ·  eight on the bus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415784" y="2281428"/>
            <a:ext cx="32004" cy="100584"/>
          </a:xfrm>
          <a:prstGeom prst="rect">
            <a:avLst/>
          </a:prstGeom>
          <a:solidFill>
            <a:srgbClr val="0D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7498080" y="2249424"/>
            <a:ext cx="27432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0D8B86"/>
                </a:solidFill>
                <a:latin typeface="Segoe UI"/>
              </a:rPr>
              <a:t>CAN INTERFACE  ·  NEW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98080" y="2414016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D8B86"/>
                </a:solidFill>
                <a:latin typeface="Segoe UI"/>
              </a:rPr>
              <a:t>•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626096" y="2414016"/>
            <a:ext cx="260604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CAN FD driver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498080" y="2546604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D8B86"/>
                </a:solidFill>
                <a:latin typeface="Segoe UI"/>
              </a:rPr>
              <a:t>•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26096" y="2546604"/>
            <a:ext cx="260604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Own node address and message filter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498080" y="2679192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D8B86"/>
                </a:solidFill>
                <a:latin typeface="Segoe UI"/>
              </a:rPr>
              <a:t>•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626096" y="2679192"/>
            <a:ext cx="260604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Receive the target current / voltage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498080" y="2811780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D8B86"/>
                </a:solidFill>
                <a:latin typeface="Segoe UI"/>
              </a:rPr>
              <a:t>•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626096" y="2811780"/>
            <a:ext cx="260604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Group eight readings per message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498080" y="2944368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D8B86"/>
                </a:solidFill>
                <a:latin typeface="Segoe UI"/>
              </a:rPr>
              <a:t>•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626096" y="2944368"/>
            <a:ext cx="260604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Send a priority alert on a fault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415784" y="3180283"/>
            <a:ext cx="32004" cy="100584"/>
          </a:xfrm>
          <a:prstGeom prst="rect">
            <a:avLst/>
          </a:prstGeom>
          <a:solidFill>
            <a:srgbClr val="2E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7498080" y="3148279"/>
            <a:ext cx="27432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2E6F4F"/>
                </a:solidFill>
                <a:latin typeface="Segoe UI"/>
              </a:rPr>
              <a:t>CONTROL LOOP  ·  EVERY 1 ms  ·  unchanged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498080" y="3312871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•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626096" y="3312871"/>
            <a:ext cx="260604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Read the 24-bit measurement input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498080" y="3445459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•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626096" y="3445459"/>
            <a:ext cx="260604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PID regulation — six modes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498080" y="3578047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•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626096" y="3578047"/>
            <a:ext cx="260604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Write the 20-bit drive output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498080" y="3710635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•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626096" y="3710635"/>
            <a:ext cx="260604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Select the measurement range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7415784" y="3946550"/>
            <a:ext cx="32004" cy="100584"/>
          </a:xfrm>
          <a:prstGeom prst="rect">
            <a:avLst/>
          </a:prstGeom>
          <a:solidFill>
            <a:srgbClr val="9B2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7498080" y="3914546"/>
            <a:ext cx="27432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9B2C35"/>
                </a:solidFill>
                <a:latin typeface="Segoe UI"/>
              </a:rPr>
              <a:t>PROTECTION  ·  RETAINED — CRITICAL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498080" y="4079138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9B2C35"/>
                </a:solidFill>
                <a:latin typeface="Segoe UI"/>
              </a:rPr>
              <a:t>•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626096" y="4079138"/>
            <a:ext cx="260604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Local over-voltage, current, temperature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498080" y="4211726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9B2C35"/>
                </a:solidFill>
                <a:latin typeface="Segoe UI"/>
              </a:rPr>
              <a:t>•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626096" y="4211726"/>
            <a:ext cx="260604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Acts immediately, without the bus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498080" y="4344314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9B2C35"/>
                </a:solidFill>
                <a:latin typeface="Segoe UI"/>
              </a:rPr>
              <a:t>•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626096" y="4344314"/>
            <a:ext cx="260604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Fails safe if the bus goes quiet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498080" y="4476902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9B2C35"/>
                </a:solidFill>
                <a:latin typeface="Segoe UI"/>
              </a:rPr>
              <a:t>•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626096" y="4476902"/>
            <a:ext cx="260604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Watchdog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415784" y="4712817"/>
            <a:ext cx="32004" cy="100584"/>
          </a:xfrm>
          <a:prstGeom prst="rect">
            <a:avLst/>
          </a:prstGeom>
          <a:solidFill>
            <a:srgbClr val="2E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TextBox 170"/>
          <p:cNvSpPr txBox="1"/>
          <p:nvPr/>
        </p:nvSpPr>
        <p:spPr>
          <a:xfrm>
            <a:off x="7498080" y="4680813"/>
            <a:ext cx="27432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2E6F4F"/>
                </a:solidFill>
                <a:latin typeface="Segoe UI"/>
              </a:rPr>
              <a:t>CALIBRATION  ·  unchanged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498080" y="4845405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6F4F"/>
                </a:solidFill>
                <a:latin typeface="Segoe UI"/>
              </a:rPr>
              <a:t>•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626096" y="4845405"/>
            <a:ext cx="260604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334155"/>
                </a:solidFill>
                <a:latin typeface="Segoe UI"/>
              </a:rPr>
              <a:t>Two-point calibration engine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7415784" y="5081320"/>
            <a:ext cx="32004" cy="100584"/>
          </a:xfrm>
          <a:prstGeom prst="rect">
            <a:avLst/>
          </a:prstGeom>
          <a:solidFill>
            <a:srgbClr val="9AA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TextBox 174"/>
          <p:cNvSpPr txBox="1"/>
          <p:nvPr/>
        </p:nvSpPr>
        <p:spPr>
          <a:xfrm>
            <a:off x="7498080" y="5049316"/>
            <a:ext cx="27432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40">
                <a:solidFill>
                  <a:srgbClr val="9AA5B4"/>
                </a:solidFill>
                <a:latin typeface="Segoe UI"/>
              </a:rPr>
              <a:t>NO LONGER ON THIS BOARD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498080" y="5213908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8B0BC"/>
                </a:solidFill>
                <a:latin typeface="Segoe UI"/>
              </a:rPr>
              <a:t>×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626096" y="5213908"/>
            <a:ext cx="260604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1">
                <a:solidFill>
                  <a:srgbClr val="A8B0BC"/>
                </a:solidFill>
                <a:latin typeface="Segoe UI"/>
              </a:rPr>
              <a:t>Step decoding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498080" y="5346496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8B0BC"/>
                </a:solidFill>
                <a:latin typeface="Segoe UI"/>
              </a:rPr>
              <a:t>×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626096" y="5346496"/>
            <a:ext cx="260604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1">
                <a:solidFill>
                  <a:srgbClr val="A8B0BC"/>
                </a:solidFill>
                <a:latin typeface="Segoe UI"/>
              </a:rPr>
              <a:t>Cutoff evaluation for test logic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498080" y="5479084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8B0BC"/>
                </a:solidFill>
                <a:latin typeface="Segoe UI"/>
              </a:rPr>
              <a:t>×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7626096" y="5479084"/>
            <a:ext cx="260604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1">
                <a:solidFill>
                  <a:srgbClr val="A8B0BC"/>
                </a:solidFill>
                <a:latin typeface="Segoe UI"/>
              </a:rPr>
              <a:t>Cycle, nesting and jump engine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498080" y="5611672"/>
            <a:ext cx="109728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A8B0BC"/>
                </a:solidFill>
                <a:latin typeface="Segoe UI"/>
              </a:rPr>
              <a:t>×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626096" y="5611672"/>
            <a:ext cx="2606040" cy="132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1">
                <a:solidFill>
                  <a:srgbClr val="A8B0BC"/>
                </a:solidFill>
                <a:latin typeface="Segoe UI"/>
              </a:rPr>
              <a:t>Step-advance decisions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469880" y="1664208"/>
            <a:ext cx="1371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A6E6A"/>
                </a:solidFill>
                <a:latin typeface="Segoe UI"/>
              </a:rPr>
              <a:t>EIGHT NODES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0469880" y="1883664"/>
            <a:ext cx="82296" cy="18288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6" name="Rounded Rectangle 185"/>
          <p:cNvSpPr/>
          <p:nvPr/>
        </p:nvSpPr>
        <p:spPr>
          <a:xfrm>
            <a:off x="10570463" y="1805940"/>
            <a:ext cx="1252728" cy="169164"/>
          </a:xfrm>
          <a:prstGeom prst="roundRect">
            <a:avLst>
              <a:gd name="adj" fmla="val 30000"/>
            </a:avLst>
          </a:prstGeom>
          <a:solidFill>
            <a:srgbClr val="24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20" b="1">
                <a:solidFill>
                  <a:srgbClr val="FFFFFF"/>
                </a:solidFill>
                <a:latin typeface="Segoe UI"/>
              </a:rPr>
              <a:t>Secondary 1  ·  Battery 1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469880" y="2098548"/>
            <a:ext cx="82296" cy="18288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Rounded Rectangle 187"/>
          <p:cNvSpPr/>
          <p:nvPr/>
        </p:nvSpPr>
        <p:spPr>
          <a:xfrm>
            <a:off x="10570463" y="2020824"/>
            <a:ext cx="1252728" cy="169164"/>
          </a:xfrm>
          <a:prstGeom prst="roundRect">
            <a:avLst>
              <a:gd name="adj" fmla="val 30000"/>
            </a:avLst>
          </a:prstGeom>
          <a:solidFill>
            <a:srgbClr val="24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20" b="1">
                <a:solidFill>
                  <a:srgbClr val="FFFFFF"/>
                </a:solidFill>
                <a:latin typeface="Segoe UI"/>
              </a:rPr>
              <a:t>Secondary 2  ·  Battery 2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0469880" y="2313432"/>
            <a:ext cx="82296" cy="18288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Rounded Rectangle 189"/>
          <p:cNvSpPr/>
          <p:nvPr/>
        </p:nvSpPr>
        <p:spPr>
          <a:xfrm>
            <a:off x="10570463" y="2235708"/>
            <a:ext cx="1252728" cy="169164"/>
          </a:xfrm>
          <a:prstGeom prst="roundRect">
            <a:avLst>
              <a:gd name="adj" fmla="val 30000"/>
            </a:avLst>
          </a:prstGeom>
          <a:solidFill>
            <a:srgbClr val="24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20" b="1">
                <a:solidFill>
                  <a:srgbClr val="FFFFFF"/>
                </a:solidFill>
                <a:latin typeface="Segoe UI"/>
              </a:rPr>
              <a:t>Secondary 3  ·  Battery 3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0469880" y="2528316"/>
            <a:ext cx="82296" cy="18288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Rounded Rectangle 191"/>
          <p:cNvSpPr/>
          <p:nvPr/>
        </p:nvSpPr>
        <p:spPr>
          <a:xfrm>
            <a:off x="10570463" y="2450592"/>
            <a:ext cx="1252728" cy="169164"/>
          </a:xfrm>
          <a:prstGeom prst="roundRect">
            <a:avLst>
              <a:gd name="adj" fmla="val 30000"/>
            </a:avLst>
          </a:prstGeom>
          <a:solidFill>
            <a:srgbClr val="24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20" b="1">
                <a:solidFill>
                  <a:srgbClr val="FFFFFF"/>
                </a:solidFill>
                <a:latin typeface="Segoe UI"/>
              </a:rPr>
              <a:t>Secondary 4  ·  Battery 4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0469880" y="2743200"/>
            <a:ext cx="82296" cy="18288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Rounded Rectangle 193"/>
          <p:cNvSpPr/>
          <p:nvPr/>
        </p:nvSpPr>
        <p:spPr>
          <a:xfrm>
            <a:off x="10570463" y="2665476"/>
            <a:ext cx="1252728" cy="169164"/>
          </a:xfrm>
          <a:prstGeom prst="roundRect">
            <a:avLst>
              <a:gd name="adj" fmla="val 30000"/>
            </a:avLst>
          </a:prstGeom>
          <a:solidFill>
            <a:srgbClr val="24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20" b="1">
                <a:solidFill>
                  <a:srgbClr val="FFFFFF"/>
                </a:solidFill>
                <a:latin typeface="Segoe UI"/>
              </a:rPr>
              <a:t>Secondary 5  ·  Battery 5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10469880" y="2958084"/>
            <a:ext cx="82296" cy="18288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Rounded Rectangle 195"/>
          <p:cNvSpPr/>
          <p:nvPr/>
        </p:nvSpPr>
        <p:spPr>
          <a:xfrm>
            <a:off x="10570463" y="2880360"/>
            <a:ext cx="1252728" cy="169164"/>
          </a:xfrm>
          <a:prstGeom prst="roundRect">
            <a:avLst>
              <a:gd name="adj" fmla="val 30000"/>
            </a:avLst>
          </a:prstGeom>
          <a:solidFill>
            <a:srgbClr val="24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20" b="1">
                <a:solidFill>
                  <a:srgbClr val="FFFFFF"/>
                </a:solidFill>
                <a:latin typeface="Segoe UI"/>
              </a:rPr>
              <a:t>Secondary 6  ·  Battery 6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0469880" y="3172968"/>
            <a:ext cx="82296" cy="18288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Rounded Rectangle 197"/>
          <p:cNvSpPr/>
          <p:nvPr/>
        </p:nvSpPr>
        <p:spPr>
          <a:xfrm>
            <a:off x="10570463" y="3095244"/>
            <a:ext cx="1252728" cy="169164"/>
          </a:xfrm>
          <a:prstGeom prst="roundRect">
            <a:avLst>
              <a:gd name="adj" fmla="val 30000"/>
            </a:avLst>
          </a:prstGeom>
          <a:solidFill>
            <a:srgbClr val="24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20" b="1">
                <a:solidFill>
                  <a:srgbClr val="FFFFFF"/>
                </a:solidFill>
                <a:latin typeface="Segoe UI"/>
              </a:rPr>
              <a:t>Secondary 7  ·  Battery 7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10469880" y="3387852"/>
            <a:ext cx="82296" cy="18288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Rounded Rectangle 199"/>
          <p:cNvSpPr/>
          <p:nvPr/>
        </p:nvSpPr>
        <p:spPr>
          <a:xfrm>
            <a:off x="10570463" y="3310128"/>
            <a:ext cx="1252728" cy="169164"/>
          </a:xfrm>
          <a:prstGeom prst="roundRect">
            <a:avLst>
              <a:gd name="adj" fmla="val 30000"/>
            </a:avLst>
          </a:prstGeom>
          <a:solidFill>
            <a:srgbClr val="24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20" b="1">
                <a:solidFill>
                  <a:srgbClr val="FFFFFF"/>
                </a:solidFill>
                <a:latin typeface="Segoe UI"/>
              </a:rPr>
              <a:t>Secondary 8  ·  Battery 8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0570463" y="3675888"/>
            <a:ext cx="1252728" cy="18288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TextBox 201"/>
          <p:cNvSpPr txBox="1"/>
          <p:nvPr/>
        </p:nvSpPr>
        <p:spPr>
          <a:xfrm>
            <a:off x="10570463" y="3767328"/>
            <a:ext cx="12527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660" b="1" i="0">
                <a:solidFill>
                  <a:srgbClr val="334155"/>
                </a:solidFill>
                <a:latin typeface="Segoe UI"/>
              </a:rPr>
              <a:t>Identical firmware</a:t>
            </a:r>
          </a:p>
          <a:p>
            <a:pPr algn="ctr">
              <a:lnSpc>
                <a:spcPct val="120000"/>
              </a:lnSpc>
            </a:pPr>
            <a:r>
              <a:rPr sz="660" b="1" i="0">
                <a:solidFill>
                  <a:srgbClr val="334155"/>
                </a:solidFill>
                <a:latin typeface="Segoe UI"/>
              </a:rPr>
              <a:t>on every node.</a:t>
            </a:r>
          </a:p>
          <a:p>
            <a:pPr algn="ctr">
              <a:lnSpc>
                <a:spcPct val="120000"/>
              </a:lnSpc>
            </a:pPr>
            <a:r>
              <a:rPr sz="660" b="1" i="0">
                <a:solidFill>
                  <a:srgbClr val="334155"/>
                </a:solidFill>
                <a:latin typeface="Segoe UI"/>
              </a:rPr>
              <a:t>Only the address</a:t>
            </a:r>
          </a:p>
          <a:p>
            <a:pPr algn="ctr">
              <a:lnSpc>
                <a:spcPct val="120000"/>
              </a:lnSpc>
            </a:pPr>
            <a:r>
              <a:rPr sz="660" b="1" i="0">
                <a:solidFill>
                  <a:srgbClr val="334155"/>
                </a:solidFill>
                <a:latin typeface="Segoe UI"/>
              </a:rPr>
              <a:t>differs.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10570463" y="4407408"/>
            <a:ext cx="1252728" cy="1298448"/>
          </a:xfrm>
          <a:prstGeom prst="roundRect">
            <a:avLst>
              <a:gd name="adj" fmla="val 6000"/>
            </a:avLst>
          </a:prstGeom>
          <a:solidFill>
            <a:srgbClr val="FDF3DF"/>
          </a:solidFill>
          <a:ln w="9525">
            <a:solidFill>
              <a:srgbClr val="B47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TextBox 203"/>
          <p:cNvSpPr txBox="1"/>
          <p:nvPr/>
        </p:nvSpPr>
        <p:spPr>
          <a:xfrm>
            <a:off x="10671048" y="4498848"/>
            <a:ext cx="1051560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B47A14"/>
                </a:solidFill>
                <a:latin typeface="Segoe UI"/>
              </a:rPr>
              <a:t>OPTIONAL</a:t>
            </a:r>
          </a:p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B47A14"/>
                </a:solidFill>
                <a:latin typeface="Segoe UI"/>
              </a:rPr>
              <a:t>COM BOARD</a:t>
            </a:r>
          </a:p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B47A14"/>
                </a:solidFill>
                <a:latin typeface="Segoe UI"/>
              </a:rPr>
              <a:t/>
            </a:r>
          </a:p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B47A14"/>
                </a:solidFill>
                <a:latin typeface="Segoe UI"/>
              </a:rPr>
              <a:t>Retained only on</a:t>
            </a:r>
          </a:p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B47A14"/>
                </a:solidFill>
                <a:latin typeface="Segoe UI"/>
              </a:rPr>
              <a:t>variants that need</a:t>
            </a:r>
          </a:p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B47A14"/>
                </a:solidFill>
                <a:latin typeface="Segoe UI"/>
              </a:rPr>
              <a:t>BMS logging over</a:t>
            </a:r>
          </a:p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B47A14"/>
                </a:solidFill>
                <a:latin typeface="Segoe UI"/>
              </a:rPr>
              <a:t>the customer's</a:t>
            </a:r>
          </a:p>
          <a:p>
            <a:pPr algn="ctr">
              <a:lnSpc>
                <a:spcPct val="115000"/>
              </a:lnSpc>
            </a:pPr>
            <a:r>
              <a:rPr sz="640" b="1" i="0">
                <a:solidFill>
                  <a:srgbClr val="B47A14"/>
                </a:solidFill>
                <a:latin typeface="Segoe UI"/>
              </a:rPr>
              <a:t>own CAN network.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365760" y="5943600"/>
            <a:ext cx="11457432" cy="530352"/>
          </a:xfrm>
          <a:prstGeom prst="roundRect">
            <a:avLst>
              <a:gd name="adj" fmla="val 14000"/>
            </a:avLst>
          </a:prstGeom>
          <a:solidFill>
            <a:srgbClr val="E6F2EB"/>
          </a:solidFill>
          <a:ln w="12700">
            <a:solidFill>
              <a:srgbClr val="246B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Rectangle 205"/>
          <p:cNvSpPr/>
          <p:nvPr/>
        </p:nvSpPr>
        <p:spPr>
          <a:xfrm>
            <a:off x="365760" y="5943600"/>
            <a:ext cx="64008" cy="530352"/>
          </a:xfrm>
          <a:prstGeom prst="rect">
            <a:avLst/>
          </a:prstGeom>
          <a:solidFill>
            <a:srgbClr val="24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TextBox 206"/>
          <p:cNvSpPr txBox="1"/>
          <p:nvPr/>
        </p:nvSpPr>
        <p:spPr>
          <a:xfrm>
            <a:off x="621792" y="6012180"/>
            <a:ext cx="10972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46B4D"/>
                </a:solidFill>
                <a:latin typeface="Segoe UI"/>
              </a:rPr>
              <a:t>HOW TO READ THIS      All the test intelligence now sits on the Primary. The Secondary becomes a power stage — but it keeps its own protection.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21792" y="6199632"/>
            <a:ext cx="10972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334155"/>
                </a:solidFill>
                <a:latin typeface="Segoe UI"/>
              </a:rPr>
              <a:t>One controller, one network address and one programme store serve eight batteries. Test logic changes become a Primary-only release. The 1 ms control loop and the local safety limits never leave the Secondary, so ME reacts to a fault exactly as fast as the product we ship today.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TextBox 209"/>
          <p:cNvSpPr txBox="1"/>
          <p:nvPr/>
        </p:nvSpPr>
        <p:spPr>
          <a:xfrm>
            <a:off x="365760" y="6633972"/>
            <a:ext cx="9601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4748B"/>
                </a:solidFill>
                <a:latin typeface="Segoe UI"/>
              </a:rPr>
              <a:t>BTS-CMP-ME-001 v3.0  ·  System and Code Functionality Map  ·  NEW ME  ·  Firmware Engineering  ·  31 July 2026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1292840" y="663397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1E3A5F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